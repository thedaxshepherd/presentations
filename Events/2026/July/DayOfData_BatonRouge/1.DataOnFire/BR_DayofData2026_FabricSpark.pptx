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6" r:id="rId1"/>
    <p:sldMasterId id="2147483803" r:id="rId2"/>
  </p:sldMasterIdLst>
  <p:notesMasterIdLst>
    <p:notesMasterId r:id="rId54"/>
  </p:notesMasterIdLst>
  <p:sldIdLst>
    <p:sldId id="2147477848" r:id="rId3"/>
    <p:sldId id="257" r:id="rId4"/>
    <p:sldId id="2147477826" r:id="rId5"/>
    <p:sldId id="2147477654" r:id="rId6"/>
    <p:sldId id="259" r:id="rId7"/>
    <p:sldId id="2147477895" r:id="rId8"/>
    <p:sldId id="2147477896" r:id="rId9"/>
    <p:sldId id="2147477897" r:id="rId10"/>
    <p:sldId id="2147477898" r:id="rId11"/>
    <p:sldId id="2147477899" r:id="rId12"/>
    <p:sldId id="2147477901" r:id="rId13"/>
    <p:sldId id="2147477661" r:id="rId14"/>
    <p:sldId id="2147477667" r:id="rId15"/>
    <p:sldId id="2147477668" r:id="rId16"/>
    <p:sldId id="2147477735" r:id="rId17"/>
    <p:sldId id="2147477720" r:id="rId18"/>
    <p:sldId id="2147477840" r:id="rId19"/>
    <p:sldId id="2147477843" r:id="rId20"/>
    <p:sldId id="2147477736" r:id="rId21"/>
    <p:sldId id="2147477789" r:id="rId22"/>
    <p:sldId id="2147477737" r:id="rId23"/>
    <p:sldId id="2147477846" r:id="rId24"/>
    <p:sldId id="2147477844" r:id="rId25"/>
    <p:sldId id="2147477902" r:id="rId26"/>
    <p:sldId id="2147477742" r:id="rId27"/>
    <p:sldId id="2147477686" r:id="rId28"/>
    <p:sldId id="2147477751" r:id="rId29"/>
    <p:sldId id="2147477696" r:id="rId30"/>
    <p:sldId id="2147477673" r:id="rId31"/>
    <p:sldId id="2147477900" r:id="rId32"/>
    <p:sldId id="2147477771" r:id="rId33"/>
    <p:sldId id="2147477776" r:id="rId34"/>
    <p:sldId id="2147477777" r:id="rId35"/>
    <p:sldId id="2147477785" r:id="rId36"/>
    <p:sldId id="2147477792" r:id="rId37"/>
    <p:sldId id="2147477743" r:id="rId38"/>
    <p:sldId id="2147477794" r:id="rId39"/>
    <p:sldId id="2147477903" r:id="rId40"/>
    <p:sldId id="2147477798" r:id="rId41"/>
    <p:sldId id="2147477799" r:id="rId42"/>
    <p:sldId id="2147477800" r:id="rId43"/>
    <p:sldId id="2147477801" r:id="rId44"/>
    <p:sldId id="2147477802" r:id="rId45"/>
    <p:sldId id="2147477803" r:id="rId46"/>
    <p:sldId id="2147477804" r:id="rId47"/>
    <p:sldId id="2147477837" r:id="rId48"/>
    <p:sldId id="2147477904" r:id="rId49"/>
    <p:sldId id="2147477831" r:id="rId50"/>
    <p:sldId id="2147477889" r:id="rId51"/>
    <p:sldId id="2147477830" r:id="rId52"/>
    <p:sldId id="2147477675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DEFA8433-3DCE-4F1B-9DE8-CB309931918C}">
          <p14:sldIdLst>
            <p14:sldId id="2147477848"/>
            <p14:sldId id="257"/>
            <p14:sldId id="2147477826"/>
            <p14:sldId id="2147477654"/>
            <p14:sldId id="259"/>
          </p14:sldIdLst>
        </p14:section>
        <p14:section name="Navigation" id="{A485B29C-A429-461C-AB85-77AC63128945}">
          <p14:sldIdLst>
            <p14:sldId id="2147477895"/>
            <p14:sldId id="2147477896"/>
            <p14:sldId id="2147477897"/>
            <p14:sldId id="2147477898"/>
            <p14:sldId id="2147477899"/>
          </p14:sldIdLst>
        </p14:section>
        <p14:section name="Intro" id="{682A7349-844D-4121-ADAE-E9421C6603BF}">
          <p14:sldIdLst>
            <p14:sldId id="2147477901"/>
            <p14:sldId id="2147477661"/>
            <p14:sldId id="2147477667"/>
            <p14:sldId id="2147477668"/>
            <p14:sldId id="2147477735"/>
            <p14:sldId id="2147477720"/>
            <p14:sldId id="2147477840"/>
            <p14:sldId id="2147477843"/>
            <p14:sldId id="2147477736"/>
            <p14:sldId id="2147477789"/>
            <p14:sldId id="2147477737"/>
            <p14:sldId id="2147477846"/>
            <p14:sldId id="2147477844"/>
          </p14:sldIdLst>
        </p14:section>
        <p14:section name="Python" id="{A742F2FC-B21A-4233-8C58-8BD9BB155D39}">
          <p14:sldIdLst>
            <p14:sldId id="2147477902"/>
            <p14:sldId id="2147477742"/>
            <p14:sldId id="2147477686"/>
            <p14:sldId id="2147477751"/>
            <p14:sldId id="2147477696"/>
            <p14:sldId id="2147477673"/>
          </p14:sldIdLst>
        </p14:section>
        <p14:section name="PySpark" id="{69744BA2-FB1F-4A56-9355-D4045734744C}">
          <p14:sldIdLst>
            <p14:sldId id="2147477900"/>
            <p14:sldId id="2147477771"/>
            <p14:sldId id="2147477776"/>
            <p14:sldId id="2147477777"/>
            <p14:sldId id="2147477785"/>
            <p14:sldId id="2147477792"/>
            <p14:sldId id="2147477743"/>
            <p14:sldId id="2147477794"/>
          </p14:sldIdLst>
        </p14:section>
        <p14:section name="Section 4 Navigation" id="{167AFAD4-B609-4EBC-BA04-0EBE4FE3DA40}">
          <p14:sldIdLst>
            <p14:sldId id="2147477903"/>
          </p14:sldIdLst>
        </p14:section>
        <p14:section name="Power BI From a Notebook" id="{62BD1542-A499-4F8E-9B9B-3A0337504383}">
          <p14:sldIdLst>
            <p14:sldId id="2147477798"/>
            <p14:sldId id="2147477799"/>
            <p14:sldId id="2147477800"/>
            <p14:sldId id="2147477801"/>
            <p14:sldId id="2147477802"/>
            <p14:sldId id="2147477803"/>
            <p14:sldId id="2147477804"/>
            <p14:sldId id="2147477837"/>
          </p14:sldIdLst>
        </p14:section>
        <p14:section name="Wrap-Up" id="{F77CC0C6-9523-4E1F-A83A-92EB722CE9FE}">
          <p14:sldIdLst>
            <p14:sldId id="2147477904"/>
            <p14:sldId id="2147477831"/>
            <p14:sldId id="2147477889"/>
            <p14:sldId id="2147477830"/>
            <p14:sldId id="214747767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EC9B0"/>
    <a:srgbClr val="1E1E1E"/>
    <a:srgbClr val="0000FF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FDDDAA-0356-46E3-8B29-8609F3EFE41D}" v="5" dt="2026-07-15T02:20:46.8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3423" autoAdjust="0"/>
  </p:normalViewPr>
  <p:slideViewPr>
    <p:cSldViewPr snapToGrid="0">
      <p:cViewPr varScale="1">
        <p:scale>
          <a:sx n="89" d="100"/>
          <a:sy n="89" d="100"/>
        </p:scale>
        <p:origin x="370" y="82"/>
      </p:cViewPr>
      <p:guideLst/>
    </p:cSldViewPr>
  </p:slideViewPr>
  <p:outlineViewPr>
    <p:cViewPr>
      <p:scale>
        <a:sx n="33" d="100"/>
        <a:sy n="33" d="100"/>
      </p:scale>
      <p:origin x="0" y="-106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480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ableStyles" Target="tableStyle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microsoft.com/office/2016/11/relationships/changesInfo" Target="changesInfos/changesInfo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Romans" userId="b1594dadafe83612" providerId="LiveId" clId="{CBB49B5A-BAC4-4EF9-90F7-6CF68F907A02}"/>
    <pc:docChg chg="undo custSel addSld delSld modSld sldOrd addMainMaster delMainMaster addSection delSection modSection">
      <pc:chgData name="Jason Romans" userId="b1594dadafe83612" providerId="LiveId" clId="{CBB49B5A-BAC4-4EF9-90F7-6CF68F907A02}" dt="2026-07-18T02:56:21.472" v="477" actId="478"/>
      <pc:docMkLst>
        <pc:docMk/>
      </pc:docMkLst>
      <pc:sldChg chg="modSp add mod">
        <pc:chgData name="Jason Romans" userId="b1594dadafe83612" providerId="LiveId" clId="{CBB49B5A-BAC4-4EF9-90F7-6CF68F907A02}" dt="2026-07-14T15:10:50.374" v="84"/>
        <pc:sldMkLst>
          <pc:docMk/>
          <pc:sldMk cId="0" sldId="257"/>
        </pc:sldMkLst>
        <pc:spChg chg="mod">
          <ac:chgData name="Jason Romans" userId="b1594dadafe83612" providerId="LiveId" clId="{CBB49B5A-BAC4-4EF9-90F7-6CF68F907A02}" dt="2026-07-14T15:10:50.374" v="84"/>
          <ac:spMkLst>
            <pc:docMk/>
            <pc:sldMk cId="0" sldId="257"/>
            <ac:spMk id="4" creationId="{00000000-0000-0000-0000-000000000000}"/>
          </ac:spMkLst>
        </pc:spChg>
      </pc:sldChg>
      <pc:sldChg chg="delSp modSp mod modClrScheme chgLayout">
        <pc:chgData name="Jason Romans" userId="b1594dadafe83612" providerId="LiveId" clId="{CBB49B5A-BAC4-4EF9-90F7-6CF68F907A02}" dt="2026-07-14T14:46:49.566" v="70" actId="14826"/>
        <pc:sldMkLst>
          <pc:docMk/>
          <pc:sldMk cId="1697929922" sldId="2147477675"/>
        </pc:sldMkLst>
        <pc:picChg chg="mod topLvl">
          <ac:chgData name="Jason Romans" userId="b1594dadafe83612" providerId="LiveId" clId="{CBB49B5A-BAC4-4EF9-90F7-6CF68F907A02}" dt="2026-07-14T14:46:49.566" v="70" actId="14826"/>
          <ac:picMkLst>
            <pc:docMk/>
            <pc:sldMk cId="1697929922" sldId="2147477675"/>
            <ac:picMk id="6" creationId="{FE63E449-6231-6654-2691-36089068C2DA}"/>
          </ac:picMkLst>
        </pc:picChg>
      </pc:sldChg>
      <pc:sldChg chg="modSp mod modClrScheme chgLayout">
        <pc:chgData name="Jason Romans" userId="b1594dadafe83612" providerId="LiveId" clId="{CBB49B5A-BAC4-4EF9-90F7-6CF68F907A02}" dt="2026-07-14T15:08:10.519" v="81" actId="27636"/>
        <pc:sldMkLst>
          <pc:docMk/>
          <pc:sldMk cId="363910499" sldId="2147477736"/>
        </pc:sldMkLst>
        <pc:spChg chg="mod ord">
          <ac:chgData name="Jason Romans" userId="b1594dadafe83612" providerId="LiveId" clId="{CBB49B5A-BAC4-4EF9-90F7-6CF68F907A02}" dt="2026-07-14T15:08:10.502" v="80"/>
          <ac:spMkLst>
            <pc:docMk/>
            <pc:sldMk cId="363910499" sldId="2147477736"/>
            <ac:spMk id="6" creationId="{C1470A5B-4589-FA7B-E9BB-E3509AD1A588}"/>
          </ac:spMkLst>
        </pc:spChg>
        <pc:spChg chg="mod ord">
          <ac:chgData name="Jason Romans" userId="b1594dadafe83612" providerId="LiveId" clId="{CBB49B5A-BAC4-4EF9-90F7-6CF68F907A02}" dt="2026-07-14T15:08:10.519" v="81" actId="27636"/>
          <ac:spMkLst>
            <pc:docMk/>
            <pc:sldMk cId="363910499" sldId="2147477736"/>
            <ac:spMk id="9" creationId="{71013D00-50D4-F95E-40A0-32B7FC35896D}"/>
          </ac:spMkLst>
        </pc:spChg>
      </pc:sldChg>
      <pc:sldChg chg="modSp mod">
        <pc:chgData name="Jason Romans" userId="b1594dadafe83612" providerId="LiveId" clId="{CBB49B5A-BAC4-4EF9-90F7-6CF68F907A02}" dt="2026-07-18T02:54:26.134" v="476" actId="14100"/>
        <pc:sldMkLst>
          <pc:docMk/>
          <pc:sldMk cId="3964075251" sldId="2147477743"/>
        </pc:sldMkLst>
        <pc:spChg chg="mod">
          <ac:chgData name="Jason Romans" userId="b1594dadafe83612" providerId="LiveId" clId="{CBB49B5A-BAC4-4EF9-90F7-6CF68F907A02}" dt="2026-07-18T02:54:26.134" v="476" actId="14100"/>
          <ac:spMkLst>
            <pc:docMk/>
            <pc:sldMk cId="3964075251" sldId="2147477743"/>
            <ac:spMk id="6" creationId="{D58920E3-2AF2-A8E2-DA4B-8C5144409D31}"/>
          </ac:spMkLst>
        </pc:spChg>
        <pc:picChg chg="mod">
          <ac:chgData name="Jason Romans" userId="b1594dadafe83612" providerId="LiveId" clId="{CBB49B5A-BAC4-4EF9-90F7-6CF68F907A02}" dt="2026-07-18T02:54:20.221" v="475" actId="1076"/>
          <ac:picMkLst>
            <pc:docMk/>
            <pc:sldMk cId="3964075251" sldId="2147477743"/>
            <ac:picMk id="13" creationId="{074919C3-E04D-C8EF-4934-D30C048F5140}"/>
          </ac:picMkLst>
        </pc:picChg>
      </pc:sldChg>
      <pc:sldChg chg="delSp mod">
        <pc:chgData name="Jason Romans" userId="b1594dadafe83612" providerId="LiveId" clId="{CBB49B5A-BAC4-4EF9-90F7-6CF68F907A02}" dt="2026-07-18T02:53:20.506" v="473" actId="478"/>
        <pc:sldMkLst>
          <pc:docMk/>
          <pc:sldMk cId="1400770935" sldId="2147477789"/>
        </pc:sldMkLst>
        <pc:spChg chg="del">
          <ac:chgData name="Jason Romans" userId="b1594dadafe83612" providerId="LiveId" clId="{CBB49B5A-BAC4-4EF9-90F7-6CF68F907A02}" dt="2026-07-18T02:53:20.506" v="473" actId="478"/>
          <ac:spMkLst>
            <pc:docMk/>
            <pc:sldMk cId="1400770935" sldId="2147477789"/>
            <ac:spMk id="25" creationId="{56410011-3CB6-F58B-03C0-053BE5D8AC0C}"/>
          </ac:spMkLst>
        </pc:spChg>
      </pc:sldChg>
      <pc:sldChg chg="modSp mod ord modClrScheme chgLayout">
        <pc:chgData name="Jason Romans" userId="b1594dadafe83612" providerId="LiveId" clId="{CBB49B5A-BAC4-4EF9-90F7-6CF68F907A02}" dt="2026-07-15T03:13:07.139" v="465"/>
        <pc:sldMkLst>
          <pc:docMk/>
          <pc:sldMk cId="3874602979" sldId="2147477798"/>
        </pc:sldMkLst>
      </pc:sldChg>
      <pc:sldChg chg="modSp mod ord modClrScheme chgLayout">
        <pc:chgData name="Jason Romans" userId="b1594dadafe83612" providerId="LiveId" clId="{CBB49B5A-BAC4-4EF9-90F7-6CF68F907A02}" dt="2026-07-15T03:13:07.139" v="465"/>
        <pc:sldMkLst>
          <pc:docMk/>
          <pc:sldMk cId="1676926196" sldId="2147477799"/>
        </pc:sldMkLst>
      </pc:sldChg>
      <pc:sldChg chg="modSp mod ord modClrScheme chgLayout">
        <pc:chgData name="Jason Romans" userId="b1594dadafe83612" providerId="LiveId" clId="{CBB49B5A-BAC4-4EF9-90F7-6CF68F907A02}" dt="2026-07-15T03:13:07.139" v="465"/>
        <pc:sldMkLst>
          <pc:docMk/>
          <pc:sldMk cId="1845666098" sldId="2147477800"/>
        </pc:sldMkLst>
      </pc:sldChg>
      <pc:sldChg chg="modSp mod ord modClrScheme chgLayout">
        <pc:chgData name="Jason Romans" userId="b1594dadafe83612" providerId="LiveId" clId="{CBB49B5A-BAC4-4EF9-90F7-6CF68F907A02}" dt="2026-07-15T03:13:07.139" v="465"/>
        <pc:sldMkLst>
          <pc:docMk/>
          <pc:sldMk cId="1516101606" sldId="2147477801"/>
        </pc:sldMkLst>
      </pc:sldChg>
      <pc:sldChg chg="modSp mod ord modClrScheme chgLayout">
        <pc:chgData name="Jason Romans" userId="b1594dadafe83612" providerId="LiveId" clId="{CBB49B5A-BAC4-4EF9-90F7-6CF68F907A02}" dt="2026-07-15T03:13:07.139" v="465"/>
        <pc:sldMkLst>
          <pc:docMk/>
          <pc:sldMk cId="2919944606" sldId="2147477802"/>
        </pc:sldMkLst>
      </pc:sldChg>
      <pc:sldChg chg="modSp mod ord modClrScheme chgLayout">
        <pc:chgData name="Jason Romans" userId="b1594dadafe83612" providerId="LiveId" clId="{CBB49B5A-BAC4-4EF9-90F7-6CF68F907A02}" dt="2026-07-15T03:13:07.139" v="465"/>
        <pc:sldMkLst>
          <pc:docMk/>
          <pc:sldMk cId="3873164112" sldId="2147477803"/>
        </pc:sldMkLst>
      </pc:sldChg>
      <pc:sldChg chg="modSp mod ord modClrScheme chgLayout">
        <pc:chgData name="Jason Romans" userId="b1594dadafe83612" providerId="LiveId" clId="{CBB49B5A-BAC4-4EF9-90F7-6CF68F907A02}" dt="2026-07-15T03:13:07.139" v="465"/>
        <pc:sldMkLst>
          <pc:docMk/>
          <pc:sldMk cId="3746286661" sldId="2147477804"/>
        </pc:sldMkLst>
      </pc:sldChg>
      <pc:sldChg chg="delSp mod">
        <pc:chgData name="Jason Romans" userId="b1594dadafe83612" providerId="LiveId" clId="{CBB49B5A-BAC4-4EF9-90F7-6CF68F907A02}" dt="2026-07-18T02:56:21.472" v="477" actId="478"/>
        <pc:sldMkLst>
          <pc:docMk/>
          <pc:sldMk cId="1781266551" sldId="2147477830"/>
        </pc:sldMkLst>
        <pc:spChg chg="del">
          <ac:chgData name="Jason Romans" userId="b1594dadafe83612" providerId="LiveId" clId="{CBB49B5A-BAC4-4EF9-90F7-6CF68F907A02}" dt="2026-07-18T02:56:21.472" v="477" actId="478"/>
          <ac:spMkLst>
            <pc:docMk/>
            <pc:sldMk cId="1781266551" sldId="2147477830"/>
            <ac:spMk id="11" creationId="{6E735E7C-DD9F-8009-53BE-A8331EE43E4C}"/>
          </ac:spMkLst>
        </pc:spChg>
      </pc:sldChg>
      <pc:sldChg chg="delSp modSp mod ord modClrScheme chgLayout">
        <pc:chgData name="Jason Romans" userId="b1594dadafe83612" providerId="LiveId" clId="{CBB49B5A-BAC4-4EF9-90F7-6CF68F907A02}" dt="2026-07-15T03:13:07.139" v="465"/>
        <pc:sldMkLst>
          <pc:docMk/>
          <pc:sldMk cId="1461112374" sldId="2147477837"/>
        </pc:sldMkLst>
        <pc:spChg chg="mod">
          <ac:chgData name="Jason Romans" userId="b1594dadafe83612" providerId="LiveId" clId="{CBB49B5A-BAC4-4EF9-90F7-6CF68F907A02}" dt="2026-07-14T15:19:28.346" v="93"/>
          <ac:spMkLst>
            <pc:docMk/>
            <pc:sldMk cId="1461112374" sldId="2147477837"/>
            <ac:spMk id="2" creationId="{A3232423-207A-8272-BA72-59953A6FD92F}"/>
          </ac:spMkLst>
        </pc:spChg>
        <pc:spChg chg="mod ord">
          <ac:chgData name="Jason Romans" userId="b1594dadafe83612" providerId="LiveId" clId="{CBB49B5A-BAC4-4EF9-90F7-6CF68F907A02}" dt="2026-07-14T15:19:28.346" v="91"/>
          <ac:spMkLst>
            <pc:docMk/>
            <pc:sldMk cId="1461112374" sldId="2147477837"/>
            <ac:spMk id="9" creationId="{5099E824-B618-DB2B-F65F-9DE013402440}"/>
          </ac:spMkLst>
        </pc:spChg>
        <pc:picChg chg="mod">
          <ac:chgData name="Jason Romans" userId="b1594dadafe83612" providerId="LiveId" clId="{CBB49B5A-BAC4-4EF9-90F7-6CF68F907A02}" dt="2026-07-14T15:19:28.346" v="92"/>
          <ac:picMkLst>
            <pc:docMk/>
            <pc:sldMk cId="1461112374" sldId="2147477837"/>
            <ac:picMk id="143" creationId="{00000000-0000-0000-0000-000000000000}"/>
          </ac:picMkLst>
        </pc:picChg>
      </pc:sldChg>
      <pc:sldChg chg="add del">
        <pc:chgData name="Jason Romans" userId="b1594dadafe83612" providerId="LiveId" clId="{CBB49B5A-BAC4-4EF9-90F7-6CF68F907A02}" dt="2026-07-14T15:05:16.301" v="71"/>
        <pc:sldMkLst>
          <pc:docMk/>
          <pc:sldMk cId="3267716207" sldId="2147477844"/>
        </pc:sldMkLst>
      </pc:sldChg>
      <pc:sldChg chg="modSp add mod">
        <pc:chgData name="Jason Romans" userId="b1594dadafe83612" providerId="LiveId" clId="{CBB49B5A-BAC4-4EF9-90F7-6CF68F907A02}" dt="2026-07-15T03:10:39.761" v="449" actId="122"/>
        <pc:sldMkLst>
          <pc:docMk/>
          <pc:sldMk cId="2370824490" sldId="2147477846"/>
        </pc:sldMkLst>
        <pc:spChg chg="mod">
          <ac:chgData name="Jason Romans" userId="b1594dadafe83612" providerId="LiveId" clId="{CBB49B5A-BAC4-4EF9-90F7-6CF68F907A02}" dt="2026-07-15T03:10:39.761" v="449" actId="122"/>
          <ac:spMkLst>
            <pc:docMk/>
            <pc:sldMk cId="2370824490" sldId="2147477846"/>
            <ac:spMk id="2" creationId="{97FA6A48-357F-5CB6-1E2F-794E696D7B83}"/>
          </ac:spMkLst>
        </pc:spChg>
        <pc:picChg chg="mod">
          <ac:chgData name="Jason Romans" userId="b1594dadafe83612" providerId="LiveId" clId="{CBB49B5A-BAC4-4EF9-90F7-6CF68F907A02}" dt="2026-07-15T03:10:10.848" v="442" actId="1076"/>
          <ac:picMkLst>
            <pc:docMk/>
            <pc:sldMk cId="2370824490" sldId="2147477846"/>
            <ac:picMk id="5" creationId="{6DA81F8D-430A-BDA9-DD99-02D6E7E68E1B}"/>
          </ac:picMkLst>
        </pc:picChg>
      </pc:sldChg>
      <pc:sldChg chg="add">
        <pc:chgData name="Jason Romans" userId="b1594dadafe83612" providerId="LiveId" clId="{CBB49B5A-BAC4-4EF9-90F7-6CF68F907A02}" dt="2026-07-14T15:12:34.876" v="87"/>
        <pc:sldMkLst>
          <pc:docMk/>
          <pc:sldMk cId="3707046639" sldId="2147477848"/>
        </pc:sldMkLst>
      </pc:sldChg>
      <pc:sldChg chg="modSp add del mod ord">
        <pc:chgData name="Jason Romans" userId="b1594dadafe83612" providerId="LiveId" clId="{CBB49B5A-BAC4-4EF9-90F7-6CF68F907A02}" dt="2026-07-17T20:43:29.410" v="471" actId="18676"/>
        <pc:sldMkLst>
          <pc:docMk/>
          <pc:sldMk cId="1606561150" sldId="2147477865"/>
        </pc:sldMkLst>
      </pc:sldChg>
      <pc:sldChg chg="addSp modSp add del mod ord">
        <pc:chgData name="Jason Romans" userId="b1594dadafe83612" providerId="LiveId" clId="{CBB49B5A-BAC4-4EF9-90F7-6CF68F907A02}" dt="2026-07-17T20:43:29.410" v="471" actId="18676"/>
        <pc:sldMkLst>
          <pc:docMk/>
          <pc:sldMk cId="732086787" sldId="2147477867"/>
        </pc:sldMkLst>
      </pc:sldChg>
      <pc:sldChg chg="modSp add del mod ord">
        <pc:chgData name="Jason Romans" userId="b1594dadafe83612" providerId="LiveId" clId="{CBB49B5A-BAC4-4EF9-90F7-6CF68F907A02}" dt="2026-07-17T20:43:29.410" v="471" actId="18676"/>
        <pc:sldMkLst>
          <pc:docMk/>
          <pc:sldMk cId="2632662711" sldId="2147477868"/>
        </pc:sldMkLst>
      </pc:sldChg>
      <pc:sldChg chg="modSp add del mod ord">
        <pc:chgData name="Jason Romans" userId="b1594dadafe83612" providerId="LiveId" clId="{CBB49B5A-BAC4-4EF9-90F7-6CF68F907A02}" dt="2026-07-17T20:43:29.410" v="471" actId="18676"/>
        <pc:sldMkLst>
          <pc:docMk/>
          <pc:sldMk cId="4176614333" sldId="2147477869"/>
        </pc:sldMkLst>
      </pc:sldChg>
      <pc:sldChg chg="modSp add del mod ord">
        <pc:chgData name="Jason Romans" userId="b1594dadafe83612" providerId="LiveId" clId="{CBB49B5A-BAC4-4EF9-90F7-6CF68F907A02}" dt="2026-07-17T20:43:29.410" v="471" actId="18676"/>
        <pc:sldMkLst>
          <pc:docMk/>
          <pc:sldMk cId="3818380498" sldId="2147477870"/>
        </pc:sldMkLst>
      </pc:sldChg>
      <pc:sldChg chg="modSp add del mod ord">
        <pc:chgData name="Jason Romans" userId="b1594dadafe83612" providerId="LiveId" clId="{CBB49B5A-BAC4-4EF9-90F7-6CF68F907A02}" dt="2026-07-17T20:43:29.410" v="471" actId="18676"/>
        <pc:sldMkLst>
          <pc:docMk/>
          <pc:sldMk cId="3900446109" sldId="2147477871"/>
        </pc:sldMkLst>
      </pc:sldChg>
      <pc:sldChg chg="modSp add del mod ord">
        <pc:chgData name="Jason Romans" userId="b1594dadafe83612" providerId="LiveId" clId="{CBB49B5A-BAC4-4EF9-90F7-6CF68F907A02}" dt="2026-07-17T20:43:32.506" v="472" actId="18676"/>
        <pc:sldMkLst>
          <pc:docMk/>
          <pc:sldMk cId="1527011546" sldId="2147477872"/>
        </pc:sldMkLst>
      </pc:sldChg>
      <pc:sldChg chg="addSp modSp add del mod ord">
        <pc:chgData name="Jason Romans" userId="b1594dadafe83612" providerId="LiveId" clId="{CBB49B5A-BAC4-4EF9-90F7-6CF68F907A02}" dt="2026-07-17T20:43:32.506" v="472" actId="18676"/>
        <pc:sldMkLst>
          <pc:docMk/>
          <pc:sldMk cId="3451050584" sldId="2147477873"/>
        </pc:sldMkLst>
      </pc:sldChg>
      <pc:sldChg chg="modSp add del mod ord">
        <pc:chgData name="Jason Romans" userId="b1594dadafe83612" providerId="LiveId" clId="{CBB49B5A-BAC4-4EF9-90F7-6CF68F907A02}" dt="2026-07-17T20:43:32.506" v="472" actId="18676"/>
        <pc:sldMkLst>
          <pc:docMk/>
          <pc:sldMk cId="1465752982" sldId="2147477876"/>
        </pc:sldMkLst>
      </pc:sldChg>
      <pc:sldChg chg="modSp add del mod ord">
        <pc:chgData name="Jason Romans" userId="b1594dadafe83612" providerId="LiveId" clId="{CBB49B5A-BAC4-4EF9-90F7-6CF68F907A02}" dt="2026-07-17T20:43:32.506" v="472" actId="18676"/>
        <pc:sldMkLst>
          <pc:docMk/>
          <pc:sldMk cId="2238556654" sldId="2147477877"/>
        </pc:sldMkLst>
      </pc:sldChg>
      <pc:sldChg chg="modSp add del mod ord">
        <pc:chgData name="Jason Romans" userId="b1594dadafe83612" providerId="LiveId" clId="{CBB49B5A-BAC4-4EF9-90F7-6CF68F907A02}" dt="2026-07-17T20:43:32.506" v="472" actId="18676"/>
        <pc:sldMkLst>
          <pc:docMk/>
          <pc:sldMk cId="1281068567" sldId="2147477878"/>
        </pc:sldMkLst>
      </pc:sldChg>
      <pc:sldChg chg="modSp add mod">
        <pc:chgData name="Jason Romans" userId="b1594dadafe83612" providerId="LiveId" clId="{CBB49B5A-BAC4-4EF9-90F7-6CF68F907A02}" dt="2026-07-15T02:47:02.528" v="378" actId="27636"/>
        <pc:sldMkLst>
          <pc:docMk/>
          <pc:sldMk cId="2916416753" sldId="2147477889"/>
        </pc:sldMkLst>
        <pc:spChg chg="mod">
          <ac:chgData name="Jason Romans" userId="b1594dadafe83612" providerId="LiveId" clId="{CBB49B5A-BAC4-4EF9-90F7-6CF68F907A02}" dt="2026-07-15T02:47:02.528" v="378" actId="27636"/>
          <ac:spMkLst>
            <pc:docMk/>
            <pc:sldMk cId="2916416753" sldId="2147477889"/>
            <ac:spMk id="6" creationId="{14BFCBFB-320C-C534-BFEC-E8FB17BBEA03}"/>
          </ac:spMkLst>
        </pc:spChg>
      </pc:sldChg>
      <pc:sldChg chg="add del ord">
        <pc:chgData name="Jason Romans" userId="b1594dadafe83612" providerId="LiveId" clId="{CBB49B5A-BAC4-4EF9-90F7-6CF68F907A02}" dt="2026-07-17T20:43:29.410" v="471" actId="18676"/>
        <pc:sldMkLst>
          <pc:docMk/>
          <pc:sldMk cId="2714394536" sldId="2147477890"/>
        </pc:sldMkLst>
      </pc:sldChg>
      <pc:sldChg chg="modSp add del mod ord">
        <pc:chgData name="Jason Romans" userId="b1594dadafe83612" providerId="LiveId" clId="{CBB49B5A-BAC4-4EF9-90F7-6CF68F907A02}" dt="2026-07-17T20:43:32.506" v="472" actId="18676"/>
        <pc:sldMkLst>
          <pc:docMk/>
          <pc:sldMk cId="3027071217" sldId="2147477891"/>
        </pc:sldMkLst>
      </pc:sldChg>
      <pc:sldChg chg="modSp add del mod ord">
        <pc:chgData name="Jason Romans" userId="b1594dadafe83612" providerId="LiveId" clId="{CBB49B5A-BAC4-4EF9-90F7-6CF68F907A02}" dt="2026-07-17T20:43:32.506" v="472" actId="18676"/>
        <pc:sldMkLst>
          <pc:docMk/>
          <pc:sldMk cId="2730138007" sldId="2147477892"/>
        </pc:sldMkLst>
      </pc:sldChg>
      <pc:sldChg chg="add">
        <pc:chgData name="Jason Romans" userId="b1594dadafe83612" providerId="LiveId" clId="{CBB49B5A-BAC4-4EF9-90F7-6CF68F907A02}" dt="2026-07-15T03:04:35.633" v="412"/>
        <pc:sldMkLst>
          <pc:docMk/>
          <pc:sldMk cId="3530417867" sldId="2147477895"/>
        </pc:sldMkLst>
      </pc:sldChg>
      <pc:sldChg chg="add">
        <pc:chgData name="Jason Romans" userId="b1594dadafe83612" providerId="LiveId" clId="{CBB49B5A-BAC4-4EF9-90F7-6CF68F907A02}" dt="2026-07-15T03:04:53.034" v="414"/>
        <pc:sldMkLst>
          <pc:docMk/>
          <pc:sldMk cId="3488522061" sldId="2147477896"/>
        </pc:sldMkLst>
      </pc:sldChg>
      <pc:sldChg chg="add">
        <pc:chgData name="Jason Romans" userId="b1594dadafe83612" providerId="LiveId" clId="{CBB49B5A-BAC4-4EF9-90F7-6CF68F907A02}" dt="2026-07-15T03:05:08.054" v="416"/>
        <pc:sldMkLst>
          <pc:docMk/>
          <pc:sldMk cId="1360333277" sldId="2147477897"/>
        </pc:sldMkLst>
      </pc:sldChg>
      <pc:sldChg chg="add">
        <pc:chgData name="Jason Romans" userId="b1594dadafe83612" providerId="LiveId" clId="{CBB49B5A-BAC4-4EF9-90F7-6CF68F907A02}" dt="2026-07-15T03:05:23.637" v="418"/>
        <pc:sldMkLst>
          <pc:docMk/>
          <pc:sldMk cId="3890309697" sldId="2147477898"/>
        </pc:sldMkLst>
      </pc:sldChg>
      <pc:sldChg chg="add">
        <pc:chgData name="Jason Romans" userId="b1594dadafe83612" providerId="LiveId" clId="{CBB49B5A-BAC4-4EF9-90F7-6CF68F907A02}" dt="2026-07-15T03:05:38.871" v="420"/>
        <pc:sldMkLst>
          <pc:docMk/>
          <pc:sldMk cId="2262023677" sldId="2147477899"/>
        </pc:sldMkLst>
      </pc:sldChg>
      <pc:sldChg chg="add ord">
        <pc:chgData name="Jason Romans" userId="b1594dadafe83612" providerId="LiveId" clId="{CBB49B5A-BAC4-4EF9-90F7-6CF68F907A02}" dt="2026-07-15T03:10:58.652" v="451" actId="20578"/>
        <pc:sldMkLst>
          <pc:docMk/>
          <pc:sldMk cId="985829528" sldId="2147477900"/>
        </pc:sldMkLst>
      </pc:sldChg>
      <pc:sldChg chg="add ord">
        <pc:chgData name="Jason Romans" userId="b1594dadafe83612" providerId="LiveId" clId="{CBB49B5A-BAC4-4EF9-90F7-6CF68F907A02}" dt="2026-07-15T03:09:02.487" v="432" actId="20578"/>
        <pc:sldMkLst>
          <pc:docMk/>
          <pc:sldMk cId="1729916970" sldId="2147477901"/>
        </pc:sldMkLst>
      </pc:sldChg>
      <pc:sldChg chg="add ord">
        <pc:chgData name="Jason Romans" userId="b1594dadafe83612" providerId="LiveId" clId="{CBB49B5A-BAC4-4EF9-90F7-6CF68F907A02}" dt="2026-07-15T03:10:52.873" v="450" actId="20578"/>
        <pc:sldMkLst>
          <pc:docMk/>
          <pc:sldMk cId="2889769032" sldId="2147477902"/>
        </pc:sldMkLst>
      </pc:sldChg>
      <pc:sldChg chg="add ord">
        <pc:chgData name="Jason Romans" userId="b1594dadafe83612" providerId="LiveId" clId="{CBB49B5A-BAC4-4EF9-90F7-6CF68F907A02}" dt="2026-07-15T03:12:24.701" v="461"/>
        <pc:sldMkLst>
          <pc:docMk/>
          <pc:sldMk cId="4116290437" sldId="2147477903"/>
        </pc:sldMkLst>
      </pc:sldChg>
      <pc:sldChg chg="add ord">
        <pc:chgData name="Jason Romans" userId="b1594dadafe83612" providerId="LiveId" clId="{CBB49B5A-BAC4-4EF9-90F7-6CF68F907A02}" dt="2026-07-15T03:11:49.647" v="457" actId="20578"/>
        <pc:sldMkLst>
          <pc:docMk/>
          <pc:sldMk cId="4215627515" sldId="214747790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F3507-11C7-4A70-8AF7-7686EEA92D92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BD564-AE01-49C7-BBE9-484DE6ABB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437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4FF22-8C00-8B46-B33E-7D242B5C4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72BFAC-6BFE-9202-D3DD-35B2519C0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0676E1-12B1-100F-DDAE-B91254D65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30FD92-DB42-40B6-5F39-911622EC4D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2013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240D9-9398-7B1A-8EEE-8D72D1931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AF746F-F780-1B36-BBDD-AB9619B2A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F11668-CAAE-B98C-9214-34485E617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C5B6C-CB9E-4DCE-BB53-01E3EA77C9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9990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34A53-6158-7F7F-D703-A4B42BE1A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067441-0025-93BA-FDF8-17D525E811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1235A8-EEB8-9A36-594E-40C8E776A8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7E42C-E953-78F6-F65D-60E7305447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712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2F6E4-5212-C3AE-C2EA-7AE7E55CF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88D7C4-BD1D-BE75-D1E8-3A76CA014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024833-C574-845F-C2EB-28A71B838C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2731C8-E3D2-6146-6AC6-79660AAF63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116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3CAD1-AAFD-A3E8-2086-F61C08DEF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9A5CC0-A9AF-0137-B80D-D8C029E76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CD51C1-2F8C-7FA3-3B7F-8D525905E6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31E63-C124-EA04-4209-6974B5E9BF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85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463A5-499F-1BCE-4BFA-8004C15AC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33EBA0-EF38-E7BF-3E19-84B93AB1C3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60F027-3D77-C809-3542-72D9F0AB6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F1FAE-D887-4F18-D6B7-BD3564D04C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285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6397E-61FF-98E1-C166-E4BE23BF8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542783-3BB7-1199-1880-799D3948E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EDE1A2-BD2A-D775-A310-CB0162CE6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24367-1FC1-8EEC-F860-D6710F62A2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8712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09E37-D29E-24E0-8761-981D3A9D5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639183-623D-3909-1740-7EFBA2D164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A3626A-1109-8A12-3347-5400ACB28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00D19-C122-A4B8-C950-C67D2AF318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8321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F662C-9225-9FA4-3C0C-56D1C6418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A0C073-3301-B08A-228F-F0676D9687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C13F3E-562F-7766-1453-80C7C7E1ED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A5474-9BDB-969E-0F47-3B1EBC5EE8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969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E242E-43C9-3F99-208A-CD150F19C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55B8DD-826C-5D9C-DC0C-0C16E5E93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40C267-781E-CFB5-7EB4-5D90973A5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3D5B9-84E1-EE30-717E-E2164597DA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585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736D2-6340-55CD-8F5F-DB8D1373A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EE1B2B-3C77-7764-00A0-A667E876A0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C404F5-5AB0-8431-EA38-28096CE66C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127C4-FC89-AEB7-AF2D-F8EC4860FB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9114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97B43-08C2-4D00-6FFF-8A1573E47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E1EDE1-B866-7F26-87DC-CB153CC99C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08AAF7-4B9D-4446-0148-5A50954F1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98A6A-9F60-F36D-D20E-E27FA73FC4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5781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1EA87-321C-3D66-33B5-32A8E71C1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C1D4FA-A3B6-57CE-2178-21001D3B7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D18A6E-4D69-FF58-7726-BBDA98324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81E30-00BC-562E-2921-65821116CC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110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59407-C93A-8FB9-5A64-8246C2EFB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1764E3-CB73-2A60-9158-F7A180F497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DAA999-AF15-666A-5DC0-04AB5F788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B0C2B-8A40-5444-551C-2E654607EE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0734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59407-C93A-8FB9-5A64-8246C2EFB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1764E3-CB73-2A60-9158-F7A180F497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DAA999-AF15-666A-5DC0-04AB5F788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B0C2B-8A40-5444-551C-2E654607EE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0734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8CDD1-01F6-2526-BBFC-6DE41D3E3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352AC1-C530-8A68-11FE-4486A12231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DD7CA3-DAB5-03DF-0DBE-5DC7855EC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FB01E-B239-C1ED-EDE6-F0035063A5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2404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55A11-FE9B-F10E-78A3-57EDF8EA9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A265FE-2F99-D044-9C45-E48BE19CCD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214FE5-312C-2899-603F-96A8BA47A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1CAC9-72DD-349E-6BBB-F3269AD35F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01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22797-A5E2-8BA7-52CB-F62B8CB77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4510D5-10C0-3EBF-04B3-530EF872D6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971985-B9EA-DECD-7A80-8C3661600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8D529-8F8B-9A32-FAA0-F950186E5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8732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BD1CB-0D4B-755D-053D-E0C396C6E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41BF59-F3B0-1F14-CF44-C7DD487FD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1D8512-E30C-9D1E-60A3-07F40DA218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068A6-4C95-55EC-560F-6E3EAB7F74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2691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96044-465A-F987-D3A5-CB7A12D1C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AD14CB-4B49-8D99-AF74-9DD97361B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211F46-9D62-3742-E2C8-D57B5CBD6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D53B5-743A-9D07-BD3C-9D74C3E0E0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2852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89C4E-0374-98C5-F36B-F6D292E5B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D2393E-989F-7E36-5CF6-B78593DCCF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0470CE-3D91-BD73-6942-8A2EBFA7C9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3A047-1E41-0ECA-12A0-713BD1164C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2523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571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59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479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546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671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905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4126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09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829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730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108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506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2773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452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42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2753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292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80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519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037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jpg"/><Relationship Id="rId11" Type="http://schemas.openxmlformats.org/officeDocument/2006/relationships/image" Target="../media/image11.jp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jp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unity.fabric.microsoft.com/t5/Notebook-Gallery/bd-p/pbi_notebookgallery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mmunity.fabric.microsoft.com/t5/Power-BI-Community-Blog/Announcing-the-Fabric-Semantic-Link-Developer-Experience/ba-p/5139639" TargetMode="External"/><Relationship Id="rId4" Type="http://schemas.openxmlformats.org/officeDocument/2006/relationships/hyperlink" Target="https://powerbi.microsoft.com/en-us/blog/introducing-the-first-ever-fabric-notebooks-competition-for-power-bi/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fabric/data-engineering/fabric-notebook-selection-guide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42.sv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sv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rosoft/fabric-samples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ranstats.bts.gov/" TargetMode="External"/><Relationship Id="rId5" Type="http://schemas.openxmlformats.org/officeDocument/2006/relationships/hyperlink" Target="https://github.com/microsoft/semantic-link-labs" TargetMode="External"/><Relationship Id="rId4" Type="http://schemas.openxmlformats.org/officeDocument/2006/relationships/hyperlink" Target="https://learn.microsoft.com/en-us/fabric/data-science/semantic-link-overview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eilly.com/library/view/data-analysis-with/9781617297205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edropark99.github.io/Introd-pyspark/" TargetMode="Externa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79BF15-8DA1-1F22-C3B3-02A467D92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75C3F9-97B3-5859-6ADF-40BEED3C1F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58251" y="1752600"/>
            <a:ext cx="5936498" cy="3352800"/>
          </a:xfrm>
          <a:prstGeom prst="rect">
            <a:avLst/>
          </a:prstGeom>
          <a:ln w="19050">
            <a:solidFill>
              <a:srgbClr val="EBA000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4A86F7-59A8-1411-3DDE-11BE088DC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0700" y="1092200"/>
            <a:ext cx="5588000" cy="381000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95000"/>
              </a:lnSpc>
            </a:pPr>
            <a:r>
              <a:rPr lang="en-US" sz="5400" b="1" dirty="0">
                <a:solidFill>
                  <a:srgbClr val="EBA000"/>
                </a:solidFill>
              </a:rPr>
              <a:t>Data on Fire</a:t>
            </a:r>
          </a:p>
          <a:p>
            <a:pPr algn="l">
              <a:lnSpc>
                <a:spcPct val="95000"/>
              </a:lnSpc>
              <a:spcBef>
                <a:spcPts val="600"/>
              </a:spcBef>
            </a:pPr>
            <a:r>
              <a:rPr lang="en-US" sz="3200" b="0" dirty="0">
                <a:solidFill>
                  <a:srgbClr val="FFFFFF"/>
                </a:solidFill>
              </a:rPr>
              <a:t>A Hands-On Intro to Spark in Fabric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1DA805D-F7F0-75E6-513F-726F888F6ADF}"/>
              </a:ext>
            </a:extLst>
          </p:cNvPr>
          <p:cNvSpPr txBox="1">
            <a:spLocks/>
          </p:cNvSpPr>
          <p:nvPr/>
        </p:nvSpPr>
        <p:spPr>
          <a:xfrm>
            <a:off x="520700" y="5994400"/>
            <a:ext cx="5649252" cy="5787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lang="en-US" sz="1600" spc="400" dirty="0">
                <a:solidFill>
                  <a:srgbClr val="FFFFFF"/>
                </a:solidFill>
              </a:rPr>
              <a:t>Baton Rouge Day of Data </a:t>
            </a:r>
            <a:r>
              <a:rPr lang="en-US" sz="1600" b="1" spc="400" dirty="0">
                <a:solidFill>
                  <a:srgbClr val="EBA000"/>
                </a:solidFill>
              </a:rPr>
              <a:t>•  2026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812800"/>
            <a:ext cx="812800" cy="762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FooterRule">
            <a:extLst>
              <a:ext uri="{FF2B5EF4-FFF2-40B4-BE49-F238E27FC236}">
                <a16:creationId xmlns:a16="http://schemas.microsoft.com/office/drawing/2014/main" id="{C8988931-C887-4E81-AC73-060188FF7A10}"/>
              </a:ext>
            </a:extLst>
          </p:cNvPr>
          <p:cNvSpPr/>
          <p:nvPr/>
        </p:nvSpPr>
        <p:spPr>
          <a:xfrm>
            <a:off x="520700" y="5816600"/>
            <a:ext cx="8128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0466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</a:blip>
          <a:srcRect/>
          <a:stretch>
            <a:fillRect t="-27000" b="-2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13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28016"/>
            <a:ext cx="12191695" cy="6400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lin Sans FB"/>
                <a:ea typeface="+mn-ea"/>
                <a:cs typeface="+mn-cs"/>
              </a:rPr>
              <a:t>Day of Data Baton Rouge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F7C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6236208"/>
            <a:ext cx="12191695" cy="58521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0" u="none" strike="noStrike" kern="1200" cap="none" spc="0" normalizeH="0" baseline="0" noProof="0">
                <a:ln>
                  <a:noFill/>
                </a:ln>
                <a:solidFill>
                  <a:srgbClr val="013169"/>
                </a:solidFill>
                <a:effectLst/>
                <a:uLnTx/>
                <a:uFillTx/>
                <a:latin typeface="Berlin Sans FB"/>
                <a:ea typeface="+mn-ea"/>
                <a:cs typeface="+mn-cs"/>
              </a:rPr>
              <a:t>Thank You, Sponsors!</a:t>
            </a:r>
          </a:p>
        </p:txBody>
      </p:sp>
      <p:pic>
        <p:nvPicPr>
          <p:cNvPr id="6" name="Picture 5" descr="sponsor1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635991"/>
            <a:ext cx="1705813" cy="339898"/>
          </a:xfrm>
          <a:prstGeom prst="rect">
            <a:avLst/>
          </a:prstGeom>
        </p:spPr>
      </p:pic>
      <p:pic>
        <p:nvPicPr>
          <p:cNvPr id="7" name="Picture 6" descr="sponsor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5037" y="1409338"/>
            <a:ext cx="1705813" cy="793203"/>
          </a:xfrm>
          <a:prstGeom prst="rect">
            <a:avLst/>
          </a:prstGeom>
        </p:spPr>
      </p:pic>
      <p:pic>
        <p:nvPicPr>
          <p:cNvPr id="8" name="Picture 7" descr="sponsor3_cropp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0306" y="1441391"/>
            <a:ext cx="1705813" cy="729098"/>
          </a:xfrm>
          <a:prstGeom prst="rect">
            <a:avLst/>
          </a:prstGeom>
        </p:spPr>
      </p:pic>
      <p:pic>
        <p:nvPicPr>
          <p:cNvPr id="9" name="Picture 8" descr="sponsor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5576" y="1648152"/>
            <a:ext cx="1705813" cy="315575"/>
          </a:xfrm>
          <a:prstGeom prst="rect">
            <a:avLst/>
          </a:prstGeom>
        </p:spPr>
      </p:pic>
      <p:pic>
        <p:nvPicPr>
          <p:cNvPr id="10" name="Picture 9" descr="sponsor5_cropp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0845" y="1603375"/>
            <a:ext cx="1705813" cy="405131"/>
          </a:xfrm>
          <a:prstGeom prst="rect">
            <a:avLst/>
          </a:prstGeom>
        </p:spPr>
      </p:pic>
      <p:pic>
        <p:nvPicPr>
          <p:cNvPr id="11" name="Picture 10" descr="sponsor6_cropp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6114" y="1418686"/>
            <a:ext cx="1705813" cy="774509"/>
          </a:xfrm>
          <a:prstGeom prst="rect">
            <a:avLst/>
          </a:prstGeom>
        </p:spPr>
      </p:pic>
      <p:pic>
        <p:nvPicPr>
          <p:cNvPr id="12" name="Picture 11" descr="sponsor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768" y="2613927"/>
            <a:ext cx="1705813" cy="852907"/>
          </a:xfrm>
          <a:prstGeom prst="rect">
            <a:avLst/>
          </a:prstGeom>
        </p:spPr>
      </p:pic>
      <p:pic>
        <p:nvPicPr>
          <p:cNvPr id="13" name="Picture 12" descr="sponsor8_cropp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22841" y="2532888"/>
            <a:ext cx="970205" cy="1014984"/>
          </a:xfrm>
          <a:prstGeom prst="rect">
            <a:avLst/>
          </a:prstGeom>
        </p:spPr>
      </p:pic>
      <p:pic>
        <p:nvPicPr>
          <p:cNvPr id="14" name="Picture 13" descr="sponsor9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80306" y="2919907"/>
            <a:ext cx="1705813" cy="240946"/>
          </a:xfrm>
          <a:prstGeom prst="rect">
            <a:avLst/>
          </a:prstGeom>
        </p:spPr>
      </p:pic>
      <p:pic>
        <p:nvPicPr>
          <p:cNvPr id="15" name="Picture 14" descr="sponsor10_cropp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05576" y="2704735"/>
            <a:ext cx="1705813" cy="671290"/>
          </a:xfrm>
          <a:prstGeom prst="rect">
            <a:avLst/>
          </a:prstGeom>
        </p:spPr>
      </p:pic>
      <p:pic>
        <p:nvPicPr>
          <p:cNvPr id="16" name="Picture 15" descr="sponsor11_cropp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0845" y="2623884"/>
            <a:ext cx="1705813" cy="832991"/>
          </a:xfrm>
          <a:prstGeom prst="rect">
            <a:avLst/>
          </a:prstGeom>
        </p:spPr>
      </p:pic>
      <p:pic>
        <p:nvPicPr>
          <p:cNvPr id="17" name="Picture 16" descr="sponsor12_cropp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86636" y="2532888"/>
            <a:ext cx="844769" cy="1014984"/>
          </a:xfrm>
          <a:prstGeom prst="rect">
            <a:avLst/>
          </a:prstGeom>
        </p:spPr>
      </p:pic>
      <p:pic>
        <p:nvPicPr>
          <p:cNvPr id="18" name="Picture 17" descr="sponsor13_cropp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9768" y="4119898"/>
            <a:ext cx="2090867" cy="309843"/>
          </a:xfrm>
          <a:prstGeom prst="rect">
            <a:avLst/>
          </a:prstGeom>
        </p:spPr>
      </p:pic>
      <p:pic>
        <p:nvPicPr>
          <p:cNvPr id="19" name="Picture 18" descr="sponsor1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60536" y="3767328"/>
            <a:ext cx="1449977" cy="1014984"/>
          </a:xfrm>
          <a:prstGeom prst="rect">
            <a:avLst/>
          </a:prstGeom>
        </p:spPr>
      </p:pic>
      <p:pic>
        <p:nvPicPr>
          <p:cNvPr id="20" name="Picture 19" descr="sponsor15_cropp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50414" y="4098347"/>
            <a:ext cx="2090867" cy="352946"/>
          </a:xfrm>
          <a:prstGeom prst="rect">
            <a:avLst/>
          </a:prstGeom>
        </p:spPr>
      </p:pic>
      <p:pic>
        <p:nvPicPr>
          <p:cNvPr id="21" name="Picture 20" descr="sponsor16_cropp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60737" y="3946366"/>
            <a:ext cx="2090867" cy="656908"/>
          </a:xfrm>
          <a:prstGeom prst="rect">
            <a:avLst/>
          </a:prstGeom>
        </p:spPr>
      </p:pic>
      <p:pic>
        <p:nvPicPr>
          <p:cNvPr id="22" name="Picture 21" descr="sponsor1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71060" y="4144141"/>
            <a:ext cx="2090867" cy="261358"/>
          </a:xfrm>
          <a:prstGeom prst="rect">
            <a:avLst/>
          </a:prstGeom>
        </p:spPr>
      </p:pic>
      <p:pic>
        <p:nvPicPr>
          <p:cNvPr id="23" name="Picture 22" descr="sponsor18_cropp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6974" y="5001768"/>
            <a:ext cx="1616456" cy="1014984"/>
          </a:xfrm>
          <a:prstGeom prst="rect">
            <a:avLst/>
          </a:prstGeom>
        </p:spPr>
      </p:pic>
      <p:pic>
        <p:nvPicPr>
          <p:cNvPr id="24" name="Picture 23" descr="sponsor19_cropp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740091" y="5170658"/>
            <a:ext cx="2090867" cy="677204"/>
          </a:xfrm>
          <a:prstGeom prst="rect">
            <a:avLst/>
          </a:prstGeom>
        </p:spPr>
      </p:pic>
      <p:pic>
        <p:nvPicPr>
          <p:cNvPr id="25" name="Picture 24" descr="sponsor20_cropp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01294" y="5001768"/>
            <a:ext cx="1589108" cy="1014984"/>
          </a:xfrm>
          <a:prstGeom prst="rect">
            <a:avLst/>
          </a:prstGeom>
        </p:spPr>
      </p:pic>
      <p:pic>
        <p:nvPicPr>
          <p:cNvPr id="26" name="Picture 25" descr="sponsor21_cropp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52622" y="5001768"/>
            <a:ext cx="1507097" cy="1014984"/>
          </a:xfrm>
          <a:prstGeom prst="rect">
            <a:avLst/>
          </a:prstGeom>
        </p:spPr>
      </p:pic>
      <p:pic>
        <p:nvPicPr>
          <p:cNvPr id="27" name="Picture 26" descr="sponsor22_cropp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671060" y="5309157"/>
            <a:ext cx="2090867" cy="4002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933A-EE2D-9B61-5447-3C9BA2AFB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8F49DE-C4A2-3A4A-9793-547EA4DAB5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" y="0"/>
            <a:ext cx="121798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66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A201D8-4271-099B-93ED-6A41B3919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E1AAA3-57AC-11B2-E798-B22D0BA4CEE3}"/>
              </a:ext>
            </a:extLst>
          </p:cNvPr>
          <p:cNvSpPr/>
          <p:nvPr/>
        </p:nvSpPr>
        <p:spPr>
          <a:xfrm>
            <a:off x="621792" y="50292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10263B"/>
          </a:solidFill>
          <a:ln w="15240">
            <a:solidFill>
              <a:srgbClr val="4EC9B0">
                <a:alpha val="8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6DA4645-14F2-40E1-AFE9-0F98AE4AF8E5}"/>
              </a:ext>
            </a:extLst>
          </p:cNvPr>
          <p:cNvSpPr/>
          <p:nvPr/>
        </p:nvSpPr>
        <p:spPr>
          <a:xfrm>
            <a:off x="676656" y="539496"/>
            <a:ext cx="1901952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BE38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TAKE THIS WITH YOU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7E40736-C4E9-332A-BBB2-D0AF7901BEF6}"/>
              </a:ext>
            </a:extLst>
          </p:cNvPr>
          <p:cNvSpPr/>
          <p:nvPr/>
        </p:nvSpPr>
        <p:spPr>
          <a:xfrm>
            <a:off x="621792" y="96012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F7F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DOWNLOAD THIS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F7F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PRESENTATION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74B661E-53DF-64FB-B250-A9E6943DAE3F}"/>
              </a:ext>
            </a:extLst>
          </p:cNvPr>
          <p:cNvSpPr/>
          <p:nvPr/>
        </p:nvSpPr>
        <p:spPr>
          <a:xfrm>
            <a:off x="640080" y="2377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FB2C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All slides, resources, and demo files available: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EBC60B61-0508-645C-FA2F-842D483917A8}"/>
              </a:ext>
            </a:extLst>
          </p:cNvPr>
          <p:cNvSpPr/>
          <p:nvPr/>
        </p:nvSpPr>
        <p:spPr>
          <a:xfrm>
            <a:off x="548640" y="6281928"/>
            <a:ext cx="11091672" cy="0"/>
          </a:xfrm>
          <a:prstGeom prst="line">
            <a:avLst/>
          </a:prstGeom>
          <a:noFill/>
          <a:ln w="12700">
            <a:solidFill>
              <a:srgbClr val="1C314C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66ECBFE-6AF0-F318-7FBF-3BE936FC99B5}"/>
              </a:ext>
            </a:extLst>
          </p:cNvPr>
          <p:cNvSpPr/>
          <p:nvPr/>
        </p:nvSpPr>
        <p:spPr>
          <a:xfrm>
            <a:off x="5528734" y="406400"/>
            <a:ext cx="5080000" cy="5080000"/>
          </a:xfrm>
          <a:prstGeom prst="roundRect">
            <a:avLst>
              <a:gd name="adj" fmla="val 825"/>
            </a:avLst>
          </a:prstGeom>
          <a:ln w="12700">
            <a:solidFill>
              <a:srgbClr val="3BE38A">
                <a:alpha val="55000"/>
              </a:srgbClr>
            </a:solidFill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0FD3E4-9129-4BC9-42F4-31302462EC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24034" y="901700"/>
            <a:ext cx="4102100" cy="4102100"/>
          </a:xfrm>
          <a:prstGeom prst="rect">
            <a:avLst/>
          </a:prstGeom>
        </p:spPr>
      </p:pic>
      <p:sp>
        <p:nvSpPr>
          <p:cNvPr id="18" name="Text 5">
            <a:extLst>
              <a:ext uri="{FF2B5EF4-FFF2-40B4-BE49-F238E27FC236}">
                <a16:creationId xmlns:a16="http://schemas.microsoft.com/office/drawing/2014/main" id="{1CF89EAD-B2E4-7DFE-6E2E-17F3ADD9258C}"/>
              </a:ext>
            </a:extLst>
          </p:cNvPr>
          <p:cNvSpPr/>
          <p:nvPr/>
        </p:nvSpPr>
        <p:spPr>
          <a:xfrm>
            <a:off x="621792" y="2606040"/>
            <a:ext cx="558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200" normalizeH="0" baseline="0" noProof="0" dirty="0">
                <a:ln>
                  <a:noFill/>
                </a:ln>
                <a:solidFill>
                  <a:srgbClr val="9FB2C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DAX SHEPHERD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thedaxshepherd.com/presentations</a:t>
            </a:r>
          </a:p>
        </p:txBody>
      </p:sp>
    </p:spTree>
    <p:extLst>
      <p:ext uri="{BB962C8B-B14F-4D97-AF65-F5344CB8AC3E}">
        <p14:creationId xmlns:p14="http://schemas.microsoft.com/office/powerpoint/2010/main" val="3096138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77240"/>
            <a:ext cx="4160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4F7F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Standing on the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4F7F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Shoulders of Giants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2176272"/>
            <a:ext cx="3566160" cy="0"/>
          </a:xfrm>
          <a:prstGeom prst="line">
            <a:avLst/>
          </a:prstGeom>
          <a:noFill/>
          <a:ln w="25400">
            <a:solidFill>
              <a:srgbClr val="4EC9B0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41148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Grateful for the people who share their knowledge, encourage us, answer questions, and help the rest of us learn faster.</a:t>
            </a:r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30368" y="595406"/>
            <a:ext cx="5989320" cy="41127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45198" y="4764025"/>
            <a:ext cx="1774490" cy="119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Photo credit: Unknown Author, CC BY-ND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48640" y="6281928"/>
            <a:ext cx="11091672" cy="0"/>
          </a:xfrm>
          <a:prstGeom prst="line">
            <a:avLst/>
          </a:prstGeom>
          <a:noFill/>
          <a:ln w="12700">
            <a:solidFill>
              <a:srgbClr val="1C314C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2A4713-0534-7CBA-7934-0A50DE8F2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avTitle">
            <a:extLst>
              <a:ext uri="{FF2B5EF4-FFF2-40B4-BE49-F238E27FC236}">
                <a16:creationId xmlns:a16="http://schemas.microsoft.com/office/drawing/2014/main" id="{037FB7C7-2141-E579-2FDE-A4492BC8E0E2}"/>
              </a:ext>
            </a:extLst>
          </p:cNvPr>
          <p:cNvSpPr/>
          <p:nvPr/>
        </p:nvSpPr>
        <p:spPr>
          <a:xfrm>
            <a:off x="609600" y="508000"/>
            <a:ext cx="635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Arial"/>
              </a:rPr>
              <a:t>What We'll Cover</a:t>
            </a:r>
          </a:p>
        </p:txBody>
      </p:sp>
      <p:sp>
        <p:nvSpPr>
          <p:cNvPr id="201" name="TitleRule">
            <a:extLst>
              <a:ext uri="{FF2B5EF4-FFF2-40B4-BE49-F238E27FC236}">
                <a16:creationId xmlns:a16="http://schemas.microsoft.com/office/drawing/2014/main" id="{2E5FF7E2-39BC-DAC6-AC38-4674EA6DC24C}"/>
              </a:ext>
            </a:extLst>
          </p:cNvPr>
          <p:cNvSpPr/>
          <p:nvPr/>
        </p:nvSpPr>
        <p:spPr>
          <a:xfrm>
            <a:off x="609600" y="1168400"/>
            <a:ext cx="812800" cy="635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Progress">
            <a:extLst>
              <a:ext uri="{FF2B5EF4-FFF2-40B4-BE49-F238E27FC236}">
                <a16:creationId xmlns:a16="http://schemas.microsoft.com/office/drawing/2014/main" id="{B41243C6-575B-902D-2703-EB3FCA8603E7}"/>
              </a:ext>
            </a:extLst>
          </p:cNvPr>
          <p:cNvSpPr/>
          <p:nvPr/>
        </p:nvSpPr>
        <p:spPr>
          <a:xfrm>
            <a:off x="8382000" y="660400"/>
            <a:ext cx="3200400" cy="38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600" b="1" dirty="0">
                <a:solidFill>
                  <a:srgbClr val="4EC9B0"/>
                </a:solidFill>
                <a:latin typeface="Arial"/>
              </a:rPr>
              <a:t>Section 1</a:t>
            </a:r>
            <a:r>
              <a:rPr lang="en-US" sz="1600" dirty="0">
                <a:solidFill>
                  <a:srgbClr val="8A8A8A"/>
                </a:solidFill>
                <a:latin typeface="Arial"/>
              </a:rPr>
              <a:t> / 5</a:t>
            </a:r>
          </a:p>
        </p:txBody>
      </p:sp>
      <p:sp>
        <p:nvSpPr>
          <p:cNvPr id="203" name="Card0">
            <a:extLst>
              <a:ext uri="{FF2B5EF4-FFF2-40B4-BE49-F238E27FC236}">
                <a16:creationId xmlns:a16="http://schemas.microsoft.com/office/drawing/2014/main" id="{E11EB7AD-4384-2EC7-03A5-2EECE3BD8BF8}"/>
              </a:ext>
            </a:extLst>
          </p:cNvPr>
          <p:cNvSpPr/>
          <p:nvPr/>
        </p:nvSpPr>
        <p:spPr>
          <a:xfrm>
            <a:off x="609600" y="15748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Badge0">
            <a:extLst>
              <a:ext uri="{FF2B5EF4-FFF2-40B4-BE49-F238E27FC236}">
                <a16:creationId xmlns:a16="http://schemas.microsoft.com/office/drawing/2014/main" id="{F0C61D4F-C752-DB96-4175-ADA23DCEC47F}"/>
              </a:ext>
            </a:extLst>
          </p:cNvPr>
          <p:cNvSpPr/>
          <p:nvPr/>
        </p:nvSpPr>
        <p:spPr>
          <a:xfrm>
            <a:off x="762000" y="1701800"/>
            <a:ext cx="558800" cy="55880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4EC9B0"/>
                </a:solidFill>
                <a:latin typeface="Arial"/>
              </a:rPr>
              <a:t>1</a:t>
            </a:r>
          </a:p>
        </p:txBody>
      </p:sp>
      <p:sp>
        <p:nvSpPr>
          <p:cNvPr id="205" name="CardText0">
            <a:extLst>
              <a:ext uri="{FF2B5EF4-FFF2-40B4-BE49-F238E27FC236}">
                <a16:creationId xmlns:a16="http://schemas.microsoft.com/office/drawing/2014/main" id="{55F95F19-6E04-AB39-B3D7-00D51996F3AB}"/>
              </a:ext>
            </a:extLst>
          </p:cNvPr>
          <p:cNvSpPr/>
          <p:nvPr/>
        </p:nvSpPr>
        <p:spPr>
          <a:xfrm>
            <a:off x="1524000" y="16891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dirty="0">
                <a:solidFill>
                  <a:srgbClr val="1E1E1E"/>
                </a:solidFill>
                <a:latin typeface="Arial"/>
              </a:rPr>
              <a:t>Foundations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dirty="0">
                <a:solidFill>
                  <a:srgbClr val="1E1E1E"/>
                </a:solidFill>
                <a:latin typeface="Arial"/>
              </a:rPr>
              <a:t>Spark's origins and the Fabric architecture we'll build on</a:t>
            </a:r>
          </a:p>
        </p:txBody>
      </p:sp>
      <p:sp>
        <p:nvSpPr>
          <p:cNvPr id="206" name="HerePill0">
            <a:extLst>
              <a:ext uri="{FF2B5EF4-FFF2-40B4-BE49-F238E27FC236}">
                <a16:creationId xmlns:a16="http://schemas.microsoft.com/office/drawing/2014/main" id="{703B0C09-531D-1E55-E79E-BF233B68DB24}"/>
              </a:ext>
            </a:extLst>
          </p:cNvPr>
          <p:cNvSpPr/>
          <p:nvPr/>
        </p:nvSpPr>
        <p:spPr>
          <a:xfrm>
            <a:off x="9880600" y="1816100"/>
            <a:ext cx="1524000" cy="33020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200" b="1" dirty="0">
                <a:solidFill>
                  <a:srgbClr val="4EC9B0"/>
                </a:solidFill>
                <a:latin typeface="Arial"/>
              </a:rPr>
              <a:t>YOU ARE HERE</a:t>
            </a:r>
          </a:p>
        </p:txBody>
      </p:sp>
      <p:sp>
        <p:nvSpPr>
          <p:cNvPr id="207" name="Card1">
            <a:extLst>
              <a:ext uri="{FF2B5EF4-FFF2-40B4-BE49-F238E27FC236}">
                <a16:creationId xmlns:a16="http://schemas.microsoft.com/office/drawing/2014/main" id="{ABB3C055-4543-E25B-BAA3-F9851A5F862A}"/>
              </a:ext>
            </a:extLst>
          </p:cNvPr>
          <p:cNvSpPr/>
          <p:nvPr/>
        </p:nvSpPr>
        <p:spPr>
          <a:xfrm>
            <a:off x="609600" y="25654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8" name="Badge1">
            <a:extLst>
              <a:ext uri="{FF2B5EF4-FFF2-40B4-BE49-F238E27FC236}">
                <a16:creationId xmlns:a16="http://schemas.microsoft.com/office/drawing/2014/main" id="{EACC8863-69E3-B96F-FF67-D4DB9DB2370F}"/>
              </a:ext>
            </a:extLst>
          </p:cNvPr>
          <p:cNvSpPr/>
          <p:nvPr/>
        </p:nvSpPr>
        <p:spPr>
          <a:xfrm>
            <a:off x="762000" y="26924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2</a:t>
            </a:r>
          </a:p>
        </p:txBody>
      </p:sp>
      <p:sp>
        <p:nvSpPr>
          <p:cNvPr id="209" name="CardText1">
            <a:extLst>
              <a:ext uri="{FF2B5EF4-FFF2-40B4-BE49-F238E27FC236}">
                <a16:creationId xmlns:a16="http://schemas.microsoft.com/office/drawing/2014/main" id="{334CCAF1-4086-0F39-E3FD-34FEFBE2F01E}"/>
              </a:ext>
            </a:extLst>
          </p:cNvPr>
          <p:cNvSpPr/>
          <p:nvPr/>
        </p:nvSpPr>
        <p:spPr>
          <a:xfrm>
            <a:off x="1524000" y="26797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Python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What you need to know before Spark makes sense</a:t>
            </a:r>
          </a:p>
        </p:txBody>
      </p:sp>
      <p:sp>
        <p:nvSpPr>
          <p:cNvPr id="210" name="Card2">
            <a:extLst>
              <a:ext uri="{FF2B5EF4-FFF2-40B4-BE49-F238E27FC236}">
                <a16:creationId xmlns:a16="http://schemas.microsoft.com/office/drawing/2014/main" id="{9E00A6BB-F032-6D27-C00E-2E09D6C24208}"/>
              </a:ext>
            </a:extLst>
          </p:cNvPr>
          <p:cNvSpPr/>
          <p:nvPr/>
        </p:nvSpPr>
        <p:spPr>
          <a:xfrm>
            <a:off x="609600" y="35560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Badge2">
            <a:extLst>
              <a:ext uri="{FF2B5EF4-FFF2-40B4-BE49-F238E27FC236}">
                <a16:creationId xmlns:a16="http://schemas.microsoft.com/office/drawing/2014/main" id="{BF8F1939-7ABC-DCA5-6DB6-71D682175AB1}"/>
              </a:ext>
            </a:extLst>
          </p:cNvPr>
          <p:cNvSpPr/>
          <p:nvPr/>
        </p:nvSpPr>
        <p:spPr>
          <a:xfrm>
            <a:off x="762000" y="36830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3</a:t>
            </a:r>
          </a:p>
        </p:txBody>
      </p:sp>
      <p:sp>
        <p:nvSpPr>
          <p:cNvPr id="212" name="CardText2">
            <a:extLst>
              <a:ext uri="{FF2B5EF4-FFF2-40B4-BE49-F238E27FC236}">
                <a16:creationId xmlns:a16="http://schemas.microsoft.com/office/drawing/2014/main" id="{41912E80-6E17-A9FC-71B0-D3C400E4BFA7}"/>
              </a:ext>
            </a:extLst>
          </p:cNvPr>
          <p:cNvSpPr/>
          <p:nvPr/>
        </p:nvSpPr>
        <p:spPr>
          <a:xfrm>
            <a:off x="1524000" y="36703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PySpark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DataFrames, transforms &amp; actions</a:t>
            </a:r>
          </a:p>
        </p:txBody>
      </p:sp>
      <p:sp>
        <p:nvSpPr>
          <p:cNvPr id="213" name="Card3">
            <a:extLst>
              <a:ext uri="{FF2B5EF4-FFF2-40B4-BE49-F238E27FC236}">
                <a16:creationId xmlns:a16="http://schemas.microsoft.com/office/drawing/2014/main" id="{B1BD0393-5E02-EA17-5369-B31DF3F5FCB2}"/>
              </a:ext>
            </a:extLst>
          </p:cNvPr>
          <p:cNvSpPr/>
          <p:nvPr/>
        </p:nvSpPr>
        <p:spPr>
          <a:xfrm>
            <a:off x="609600" y="45466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4" name="Badge3">
            <a:extLst>
              <a:ext uri="{FF2B5EF4-FFF2-40B4-BE49-F238E27FC236}">
                <a16:creationId xmlns:a16="http://schemas.microsoft.com/office/drawing/2014/main" id="{B19780AA-AA97-1D40-4B0A-9F86BE55AD9A}"/>
              </a:ext>
            </a:extLst>
          </p:cNvPr>
          <p:cNvSpPr/>
          <p:nvPr/>
        </p:nvSpPr>
        <p:spPr>
          <a:xfrm>
            <a:off x="762000" y="46736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4</a:t>
            </a:r>
          </a:p>
        </p:txBody>
      </p:sp>
      <p:sp>
        <p:nvSpPr>
          <p:cNvPr id="215" name="CardText3">
            <a:extLst>
              <a:ext uri="{FF2B5EF4-FFF2-40B4-BE49-F238E27FC236}">
                <a16:creationId xmlns:a16="http://schemas.microsoft.com/office/drawing/2014/main" id="{47DC6E76-9E23-C9A1-129C-52978D9C9A0E}"/>
              </a:ext>
            </a:extLst>
          </p:cNvPr>
          <p:cNvSpPr/>
          <p:nvPr/>
        </p:nvSpPr>
        <p:spPr>
          <a:xfrm>
            <a:off x="1524000" y="46609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Putting PySpark to Work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A live notebook demo, real-world results.</a:t>
            </a:r>
          </a:p>
        </p:txBody>
      </p:sp>
      <p:sp>
        <p:nvSpPr>
          <p:cNvPr id="216" name="Card4">
            <a:extLst>
              <a:ext uri="{FF2B5EF4-FFF2-40B4-BE49-F238E27FC236}">
                <a16:creationId xmlns:a16="http://schemas.microsoft.com/office/drawing/2014/main" id="{55A40E0D-F271-0E20-C6D9-EE98D6B031FF}"/>
              </a:ext>
            </a:extLst>
          </p:cNvPr>
          <p:cNvSpPr/>
          <p:nvPr/>
        </p:nvSpPr>
        <p:spPr>
          <a:xfrm>
            <a:off x="609600" y="55372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Badge4">
            <a:extLst>
              <a:ext uri="{FF2B5EF4-FFF2-40B4-BE49-F238E27FC236}">
                <a16:creationId xmlns:a16="http://schemas.microsoft.com/office/drawing/2014/main" id="{D94E78DD-B4C1-37F1-6AED-DABD47F37705}"/>
              </a:ext>
            </a:extLst>
          </p:cNvPr>
          <p:cNvSpPr/>
          <p:nvPr/>
        </p:nvSpPr>
        <p:spPr>
          <a:xfrm>
            <a:off x="762000" y="56642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5</a:t>
            </a:r>
          </a:p>
        </p:txBody>
      </p:sp>
      <p:sp>
        <p:nvSpPr>
          <p:cNvPr id="218" name="CardText4">
            <a:extLst>
              <a:ext uri="{FF2B5EF4-FFF2-40B4-BE49-F238E27FC236}">
                <a16:creationId xmlns:a16="http://schemas.microsoft.com/office/drawing/2014/main" id="{D6DD97FC-CA3B-26C7-019F-4E3C6A6C9D8A}"/>
              </a:ext>
            </a:extLst>
          </p:cNvPr>
          <p:cNvSpPr/>
          <p:nvPr/>
        </p:nvSpPr>
        <p:spPr>
          <a:xfrm>
            <a:off x="1524000" y="56515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Wrap-Up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Recap, resources &amp; next steps</a:t>
            </a:r>
          </a:p>
        </p:txBody>
      </p:sp>
    </p:spTree>
    <p:extLst>
      <p:ext uri="{BB962C8B-B14F-4D97-AF65-F5344CB8AC3E}">
        <p14:creationId xmlns:p14="http://schemas.microsoft.com/office/powerpoint/2010/main" val="3530417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3278D9-C526-00D9-9FBC-1C9DB49ED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avTitle">
            <a:extLst>
              <a:ext uri="{FF2B5EF4-FFF2-40B4-BE49-F238E27FC236}">
                <a16:creationId xmlns:a16="http://schemas.microsoft.com/office/drawing/2014/main" id="{31F1B7B2-92F0-207A-2EA6-538210526B69}"/>
              </a:ext>
            </a:extLst>
          </p:cNvPr>
          <p:cNvSpPr/>
          <p:nvPr/>
        </p:nvSpPr>
        <p:spPr>
          <a:xfrm>
            <a:off x="609600" y="508000"/>
            <a:ext cx="635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Arial"/>
              </a:rPr>
              <a:t>What We'll Cover</a:t>
            </a:r>
          </a:p>
        </p:txBody>
      </p:sp>
      <p:sp>
        <p:nvSpPr>
          <p:cNvPr id="201" name="TitleRule">
            <a:extLst>
              <a:ext uri="{FF2B5EF4-FFF2-40B4-BE49-F238E27FC236}">
                <a16:creationId xmlns:a16="http://schemas.microsoft.com/office/drawing/2014/main" id="{4E400DC0-8E34-1628-228D-D35381667C44}"/>
              </a:ext>
            </a:extLst>
          </p:cNvPr>
          <p:cNvSpPr/>
          <p:nvPr/>
        </p:nvSpPr>
        <p:spPr>
          <a:xfrm>
            <a:off x="609600" y="1168400"/>
            <a:ext cx="812800" cy="635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Progress">
            <a:extLst>
              <a:ext uri="{FF2B5EF4-FFF2-40B4-BE49-F238E27FC236}">
                <a16:creationId xmlns:a16="http://schemas.microsoft.com/office/drawing/2014/main" id="{6A80D0E4-DB94-BD96-C258-BAAB903465D1}"/>
              </a:ext>
            </a:extLst>
          </p:cNvPr>
          <p:cNvSpPr/>
          <p:nvPr/>
        </p:nvSpPr>
        <p:spPr>
          <a:xfrm>
            <a:off x="8382000" y="660400"/>
            <a:ext cx="3200400" cy="38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600" b="1" dirty="0">
                <a:solidFill>
                  <a:srgbClr val="4EC9B0"/>
                </a:solidFill>
                <a:latin typeface="Arial"/>
              </a:rPr>
              <a:t>Section 2</a:t>
            </a:r>
            <a:r>
              <a:rPr lang="en-US" sz="1600" dirty="0">
                <a:solidFill>
                  <a:srgbClr val="8A8A8A"/>
                </a:solidFill>
                <a:latin typeface="Arial"/>
              </a:rPr>
              <a:t> / 5</a:t>
            </a:r>
          </a:p>
        </p:txBody>
      </p:sp>
      <p:sp>
        <p:nvSpPr>
          <p:cNvPr id="203" name="Card0">
            <a:extLst>
              <a:ext uri="{FF2B5EF4-FFF2-40B4-BE49-F238E27FC236}">
                <a16:creationId xmlns:a16="http://schemas.microsoft.com/office/drawing/2014/main" id="{FDC15222-EC01-27C5-946D-3D31A80F9DCC}"/>
              </a:ext>
            </a:extLst>
          </p:cNvPr>
          <p:cNvSpPr/>
          <p:nvPr/>
        </p:nvSpPr>
        <p:spPr>
          <a:xfrm>
            <a:off x="609600" y="15748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Badge0">
            <a:extLst>
              <a:ext uri="{FF2B5EF4-FFF2-40B4-BE49-F238E27FC236}">
                <a16:creationId xmlns:a16="http://schemas.microsoft.com/office/drawing/2014/main" id="{A716ABB0-5241-639B-ECA8-972327DCD37E}"/>
              </a:ext>
            </a:extLst>
          </p:cNvPr>
          <p:cNvSpPr/>
          <p:nvPr/>
        </p:nvSpPr>
        <p:spPr>
          <a:xfrm>
            <a:off x="762000" y="17018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1</a:t>
            </a:r>
          </a:p>
        </p:txBody>
      </p:sp>
      <p:sp>
        <p:nvSpPr>
          <p:cNvPr id="205" name="CardText0">
            <a:extLst>
              <a:ext uri="{FF2B5EF4-FFF2-40B4-BE49-F238E27FC236}">
                <a16:creationId xmlns:a16="http://schemas.microsoft.com/office/drawing/2014/main" id="{7AEE888F-2647-92DC-23CD-0261D7CA89BA}"/>
              </a:ext>
            </a:extLst>
          </p:cNvPr>
          <p:cNvSpPr/>
          <p:nvPr/>
        </p:nvSpPr>
        <p:spPr>
          <a:xfrm>
            <a:off x="1524000" y="16891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dirty="0">
                <a:solidFill>
                  <a:srgbClr val="FFFFFF"/>
                </a:solidFill>
                <a:latin typeface="Arial"/>
              </a:rPr>
              <a:t>Foundations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dirty="0">
                <a:solidFill>
                  <a:srgbClr val="CCCCCC"/>
                </a:solidFill>
                <a:latin typeface="Arial"/>
              </a:rPr>
              <a:t>Spark's origins and the Fabric architecture we'll build on</a:t>
            </a:r>
          </a:p>
        </p:txBody>
      </p:sp>
      <p:sp>
        <p:nvSpPr>
          <p:cNvPr id="207" name="Card1">
            <a:extLst>
              <a:ext uri="{FF2B5EF4-FFF2-40B4-BE49-F238E27FC236}">
                <a16:creationId xmlns:a16="http://schemas.microsoft.com/office/drawing/2014/main" id="{E0E10097-4AA0-8A31-0990-023FB2D8E447}"/>
              </a:ext>
            </a:extLst>
          </p:cNvPr>
          <p:cNvSpPr/>
          <p:nvPr/>
        </p:nvSpPr>
        <p:spPr>
          <a:xfrm>
            <a:off x="609600" y="25654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8" name="Badge1">
            <a:extLst>
              <a:ext uri="{FF2B5EF4-FFF2-40B4-BE49-F238E27FC236}">
                <a16:creationId xmlns:a16="http://schemas.microsoft.com/office/drawing/2014/main" id="{87EDBF86-BD1F-08EE-7205-45E4DA52FDE6}"/>
              </a:ext>
            </a:extLst>
          </p:cNvPr>
          <p:cNvSpPr/>
          <p:nvPr/>
        </p:nvSpPr>
        <p:spPr>
          <a:xfrm>
            <a:off x="762000" y="2692400"/>
            <a:ext cx="558800" cy="55880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4EC9B0"/>
                </a:solidFill>
                <a:latin typeface="Arial"/>
              </a:rPr>
              <a:t>2</a:t>
            </a:r>
          </a:p>
        </p:txBody>
      </p:sp>
      <p:sp>
        <p:nvSpPr>
          <p:cNvPr id="209" name="CardText1">
            <a:extLst>
              <a:ext uri="{FF2B5EF4-FFF2-40B4-BE49-F238E27FC236}">
                <a16:creationId xmlns:a16="http://schemas.microsoft.com/office/drawing/2014/main" id="{962A0FB7-A7BF-1AF0-3D9D-9886CF7DF21B}"/>
              </a:ext>
            </a:extLst>
          </p:cNvPr>
          <p:cNvSpPr/>
          <p:nvPr/>
        </p:nvSpPr>
        <p:spPr>
          <a:xfrm>
            <a:off x="1524000" y="26797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1E1E1E"/>
                </a:solidFill>
                <a:latin typeface="Arial"/>
              </a:rPr>
              <a:t>Python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1E1E1E"/>
                </a:solidFill>
                <a:latin typeface="Arial"/>
              </a:rPr>
              <a:t>What you need to know before Spark makes sense</a:t>
            </a:r>
          </a:p>
        </p:txBody>
      </p:sp>
      <p:sp>
        <p:nvSpPr>
          <p:cNvPr id="210" name="Card2">
            <a:extLst>
              <a:ext uri="{FF2B5EF4-FFF2-40B4-BE49-F238E27FC236}">
                <a16:creationId xmlns:a16="http://schemas.microsoft.com/office/drawing/2014/main" id="{C70BBB7A-9A1E-2081-28FE-19A7FB851301}"/>
              </a:ext>
            </a:extLst>
          </p:cNvPr>
          <p:cNvSpPr/>
          <p:nvPr/>
        </p:nvSpPr>
        <p:spPr>
          <a:xfrm>
            <a:off x="609600" y="35560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Badge2">
            <a:extLst>
              <a:ext uri="{FF2B5EF4-FFF2-40B4-BE49-F238E27FC236}">
                <a16:creationId xmlns:a16="http://schemas.microsoft.com/office/drawing/2014/main" id="{98CF4F56-ACFF-370B-804C-204FFDB32A0D}"/>
              </a:ext>
            </a:extLst>
          </p:cNvPr>
          <p:cNvSpPr/>
          <p:nvPr/>
        </p:nvSpPr>
        <p:spPr>
          <a:xfrm>
            <a:off x="762000" y="36830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3</a:t>
            </a:r>
          </a:p>
        </p:txBody>
      </p:sp>
      <p:sp>
        <p:nvSpPr>
          <p:cNvPr id="212" name="CardText2">
            <a:extLst>
              <a:ext uri="{FF2B5EF4-FFF2-40B4-BE49-F238E27FC236}">
                <a16:creationId xmlns:a16="http://schemas.microsoft.com/office/drawing/2014/main" id="{A68683FB-ADAA-A4B6-1FE5-E76F17C821AB}"/>
              </a:ext>
            </a:extLst>
          </p:cNvPr>
          <p:cNvSpPr/>
          <p:nvPr/>
        </p:nvSpPr>
        <p:spPr>
          <a:xfrm>
            <a:off x="1524000" y="36703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PySpark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DataFrames, transforms &amp; actions</a:t>
            </a:r>
          </a:p>
        </p:txBody>
      </p:sp>
      <p:sp>
        <p:nvSpPr>
          <p:cNvPr id="213" name="Card3">
            <a:extLst>
              <a:ext uri="{FF2B5EF4-FFF2-40B4-BE49-F238E27FC236}">
                <a16:creationId xmlns:a16="http://schemas.microsoft.com/office/drawing/2014/main" id="{A5CCD166-9EA6-6CCA-94FF-63B77789863E}"/>
              </a:ext>
            </a:extLst>
          </p:cNvPr>
          <p:cNvSpPr/>
          <p:nvPr/>
        </p:nvSpPr>
        <p:spPr>
          <a:xfrm>
            <a:off x="609600" y="45466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4" name="Badge3">
            <a:extLst>
              <a:ext uri="{FF2B5EF4-FFF2-40B4-BE49-F238E27FC236}">
                <a16:creationId xmlns:a16="http://schemas.microsoft.com/office/drawing/2014/main" id="{27E9BD00-17A7-CB6F-0A75-84473B02FCCD}"/>
              </a:ext>
            </a:extLst>
          </p:cNvPr>
          <p:cNvSpPr/>
          <p:nvPr/>
        </p:nvSpPr>
        <p:spPr>
          <a:xfrm>
            <a:off x="762000" y="46736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4</a:t>
            </a:r>
          </a:p>
        </p:txBody>
      </p:sp>
      <p:sp>
        <p:nvSpPr>
          <p:cNvPr id="215" name="CardText3">
            <a:extLst>
              <a:ext uri="{FF2B5EF4-FFF2-40B4-BE49-F238E27FC236}">
                <a16:creationId xmlns:a16="http://schemas.microsoft.com/office/drawing/2014/main" id="{3A1B695C-5FAA-4D8E-AD25-1FFDA14B53F4}"/>
              </a:ext>
            </a:extLst>
          </p:cNvPr>
          <p:cNvSpPr/>
          <p:nvPr/>
        </p:nvSpPr>
        <p:spPr>
          <a:xfrm>
            <a:off x="1524000" y="46609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Putting PySpark to Work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A live notebook demo, real-world results.</a:t>
            </a:r>
          </a:p>
        </p:txBody>
      </p:sp>
      <p:sp>
        <p:nvSpPr>
          <p:cNvPr id="216" name="Card4">
            <a:extLst>
              <a:ext uri="{FF2B5EF4-FFF2-40B4-BE49-F238E27FC236}">
                <a16:creationId xmlns:a16="http://schemas.microsoft.com/office/drawing/2014/main" id="{711E6237-AA92-7755-8395-0DAB8C93A4C5}"/>
              </a:ext>
            </a:extLst>
          </p:cNvPr>
          <p:cNvSpPr/>
          <p:nvPr/>
        </p:nvSpPr>
        <p:spPr>
          <a:xfrm>
            <a:off x="609600" y="55372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Badge4">
            <a:extLst>
              <a:ext uri="{FF2B5EF4-FFF2-40B4-BE49-F238E27FC236}">
                <a16:creationId xmlns:a16="http://schemas.microsoft.com/office/drawing/2014/main" id="{2D2DF4F8-A61D-AAE0-152B-908AE7C263F8}"/>
              </a:ext>
            </a:extLst>
          </p:cNvPr>
          <p:cNvSpPr/>
          <p:nvPr/>
        </p:nvSpPr>
        <p:spPr>
          <a:xfrm>
            <a:off x="762000" y="56642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5</a:t>
            </a:r>
          </a:p>
        </p:txBody>
      </p:sp>
      <p:sp>
        <p:nvSpPr>
          <p:cNvPr id="218" name="CardText4">
            <a:extLst>
              <a:ext uri="{FF2B5EF4-FFF2-40B4-BE49-F238E27FC236}">
                <a16:creationId xmlns:a16="http://schemas.microsoft.com/office/drawing/2014/main" id="{4B00F5CC-D7A3-7C0B-7BA9-0258F262DE83}"/>
              </a:ext>
            </a:extLst>
          </p:cNvPr>
          <p:cNvSpPr/>
          <p:nvPr/>
        </p:nvSpPr>
        <p:spPr>
          <a:xfrm>
            <a:off x="1524000" y="56515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Wrap-Up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Recap, resources &amp; next steps</a:t>
            </a:r>
          </a:p>
        </p:txBody>
      </p:sp>
      <p:sp>
        <p:nvSpPr>
          <p:cNvPr id="206" name="HerePill0">
            <a:extLst>
              <a:ext uri="{FF2B5EF4-FFF2-40B4-BE49-F238E27FC236}">
                <a16:creationId xmlns:a16="http://schemas.microsoft.com/office/drawing/2014/main" id="{9B4F571D-338B-308F-DB97-05FFFEC1006E}"/>
              </a:ext>
            </a:extLst>
          </p:cNvPr>
          <p:cNvSpPr/>
          <p:nvPr/>
        </p:nvSpPr>
        <p:spPr>
          <a:xfrm>
            <a:off x="9880600" y="2806700"/>
            <a:ext cx="1524000" cy="33020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200" b="1" dirty="0">
                <a:solidFill>
                  <a:srgbClr val="4EC9B0"/>
                </a:solidFill>
                <a:latin typeface="Arial"/>
              </a:rPr>
              <a:t>YOU ARE HERE</a:t>
            </a:r>
          </a:p>
        </p:txBody>
      </p:sp>
    </p:spTree>
    <p:extLst>
      <p:ext uri="{BB962C8B-B14F-4D97-AF65-F5344CB8AC3E}">
        <p14:creationId xmlns:p14="http://schemas.microsoft.com/office/powerpoint/2010/main" val="3488522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2A4713-0534-7CBA-7934-0A50DE8F2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avTitle">
            <a:extLst>
              <a:ext uri="{FF2B5EF4-FFF2-40B4-BE49-F238E27FC236}">
                <a16:creationId xmlns:a16="http://schemas.microsoft.com/office/drawing/2014/main" id="{037FB7C7-2141-E579-2FDE-A4492BC8E0E2}"/>
              </a:ext>
            </a:extLst>
          </p:cNvPr>
          <p:cNvSpPr/>
          <p:nvPr/>
        </p:nvSpPr>
        <p:spPr>
          <a:xfrm>
            <a:off x="609600" y="508000"/>
            <a:ext cx="635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Arial"/>
              </a:rPr>
              <a:t>What We'll Cover</a:t>
            </a:r>
          </a:p>
        </p:txBody>
      </p:sp>
      <p:sp>
        <p:nvSpPr>
          <p:cNvPr id="201" name="TitleRule">
            <a:extLst>
              <a:ext uri="{FF2B5EF4-FFF2-40B4-BE49-F238E27FC236}">
                <a16:creationId xmlns:a16="http://schemas.microsoft.com/office/drawing/2014/main" id="{2E5FF7E2-39BC-DAC6-AC38-4674EA6DC24C}"/>
              </a:ext>
            </a:extLst>
          </p:cNvPr>
          <p:cNvSpPr/>
          <p:nvPr/>
        </p:nvSpPr>
        <p:spPr>
          <a:xfrm>
            <a:off x="609600" y="1168400"/>
            <a:ext cx="812800" cy="635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Progress">
            <a:extLst>
              <a:ext uri="{FF2B5EF4-FFF2-40B4-BE49-F238E27FC236}">
                <a16:creationId xmlns:a16="http://schemas.microsoft.com/office/drawing/2014/main" id="{B41243C6-575B-902D-2703-EB3FCA8603E7}"/>
              </a:ext>
            </a:extLst>
          </p:cNvPr>
          <p:cNvSpPr/>
          <p:nvPr/>
        </p:nvSpPr>
        <p:spPr>
          <a:xfrm>
            <a:off x="8382000" y="660400"/>
            <a:ext cx="3200400" cy="38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600" b="1" dirty="0">
                <a:solidFill>
                  <a:srgbClr val="4EC9B0"/>
                </a:solidFill>
                <a:latin typeface="Arial"/>
              </a:rPr>
              <a:t>Section 3</a:t>
            </a:r>
            <a:r>
              <a:rPr lang="en-US" sz="1600" dirty="0">
                <a:solidFill>
                  <a:srgbClr val="8A8A8A"/>
                </a:solidFill>
                <a:latin typeface="Arial"/>
              </a:rPr>
              <a:t> / 5</a:t>
            </a:r>
          </a:p>
        </p:txBody>
      </p:sp>
      <p:sp>
        <p:nvSpPr>
          <p:cNvPr id="203" name="Card0">
            <a:extLst>
              <a:ext uri="{FF2B5EF4-FFF2-40B4-BE49-F238E27FC236}">
                <a16:creationId xmlns:a16="http://schemas.microsoft.com/office/drawing/2014/main" id="{E11EB7AD-4384-2EC7-03A5-2EECE3BD8BF8}"/>
              </a:ext>
            </a:extLst>
          </p:cNvPr>
          <p:cNvSpPr/>
          <p:nvPr/>
        </p:nvSpPr>
        <p:spPr>
          <a:xfrm>
            <a:off x="609600" y="15748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Badge0">
            <a:extLst>
              <a:ext uri="{FF2B5EF4-FFF2-40B4-BE49-F238E27FC236}">
                <a16:creationId xmlns:a16="http://schemas.microsoft.com/office/drawing/2014/main" id="{F0C61D4F-C752-DB96-4175-ADA23DCEC47F}"/>
              </a:ext>
            </a:extLst>
          </p:cNvPr>
          <p:cNvSpPr/>
          <p:nvPr/>
        </p:nvSpPr>
        <p:spPr>
          <a:xfrm>
            <a:off x="762000" y="17018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1</a:t>
            </a:r>
          </a:p>
        </p:txBody>
      </p:sp>
      <p:sp>
        <p:nvSpPr>
          <p:cNvPr id="205" name="CardText0">
            <a:extLst>
              <a:ext uri="{FF2B5EF4-FFF2-40B4-BE49-F238E27FC236}">
                <a16:creationId xmlns:a16="http://schemas.microsoft.com/office/drawing/2014/main" id="{55F95F19-6E04-AB39-B3D7-00D51996F3AB}"/>
              </a:ext>
            </a:extLst>
          </p:cNvPr>
          <p:cNvSpPr/>
          <p:nvPr/>
        </p:nvSpPr>
        <p:spPr>
          <a:xfrm>
            <a:off x="1524000" y="16891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dirty="0">
                <a:solidFill>
                  <a:srgbClr val="FFFFFF"/>
                </a:solidFill>
                <a:latin typeface="Arial"/>
              </a:rPr>
              <a:t>Foundations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dirty="0">
                <a:solidFill>
                  <a:srgbClr val="CCCCCC"/>
                </a:solidFill>
                <a:latin typeface="Arial"/>
              </a:rPr>
              <a:t>Spark's origins and the Fabric architecture we'll build on</a:t>
            </a:r>
          </a:p>
        </p:txBody>
      </p:sp>
      <p:sp>
        <p:nvSpPr>
          <p:cNvPr id="207" name="Card1">
            <a:extLst>
              <a:ext uri="{FF2B5EF4-FFF2-40B4-BE49-F238E27FC236}">
                <a16:creationId xmlns:a16="http://schemas.microsoft.com/office/drawing/2014/main" id="{ABB3C055-4543-E25B-BAA3-F9851A5F862A}"/>
              </a:ext>
            </a:extLst>
          </p:cNvPr>
          <p:cNvSpPr/>
          <p:nvPr/>
        </p:nvSpPr>
        <p:spPr>
          <a:xfrm>
            <a:off x="609600" y="25654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8" name="Badge1">
            <a:extLst>
              <a:ext uri="{FF2B5EF4-FFF2-40B4-BE49-F238E27FC236}">
                <a16:creationId xmlns:a16="http://schemas.microsoft.com/office/drawing/2014/main" id="{EACC8863-69E3-B96F-FF67-D4DB9DB2370F}"/>
              </a:ext>
            </a:extLst>
          </p:cNvPr>
          <p:cNvSpPr/>
          <p:nvPr/>
        </p:nvSpPr>
        <p:spPr>
          <a:xfrm>
            <a:off x="762000" y="26924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2</a:t>
            </a:r>
          </a:p>
        </p:txBody>
      </p:sp>
      <p:sp>
        <p:nvSpPr>
          <p:cNvPr id="209" name="CardText1">
            <a:extLst>
              <a:ext uri="{FF2B5EF4-FFF2-40B4-BE49-F238E27FC236}">
                <a16:creationId xmlns:a16="http://schemas.microsoft.com/office/drawing/2014/main" id="{334CCAF1-4086-0F39-E3FD-34FEFBE2F01E}"/>
              </a:ext>
            </a:extLst>
          </p:cNvPr>
          <p:cNvSpPr/>
          <p:nvPr/>
        </p:nvSpPr>
        <p:spPr>
          <a:xfrm>
            <a:off x="1524000" y="26797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Python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What you need to know before Spark makes sense</a:t>
            </a:r>
          </a:p>
        </p:txBody>
      </p:sp>
      <p:sp>
        <p:nvSpPr>
          <p:cNvPr id="210" name="Card2">
            <a:extLst>
              <a:ext uri="{FF2B5EF4-FFF2-40B4-BE49-F238E27FC236}">
                <a16:creationId xmlns:a16="http://schemas.microsoft.com/office/drawing/2014/main" id="{9E00A6BB-F032-6D27-C00E-2E09D6C24208}"/>
              </a:ext>
            </a:extLst>
          </p:cNvPr>
          <p:cNvSpPr/>
          <p:nvPr/>
        </p:nvSpPr>
        <p:spPr>
          <a:xfrm>
            <a:off x="609600" y="35560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Badge2">
            <a:extLst>
              <a:ext uri="{FF2B5EF4-FFF2-40B4-BE49-F238E27FC236}">
                <a16:creationId xmlns:a16="http://schemas.microsoft.com/office/drawing/2014/main" id="{BF8F1939-7ABC-DCA5-6DB6-71D682175AB1}"/>
              </a:ext>
            </a:extLst>
          </p:cNvPr>
          <p:cNvSpPr/>
          <p:nvPr/>
        </p:nvSpPr>
        <p:spPr>
          <a:xfrm>
            <a:off x="762000" y="3683000"/>
            <a:ext cx="558800" cy="55880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4EC9B0"/>
                </a:solidFill>
                <a:latin typeface="Arial"/>
              </a:rPr>
              <a:t>3</a:t>
            </a:r>
          </a:p>
        </p:txBody>
      </p:sp>
      <p:sp>
        <p:nvSpPr>
          <p:cNvPr id="212" name="CardText2">
            <a:extLst>
              <a:ext uri="{FF2B5EF4-FFF2-40B4-BE49-F238E27FC236}">
                <a16:creationId xmlns:a16="http://schemas.microsoft.com/office/drawing/2014/main" id="{41912E80-6E17-A9FC-71B0-D3C400E4BFA7}"/>
              </a:ext>
            </a:extLst>
          </p:cNvPr>
          <p:cNvSpPr/>
          <p:nvPr/>
        </p:nvSpPr>
        <p:spPr>
          <a:xfrm>
            <a:off x="1524000" y="36703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1E1E1E"/>
                </a:solidFill>
                <a:latin typeface="Arial"/>
              </a:rPr>
              <a:t>PySpark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1E1E1E"/>
                </a:solidFill>
                <a:latin typeface="Arial"/>
              </a:rPr>
              <a:t>DataFrames, transforms &amp; actions</a:t>
            </a:r>
          </a:p>
        </p:txBody>
      </p:sp>
      <p:sp>
        <p:nvSpPr>
          <p:cNvPr id="213" name="Card3">
            <a:extLst>
              <a:ext uri="{FF2B5EF4-FFF2-40B4-BE49-F238E27FC236}">
                <a16:creationId xmlns:a16="http://schemas.microsoft.com/office/drawing/2014/main" id="{B1BD0393-5E02-EA17-5369-B31DF3F5FCB2}"/>
              </a:ext>
            </a:extLst>
          </p:cNvPr>
          <p:cNvSpPr/>
          <p:nvPr/>
        </p:nvSpPr>
        <p:spPr>
          <a:xfrm>
            <a:off x="609600" y="45466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4" name="Badge3">
            <a:extLst>
              <a:ext uri="{FF2B5EF4-FFF2-40B4-BE49-F238E27FC236}">
                <a16:creationId xmlns:a16="http://schemas.microsoft.com/office/drawing/2014/main" id="{B19780AA-AA97-1D40-4B0A-9F86BE55AD9A}"/>
              </a:ext>
            </a:extLst>
          </p:cNvPr>
          <p:cNvSpPr/>
          <p:nvPr/>
        </p:nvSpPr>
        <p:spPr>
          <a:xfrm>
            <a:off x="762000" y="46736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4</a:t>
            </a:r>
          </a:p>
        </p:txBody>
      </p:sp>
      <p:sp>
        <p:nvSpPr>
          <p:cNvPr id="215" name="CardText3">
            <a:extLst>
              <a:ext uri="{FF2B5EF4-FFF2-40B4-BE49-F238E27FC236}">
                <a16:creationId xmlns:a16="http://schemas.microsoft.com/office/drawing/2014/main" id="{47DC6E76-9E23-C9A1-129C-52978D9C9A0E}"/>
              </a:ext>
            </a:extLst>
          </p:cNvPr>
          <p:cNvSpPr/>
          <p:nvPr/>
        </p:nvSpPr>
        <p:spPr>
          <a:xfrm>
            <a:off x="1524000" y="46609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Putting PySpark to Work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A live notebook demo, real-world results.</a:t>
            </a:r>
          </a:p>
        </p:txBody>
      </p:sp>
      <p:sp>
        <p:nvSpPr>
          <p:cNvPr id="216" name="Card4">
            <a:extLst>
              <a:ext uri="{FF2B5EF4-FFF2-40B4-BE49-F238E27FC236}">
                <a16:creationId xmlns:a16="http://schemas.microsoft.com/office/drawing/2014/main" id="{55A40E0D-F271-0E20-C6D9-EE98D6B031FF}"/>
              </a:ext>
            </a:extLst>
          </p:cNvPr>
          <p:cNvSpPr/>
          <p:nvPr/>
        </p:nvSpPr>
        <p:spPr>
          <a:xfrm>
            <a:off x="609600" y="55372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Badge4">
            <a:extLst>
              <a:ext uri="{FF2B5EF4-FFF2-40B4-BE49-F238E27FC236}">
                <a16:creationId xmlns:a16="http://schemas.microsoft.com/office/drawing/2014/main" id="{D94E78DD-B4C1-37F1-6AED-DABD47F37705}"/>
              </a:ext>
            </a:extLst>
          </p:cNvPr>
          <p:cNvSpPr/>
          <p:nvPr/>
        </p:nvSpPr>
        <p:spPr>
          <a:xfrm>
            <a:off x="762000" y="56642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5</a:t>
            </a:r>
          </a:p>
        </p:txBody>
      </p:sp>
      <p:sp>
        <p:nvSpPr>
          <p:cNvPr id="218" name="CardText4">
            <a:extLst>
              <a:ext uri="{FF2B5EF4-FFF2-40B4-BE49-F238E27FC236}">
                <a16:creationId xmlns:a16="http://schemas.microsoft.com/office/drawing/2014/main" id="{D6DD97FC-CA3B-26C7-019F-4E3C6A6C9D8A}"/>
              </a:ext>
            </a:extLst>
          </p:cNvPr>
          <p:cNvSpPr/>
          <p:nvPr/>
        </p:nvSpPr>
        <p:spPr>
          <a:xfrm>
            <a:off x="1524000" y="56515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Wrap-Up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Recap, resources &amp; next steps</a:t>
            </a:r>
          </a:p>
        </p:txBody>
      </p:sp>
      <p:sp>
        <p:nvSpPr>
          <p:cNvPr id="206" name="HerePill0">
            <a:extLst>
              <a:ext uri="{FF2B5EF4-FFF2-40B4-BE49-F238E27FC236}">
                <a16:creationId xmlns:a16="http://schemas.microsoft.com/office/drawing/2014/main" id="{703B0C09-531D-1E55-E79E-BF233B68DB24}"/>
              </a:ext>
            </a:extLst>
          </p:cNvPr>
          <p:cNvSpPr/>
          <p:nvPr/>
        </p:nvSpPr>
        <p:spPr>
          <a:xfrm>
            <a:off x="9880600" y="3797300"/>
            <a:ext cx="1524000" cy="33020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200" b="1" dirty="0">
                <a:solidFill>
                  <a:srgbClr val="4EC9B0"/>
                </a:solidFill>
                <a:latin typeface="Arial"/>
              </a:rPr>
              <a:t>YOU ARE HERE</a:t>
            </a:r>
          </a:p>
        </p:txBody>
      </p:sp>
    </p:spTree>
    <p:extLst>
      <p:ext uri="{BB962C8B-B14F-4D97-AF65-F5344CB8AC3E}">
        <p14:creationId xmlns:p14="http://schemas.microsoft.com/office/powerpoint/2010/main" val="1360333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2A4713-0534-7CBA-7934-0A50DE8F2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avTitle">
            <a:extLst>
              <a:ext uri="{FF2B5EF4-FFF2-40B4-BE49-F238E27FC236}">
                <a16:creationId xmlns:a16="http://schemas.microsoft.com/office/drawing/2014/main" id="{037FB7C7-2141-E579-2FDE-A4492BC8E0E2}"/>
              </a:ext>
            </a:extLst>
          </p:cNvPr>
          <p:cNvSpPr/>
          <p:nvPr/>
        </p:nvSpPr>
        <p:spPr>
          <a:xfrm>
            <a:off x="609600" y="508000"/>
            <a:ext cx="635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Arial"/>
              </a:rPr>
              <a:t>What We'll Cover</a:t>
            </a:r>
          </a:p>
        </p:txBody>
      </p:sp>
      <p:sp>
        <p:nvSpPr>
          <p:cNvPr id="201" name="TitleRule">
            <a:extLst>
              <a:ext uri="{FF2B5EF4-FFF2-40B4-BE49-F238E27FC236}">
                <a16:creationId xmlns:a16="http://schemas.microsoft.com/office/drawing/2014/main" id="{2E5FF7E2-39BC-DAC6-AC38-4674EA6DC24C}"/>
              </a:ext>
            </a:extLst>
          </p:cNvPr>
          <p:cNvSpPr/>
          <p:nvPr/>
        </p:nvSpPr>
        <p:spPr>
          <a:xfrm>
            <a:off x="609600" y="1168400"/>
            <a:ext cx="812800" cy="635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Progress">
            <a:extLst>
              <a:ext uri="{FF2B5EF4-FFF2-40B4-BE49-F238E27FC236}">
                <a16:creationId xmlns:a16="http://schemas.microsoft.com/office/drawing/2014/main" id="{B41243C6-575B-902D-2703-EB3FCA8603E7}"/>
              </a:ext>
            </a:extLst>
          </p:cNvPr>
          <p:cNvSpPr/>
          <p:nvPr/>
        </p:nvSpPr>
        <p:spPr>
          <a:xfrm>
            <a:off x="8382000" y="660400"/>
            <a:ext cx="3200400" cy="38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600" b="1" dirty="0">
                <a:solidFill>
                  <a:srgbClr val="4EC9B0"/>
                </a:solidFill>
                <a:latin typeface="Arial"/>
              </a:rPr>
              <a:t>Section 4</a:t>
            </a:r>
            <a:r>
              <a:rPr lang="en-US" sz="1600" dirty="0">
                <a:solidFill>
                  <a:srgbClr val="8A8A8A"/>
                </a:solidFill>
                <a:latin typeface="Arial"/>
              </a:rPr>
              <a:t> / 5</a:t>
            </a:r>
          </a:p>
        </p:txBody>
      </p:sp>
      <p:sp>
        <p:nvSpPr>
          <p:cNvPr id="203" name="Card0">
            <a:extLst>
              <a:ext uri="{FF2B5EF4-FFF2-40B4-BE49-F238E27FC236}">
                <a16:creationId xmlns:a16="http://schemas.microsoft.com/office/drawing/2014/main" id="{E11EB7AD-4384-2EC7-03A5-2EECE3BD8BF8}"/>
              </a:ext>
            </a:extLst>
          </p:cNvPr>
          <p:cNvSpPr/>
          <p:nvPr/>
        </p:nvSpPr>
        <p:spPr>
          <a:xfrm>
            <a:off x="609600" y="15748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Badge0">
            <a:extLst>
              <a:ext uri="{FF2B5EF4-FFF2-40B4-BE49-F238E27FC236}">
                <a16:creationId xmlns:a16="http://schemas.microsoft.com/office/drawing/2014/main" id="{F0C61D4F-C752-DB96-4175-ADA23DCEC47F}"/>
              </a:ext>
            </a:extLst>
          </p:cNvPr>
          <p:cNvSpPr/>
          <p:nvPr/>
        </p:nvSpPr>
        <p:spPr>
          <a:xfrm>
            <a:off x="762000" y="17018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1</a:t>
            </a:r>
          </a:p>
        </p:txBody>
      </p:sp>
      <p:sp>
        <p:nvSpPr>
          <p:cNvPr id="205" name="CardText0">
            <a:extLst>
              <a:ext uri="{FF2B5EF4-FFF2-40B4-BE49-F238E27FC236}">
                <a16:creationId xmlns:a16="http://schemas.microsoft.com/office/drawing/2014/main" id="{55F95F19-6E04-AB39-B3D7-00D51996F3AB}"/>
              </a:ext>
            </a:extLst>
          </p:cNvPr>
          <p:cNvSpPr/>
          <p:nvPr/>
        </p:nvSpPr>
        <p:spPr>
          <a:xfrm>
            <a:off x="1524000" y="16891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dirty="0">
                <a:solidFill>
                  <a:srgbClr val="FFFFFF"/>
                </a:solidFill>
                <a:latin typeface="Arial"/>
              </a:rPr>
              <a:t>Foundations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dirty="0">
                <a:solidFill>
                  <a:srgbClr val="CCCCCC"/>
                </a:solidFill>
                <a:latin typeface="Arial"/>
              </a:rPr>
              <a:t>Spark's origins and the Fabric architecture we'll build on</a:t>
            </a:r>
          </a:p>
        </p:txBody>
      </p:sp>
      <p:sp>
        <p:nvSpPr>
          <p:cNvPr id="207" name="Card1">
            <a:extLst>
              <a:ext uri="{FF2B5EF4-FFF2-40B4-BE49-F238E27FC236}">
                <a16:creationId xmlns:a16="http://schemas.microsoft.com/office/drawing/2014/main" id="{ABB3C055-4543-E25B-BAA3-F9851A5F862A}"/>
              </a:ext>
            </a:extLst>
          </p:cNvPr>
          <p:cNvSpPr/>
          <p:nvPr/>
        </p:nvSpPr>
        <p:spPr>
          <a:xfrm>
            <a:off x="609600" y="25654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8" name="Badge1">
            <a:extLst>
              <a:ext uri="{FF2B5EF4-FFF2-40B4-BE49-F238E27FC236}">
                <a16:creationId xmlns:a16="http://schemas.microsoft.com/office/drawing/2014/main" id="{EACC8863-69E3-B96F-FF67-D4DB9DB2370F}"/>
              </a:ext>
            </a:extLst>
          </p:cNvPr>
          <p:cNvSpPr/>
          <p:nvPr/>
        </p:nvSpPr>
        <p:spPr>
          <a:xfrm>
            <a:off x="762000" y="26924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2</a:t>
            </a:r>
          </a:p>
        </p:txBody>
      </p:sp>
      <p:sp>
        <p:nvSpPr>
          <p:cNvPr id="209" name="CardText1">
            <a:extLst>
              <a:ext uri="{FF2B5EF4-FFF2-40B4-BE49-F238E27FC236}">
                <a16:creationId xmlns:a16="http://schemas.microsoft.com/office/drawing/2014/main" id="{334CCAF1-4086-0F39-E3FD-34FEFBE2F01E}"/>
              </a:ext>
            </a:extLst>
          </p:cNvPr>
          <p:cNvSpPr/>
          <p:nvPr/>
        </p:nvSpPr>
        <p:spPr>
          <a:xfrm>
            <a:off x="1524000" y="26797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Python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What you need to know before Spark makes sense</a:t>
            </a:r>
          </a:p>
        </p:txBody>
      </p:sp>
      <p:sp>
        <p:nvSpPr>
          <p:cNvPr id="210" name="Card2">
            <a:extLst>
              <a:ext uri="{FF2B5EF4-FFF2-40B4-BE49-F238E27FC236}">
                <a16:creationId xmlns:a16="http://schemas.microsoft.com/office/drawing/2014/main" id="{9E00A6BB-F032-6D27-C00E-2E09D6C24208}"/>
              </a:ext>
            </a:extLst>
          </p:cNvPr>
          <p:cNvSpPr/>
          <p:nvPr/>
        </p:nvSpPr>
        <p:spPr>
          <a:xfrm>
            <a:off x="609600" y="35560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Badge2">
            <a:extLst>
              <a:ext uri="{FF2B5EF4-FFF2-40B4-BE49-F238E27FC236}">
                <a16:creationId xmlns:a16="http://schemas.microsoft.com/office/drawing/2014/main" id="{BF8F1939-7ABC-DCA5-6DB6-71D682175AB1}"/>
              </a:ext>
            </a:extLst>
          </p:cNvPr>
          <p:cNvSpPr/>
          <p:nvPr/>
        </p:nvSpPr>
        <p:spPr>
          <a:xfrm>
            <a:off x="762000" y="36830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3</a:t>
            </a:r>
          </a:p>
        </p:txBody>
      </p:sp>
      <p:sp>
        <p:nvSpPr>
          <p:cNvPr id="212" name="CardText2">
            <a:extLst>
              <a:ext uri="{FF2B5EF4-FFF2-40B4-BE49-F238E27FC236}">
                <a16:creationId xmlns:a16="http://schemas.microsoft.com/office/drawing/2014/main" id="{41912E80-6E17-A9FC-71B0-D3C400E4BFA7}"/>
              </a:ext>
            </a:extLst>
          </p:cNvPr>
          <p:cNvSpPr/>
          <p:nvPr/>
        </p:nvSpPr>
        <p:spPr>
          <a:xfrm>
            <a:off x="1524000" y="36703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PySpark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DataFrames, transforms &amp; actions</a:t>
            </a:r>
          </a:p>
        </p:txBody>
      </p:sp>
      <p:sp>
        <p:nvSpPr>
          <p:cNvPr id="213" name="Card3">
            <a:extLst>
              <a:ext uri="{FF2B5EF4-FFF2-40B4-BE49-F238E27FC236}">
                <a16:creationId xmlns:a16="http://schemas.microsoft.com/office/drawing/2014/main" id="{B1BD0393-5E02-EA17-5369-B31DF3F5FCB2}"/>
              </a:ext>
            </a:extLst>
          </p:cNvPr>
          <p:cNvSpPr/>
          <p:nvPr/>
        </p:nvSpPr>
        <p:spPr>
          <a:xfrm>
            <a:off x="609600" y="45466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4" name="Badge3">
            <a:extLst>
              <a:ext uri="{FF2B5EF4-FFF2-40B4-BE49-F238E27FC236}">
                <a16:creationId xmlns:a16="http://schemas.microsoft.com/office/drawing/2014/main" id="{B19780AA-AA97-1D40-4B0A-9F86BE55AD9A}"/>
              </a:ext>
            </a:extLst>
          </p:cNvPr>
          <p:cNvSpPr/>
          <p:nvPr/>
        </p:nvSpPr>
        <p:spPr>
          <a:xfrm>
            <a:off x="762000" y="4673600"/>
            <a:ext cx="558800" cy="55880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4EC9B0"/>
                </a:solidFill>
                <a:latin typeface="Arial"/>
              </a:rPr>
              <a:t>4</a:t>
            </a:r>
          </a:p>
        </p:txBody>
      </p:sp>
      <p:sp>
        <p:nvSpPr>
          <p:cNvPr id="215" name="CardText3">
            <a:extLst>
              <a:ext uri="{FF2B5EF4-FFF2-40B4-BE49-F238E27FC236}">
                <a16:creationId xmlns:a16="http://schemas.microsoft.com/office/drawing/2014/main" id="{47DC6E76-9E23-C9A1-129C-52978D9C9A0E}"/>
              </a:ext>
            </a:extLst>
          </p:cNvPr>
          <p:cNvSpPr/>
          <p:nvPr/>
        </p:nvSpPr>
        <p:spPr>
          <a:xfrm>
            <a:off x="1524000" y="46609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1E1E1E"/>
                </a:solidFill>
                <a:latin typeface="Arial"/>
              </a:rPr>
              <a:t>Putting PySpark to Work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1E1E1E"/>
                </a:solidFill>
                <a:latin typeface="Arial"/>
              </a:rPr>
              <a:t>A live notebook demo, real-world results.</a:t>
            </a:r>
          </a:p>
        </p:txBody>
      </p:sp>
      <p:sp>
        <p:nvSpPr>
          <p:cNvPr id="216" name="Card4">
            <a:extLst>
              <a:ext uri="{FF2B5EF4-FFF2-40B4-BE49-F238E27FC236}">
                <a16:creationId xmlns:a16="http://schemas.microsoft.com/office/drawing/2014/main" id="{55A40E0D-F271-0E20-C6D9-EE98D6B031FF}"/>
              </a:ext>
            </a:extLst>
          </p:cNvPr>
          <p:cNvSpPr/>
          <p:nvPr/>
        </p:nvSpPr>
        <p:spPr>
          <a:xfrm>
            <a:off x="609600" y="55372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Badge4">
            <a:extLst>
              <a:ext uri="{FF2B5EF4-FFF2-40B4-BE49-F238E27FC236}">
                <a16:creationId xmlns:a16="http://schemas.microsoft.com/office/drawing/2014/main" id="{D94E78DD-B4C1-37F1-6AED-DABD47F37705}"/>
              </a:ext>
            </a:extLst>
          </p:cNvPr>
          <p:cNvSpPr/>
          <p:nvPr/>
        </p:nvSpPr>
        <p:spPr>
          <a:xfrm>
            <a:off x="762000" y="56642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5</a:t>
            </a:r>
          </a:p>
        </p:txBody>
      </p:sp>
      <p:sp>
        <p:nvSpPr>
          <p:cNvPr id="218" name="CardText4">
            <a:extLst>
              <a:ext uri="{FF2B5EF4-FFF2-40B4-BE49-F238E27FC236}">
                <a16:creationId xmlns:a16="http://schemas.microsoft.com/office/drawing/2014/main" id="{D6DD97FC-CA3B-26C7-019F-4E3C6A6C9D8A}"/>
              </a:ext>
            </a:extLst>
          </p:cNvPr>
          <p:cNvSpPr/>
          <p:nvPr/>
        </p:nvSpPr>
        <p:spPr>
          <a:xfrm>
            <a:off x="1524000" y="56515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Wrap-Up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Recap, resources &amp; next steps</a:t>
            </a:r>
          </a:p>
        </p:txBody>
      </p:sp>
      <p:sp>
        <p:nvSpPr>
          <p:cNvPr id="206" name="HerePill0">
            <a:extLst>
              <a:ext uri="{FF2B5EF4-FFF2-40B4-BE49-F238E27FC236}">
                <a16:creationId xmlns:a16="http://schemas.microsoft.com/office/drawing/2014/main" id="{703B0C09-531D-1E55-E79E-BF233B68DB24}"/>
              </a:ext>
            </a:extLst>
          </p:cNvPr>
          <p:cNvSpPr/>
          <p:nvPr/>
        </p:nvSpPr>
        <p:spPr>
          <a:xfrm>
            <a:off x="9880600" y="4787900"/>
            <a:ext cx="1524000" cy="33020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200" b="1" dirty="0">
                <a:solidFill>
                  <a:srgbClr val="4EC9B0"/>
                </a:solidFill>
                <a:latin typeface="Arial"/>
              </a:rPr>
              <a:t>YOU ARE HERE</a:t>
            </a:r>
          </a:p>
        </p:txBody>
      </p:sp>
    </p:spTree>
    <p:extLst>
      <p:ext uri="{BB962C8B-B14F-4D97-AF65-F5344CB8AC3E}">
        <p14:creationId xmlns:p14="http://schemas.microsoft.com/office/powerpoint/2010/main" val="3890309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2A4713-0534-7CBA-7934-0A50DE8F2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avTitle">
            <a:extLst>
              <a:ext uri="{FF2B5EF4-FFF2-40B4-BE49-F238E27FC236}">
                <a16:creationId xmlns:a16="http://schemas.microsoft.com/office/drawing/2014/main" id="{037FB7C7-2141-E579-2FDE-A4492BC8E0E2}"/>
              </a:ext>
            </a:extLst>
          </p:cNvPr>
          <p:cNvSpPr/>
          <p:nvPr/>
        </p:nvSpPr>
        <p:spPr>
          <a:xfrm>
            <a:off x="609600" y="508000"/>
            <a:ext cx="635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Arial"/>
              </a:rPr>
              <a:t>What We'll Cover</a:t>
            </a:r>
          </a:p>
        </p:txBody>
      </p:sp>
      <p:sp>
        <p:nvSpPr>
          <p:cNvPr id="201" name="TitleRule">
            <a:extLst>
              <a:ext uri="{FF2B5EF4-FFF2-40B4-BE49-F238E27FC236}">
                <a16:creationId xmlns:a16="http://schemas.microsoft.com/office/drawing/2014/main" id="{2E5FF7E2-39BC-DAC6-AC38-4674EA6DC24C}"/>
              </a:ext>
            </a:extLst>
          </p:cNvPr>
          <p:cNvSpPr/>
          <p:nvPr/>
        </p:nvSpPr>
        <p:spPr>
          <a:xfrm>
            <a:off x="609600" y="1168400"/>
            <a:ext cx="812800" cy="635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Progress">
            <a:extLst>
              <a:ext uri="{FF2B5EF4-FFF2-40B4-BE49-F238E27FC236}">
                <a16:creationId xmlns:a16="http://schemas.microsoft.com/office/drawing/2014/main" id="{B41243C6-575B-902D-2703-EB3FCA8603E7}"/>
              </a:ext>
            </a:extLst>
          </p:cNvPr>
          <p:cNvSpPr/>
          <p:nvPr/>
        </p:nvSpPr>
        <p:spPr>
          <a:xfrm>
            <a:off x="8382000" y="660400"/>
            <a:ext cx="3200400" cy="38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600" b="1" dirty="0">
                <a:solidFill>
                  <a:srgbClr val="4EC9B0"/>
                </a:solidFill>
                <a:latin typeface="Arial"/>
              </a:rPr>
              <a:t>Section 5</a:t>
            </a:r>
            <a:r>
              <a:rPr lang="en-US" sz="1600" dirty="0">
                <a:solidFill>
                  <a:srgbClr val="8A8A8A"/>
                </a:solidFill>
                <a:latin typeface="Arial"/>
              </a:rPr>
              <a:t> / 5</a:t>
            </a:r>
          </a:p>
        </p:txBody>
      </p:sp>
      <p:sp>
        <p:nvSpPr>
          <p:cNvPr id="203" name="Card0">
            <a:extLst>
              <a:ext uri="{FF2B5EF4-FFF2-40B4-BE49-F238E27FC236}">
                <a16:creationId xmlns:a16="http://schemas.microsoft.com/office/drawing/2014/main" id="{E11EB7AD-4384-2EC7-03A5-2EECE3BD8BF8}"/>
              </a:ext>
            </a:extLst>
          </p:cNvPr>
          <p:cNvSpPr/>
          <p:nvPr/>
        </p:nvSpPr>
        <p:spPr>
          <a:xfrm>
            <a:off x="609600" y="15748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Badge0">
            <a:extLst>
              <a:ext uri="{FF2B5EF4-FFF2-40B4-BE49-F238E27FC236}">
                <a16:creationId xmlns:a16="http://schemas.microsoft.com/office/drawing/2014/main" id="{F0C61D4F-C752-DB96-4175-ADA23DCEC47F}"/>
              </a:ext>
            </a:extLst>
          </p:cNvPr>
          <p:cNvSpPr/>
          <p:nvPr/>
        </p:nvSpPr>
        <p:spPr>
          <a:xfrm>
            <a:off x="762000" y="17018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1</a:t>
            </a:r>
          </a:p>
        </p:txBody>
      </p:sp>
      <p:sp>
        <p:nvSpPr>
          <p:cNvPr id="205" name="CardText0">
            <a:extLst>
              <a:ext uri="{FF2B5EF4-FFF2-40B4-BE49-F238E27FC236}">
                <a16:creationId xmlns:a16="http://schemas.microsoft.com/office/drawing/2014/main" id="{55F95F19-6E04-AB39-B3D7-00D51996F3AB}"/>
              </a:ext>
            </a:extLst>
          </p:cNvPr>
          <p:cNvSpPr/>
          <p:nvPr/>
        </p:nvSpPr>
        <p:spPr>
          <a:xfrm>
            <a:off x="1524000" y="16891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dirty="0">
                <a:solidFill>
                  <a:srgbClr val="FFFFFF"/>
                </a:solidFill>
                <a:latin typeface="Arial"/>
              </a:rPr>
              <a:t>Foundations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dirty="0">
                <a:solidFill>
                  <a:srgbClr val="CCCCCC"/>
                </a:solidFill>
                <a:latin typeface="Arial"/>
              </a:rPr>
              <a:t>Spark's origins and the Fabric architecture we'll build on</a:t>
            </a:r>
          </a:p>
        </p:txBody>
      </p:sp>
      <p:sp>
        <p:nvSpPr>
          <p:cNvPr id="207" name="Card1">
            <a:extLst>
              <a:ext uri="{FF2B5EF4-FFF2-40B4-BE49-F238E27FC236}">
                <a16:creationId xmlns:a16="http://schemas.microsoft.com/office/drawing/2014/main" id="{ABB3C055-4543-E25B-BAA3-F9851A5F862A}"/>
              </a:ext>
            </a:extLst>
          </p:cNvPr>
          <p:cNvSpPr/>
          <p:nvPr/>
        </p:nvSpPr>
        <p:spPr>
          <a:xfrm>
            <a:off x="609600" y="25654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8" name="Badge1">
            <a:extLst>
              <a:ext uri="{FF2B5EF4-FFF2-40B4-BE49-F238E27FC236}">
                <a16:creationId xmlns:a16="http://schemas.microsoft.com/office/drawing/2014/main" id="{EACC8863-69E3-B96F-FF67-D4DB9DB2370F}"/>
              </a:ext>
            </a:extLst>
          </p:cNvPr>
          <p:cNvSpPr/>
          <p:nvPr/>
        </p:nvSpPr>
        <p:spPr>
          <a:xfrm>
            <a:off x="762000" y="26924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2</a:t>
            </a:r>
          </a:p>
        </p:txBody>
      </p:sp>
      <p:sp>
        <p:nvSpPr>
          <p:cNvPr id="209" name="CardText1">
            <a:extLst>
              <a:ext uri="{FF2B5EF4-FFF2-40B4-BE49-F238E27FC236}">
                <a16:creationId xmlns:a16="http://schemas.microsoft.com/office/drawing/2014/main" id="{334CCAF1-4086-0F39-E3FD-34FEFBE2F01E}"/>
              </a:ext>
            </a:extLst>
          </p:cNvPr>
          <p:cNvSpPr/>
          <p:nvPr/>
        </p:nvSpPr>
        <p:spPr>
          <a:xfrm>
            <a:off x="1524000" y="26797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Python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What you need to know before Spark makes sense</a:t>
            </a:r>
          </a:p>
        </p:txBody>
      </p:sp>
      <p:sp>
        <p:nvSpPr>
          <p:cNvPr id="210" name="Card2">
            <a:extLst>
              <a:ext uri="{FF2B5EF4-FFF2-40B4-BE49-F238E27FC236}">
                <a16:creationId xmlns:a16="http://schemas.microsoft.com/office/drawing/2014/main" id="{9E00A6BB-F032-6D27-C00E-2E09D6C24208}"/>
              </a:ext>
            </a:extLst>
          </p:cNvPr>
          <p:cNvSpPr/>
          <p:nvPr/>
        </p:nvSpPr>
        <p:spPr>
          <a:xfrm>
            <a:off x="609600" y="35560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Badge2">
            <a:extLst>
              <a:ext uri="{FF2B5EF4-FFF2-40B4-BE49-F238E27FC236}">
                <a16:creationId xmlns:a16="http://schemas.microsoft.com/office/drawing/2014/main" id="{BF8F1939-7ABC-DCA5-6DB6-71D682175AB1}"/>
              </a:ext>
            </a:extLst>
          </p:cNvPr>
          <p:cNvSpPr/>
          <p:nvPr/>
        </p:nvSpPr>
        <p:spPr>
          <a:xfrm>
            <a:off x="762000" y="36830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3</a:t>
            </a:r>
          </a:p>
        </p:txBody>
      </p:sp>
      <p:sp>
        <p:nvSpPr>
          <p:cNvPr id="212" name="CardText2">
            <a:extLst>
              <a:ext uri="{FF2B5EF4-FFF2-40B4-BE49-F238E27FC236}">
                <a16:creationId xmlns:a16="http://schemas.microsoft.com/office/drawing/2014/main" id="{41912E80-6E17-A9FC-71B0-D3C400E4BFA7}"/>
              </a:ext>
            </a:extLst>
          </p:cNvPr>
          <p:cNvSpPr/>
          <p:nvPr/>
        </p:nvSpPr>
        <p:spPr>
          <a:xfrm>
            <a:off x="1524000" y="36703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PySpark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DataFrames, transforms &amp; actions</a:t>
            </a:r>
          </a:p>
        </p:txBody>
      </p:sp>
      <p:sp>
        <p:nvSpPr>
          <p:cNvPr id="213" name="Card3">
            <a:extLst>
              <a:ext uri="{FF2B5EF4-FFF2-40B4-BE49-F238E27FC236}">
                <a16:creationId xmlns:a16="http://schemas.microsoft.com/office/drawing/2014/main" id="{B1BD0393-5E02-EA17-5369-B31DF3F5FCB2}"/>
              </a:ext>
            </a:extLst>
          </p:cNvPr>
          <p:cNvSpPr/>
          <p:nvPr/>
        </p:nvSpPr>
        <p:spPr>
          <a:xfrm>
            <a:off x="609600" y="45466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4" name="Badge3">
            <a:extLst>
              <a:ext uri="{FF2B5EF4-FFF2-40B4-BE49-F238E27FC236}">
                <a16:creationId xmlns:a16="http://schemas.microsoft.com/office/drawing/2014/main" id="{B19780AA-AA97-1D40-4B0A-9F86BE55AD9A}"/>
              </a:ext>
            </a:extLst>
          </p:cNvPr>
          <p:cNvSpPr/>
          <p:nvPr/>
        </p:nvSpPr>
        <p:spPr>
          <a:xfrm>
            <a:off x="762000" y="46736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4</a:t>
            </a:r>
          </a:p>
        </p:txBody>
      </p:sp>
      <p:sp>
        <p:nvSpPr>
          <p:cNvPr id="215" name="CardText3">
            <a:extLst>
              <a:ext uri="{FF2B5EF4-FFF2-40B4-BE49-F238E27FC236}">
                <a16:creationId xmlns:a16="http://schemas.microsoft.com/office/drawing/2014/main" id="{47DC6E76-9E23-C9A1-129C-52978D9C9A0E}"/>
              </a:ext>
            </a:extLst>
          </p:cNvPr>
          <p:cNvSpPr/>
          <p:nvPr/>
        </p:nvSpPr>
        <p:spPr>
          <a:xfrm>
            <a:off x="1524000" y="46609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Putting PySpark to Work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A live notebook demo, real-world results.</a:t>
            </a:r>
          </a:p>
        </p:txBody>
      </p:sp>
      <p:sp>
        <p:nvSpPr>
          <p:cNvPr id="216" name="Card4">
            <a:extLst>
              <a:ext uri="{FF2B5EF4-FFF2-40B4-BE49-F238E27FC236}">
                <a16:creationId xmlns:a16="http://schemas.microsoft.com/office/drawing/2014/main" id="{55A40E0D-F271-0E20-C6D9-EE98D6B031FF}"/>
              </a:ext>
            </a:extLst>
          </p:cNvPr>
          <p:cNvSpPr/>
          <p:nvPr/>
        </p:nvSpPr>
        <p:spPr>
          <a:xfrm>
            <a:off x="609600" y="55372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Badge4">
            <a:extLst>
              <a:ext uri="{FF2B5EF4-FFF2-40B4-BE49-F238E27FC236}">
                <a16:creationId xmlns:a16="http://schemas.microsoft.com/office/drawing/2014/main" id="{D94E78DD-B4C1-37F1-6AED-DABD47F37705}"/>
              </a:ext>
            </a:extLst>
          </p:cNvPr>
          <p:cNvSpPr/>
          <p:nvPr/>
        </p:nvSpPr>
        <p:spPr>
          <a:xfrm>
            <a:off x="762000" y="5664200"/>
            <a:ext cx="558800" cy="55880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4EC9B0"/>
                </a:solidFill>
                <a:latin typeface="Arial"/>
              </a:rPr>
              <a:t>5</a:t>
            </a:r>
          </a:p>
        </p:txBody>
      </p:sp>
      <p:sp>
        <p:nvSpPr>
          <p:cNvPr id="218" name="CardText4">
            <a:extLst>
              <a:ext uri="{FF2B5EF4-FFF2-40B4-BE49-F238E27FC236}">
                <a16:creationId xmlns:a16="http://schemas.microsoft.com/office/drawing/2014/main" id="{D6DD97FC-CA3B-26C7-019F-4E3C6A6C9D8A}"/>
              </a:ext>
            </a:extLst>
          </p:cNvPr>
          <p:cNvSpPr/>
          <p:nvPr/>
        </p:nvSpPr>
        <p:spPr>
          <a:xfrm>
            <a:off x="1524000" y="56515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1E1E1E"/>
                </a:solidFill>
                <a:latin typeface="Arial"/>
              </a:rPr>
              <a:t>Wrap-Up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1E1E1E"/>
                </a:solidFill>
                <a:latin typeface="Arial"/>
              </a:rPr>
              <a:t>Recap, resources &amp; next steps</a:t>
            </a:r>
          </a:p>
        </p:txBody>
      </p:sp>
      <p:sp>
        <p:nvSpPr>
          <p:cNvPr id="206" name="HerePill0">
            <a:extLst>
              <a:ext uri="{FF2B5EF4-FFF2-40B4-BE49-F238E27FC236}">
                <a16:creationId xmlns:a16="http://schemas.microsoft.com/office/drawing/2014/main" id="{703B0C09-531D-1E55-E79E-BF233B68DB24}"/>
              </a:ext>
            </a:extLst>
          </p:cNvPr>
          <p:cNvSpPr/>
          <p:nvPr/>
        </p:nvSpPr>
        <p:spPr>
          <a:xfrm>
            <a:off x="9880600" y="5778500"/>
            <a:ext cx="1524000" cy="33020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200" b="1" dirty="0">
                <a:solidFill>
                  <a:srgbClr val="4EC9B0"/>
                </a:solidFill>
                <a:latin typeface="Arial"/>
              </a:rPr>
              <a:t>YOU ARE HERE</a:t>
            </a:r>
          </a:p>
        </p:txBody>
      </p:sp>
    </p:spTree>
    <p:extLst>
      <p:ext uri="{BB962C8B-B14F-4D97-AF65-F5344CB8AC3E}">
        <p14:creationId xmlns:p14="http://schemas.microsoft.com/office/powerpoint/2010/main" val="2262023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756B6F-7C8A-C628-43A9-6F5660E78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avTitle">
            <a:extLst>
              <a:ext uri="{FF2B5EF4-FFF2-40B4-BE49-F238E27FC236}">
                <a16:creationId xmlns:a16="http://schemas.microsoft.com/office/drawing/2014/main" id="{763F2123-BE70-CA67-7BC9-D9A4785C168A}"/>
              </a:ext>
            </a:extLst>
          </p:cNvPr>
          <p:cNvSpPr/>
          <p:nvPr/>
        </p:nvSpPr>
        <p:spPr>
          <a:xfrm>
            <a:off x="609600" y="508000"/>
            <a:ext cx="635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Arial"/>
              </a:rPr>
              <a:t>What We'll Cover</a:t>
            </a:r>
          </a:p>
        </p:txBody>
      </p:sp>
      <p:sp>
        <p:nvSpPr>
          <p:cNvPr id="201" name="TitleRule">
            <a:extLst>
              <a:ext uri="{FF2B5EF4-FFF2-40B4-BE49-F238E27FC236}">
                <a16:creationId xmlns:a16="http://schemas.microsoft.com/office/drawing/2014/main" id="{0D9FDC4C-20EF-DD88-2AB5-8C6211614D0F}"/>
              </a:ext>
            </a:extLst>
          </p:cNvPr>
          <p:cNvSpPr/>
          <p:nvPr/>
        </p:nvSpPr>
        <p:spPr>
          <a:xfrm>
            <a:off x="609600" y="1168400"/>
            <a:ext cx="812800" cy="635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Progress">
            <a:extLst>
              <a:ext uri="{FF2B5EF4-FFF2-40B4-BE49-F238E27FC236}">
                <a16:creationId xmlns:a16="http://schemas.microsoft.com/office/drawing/2014/main" id="{59FF5829-C00B-A240-A133-0CF020175BEE}"/>
              </a:ext>
            </a:extLst>
          </p:cNvPr>
          <p:cNvSpPr/>
          <p:nvPr/>
        </p:nvSpPr>
        <p:spPr>
          <a:xfrm>
            <a:off x="8382000" y="660400"/>
            <a:ext cx="3200400" cy="38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600" b="1" dirty="0">
                <a:solidFill>
                  <a:srgbClr val="4EC9B0"/>
                </a:solidFill>
                <a:latin typeface="Arial"/>
              </a:rPr>
              <a:t>Section 1</a:t>
            </a:r>
            <a:r>
              <a:rPr lang="en-US" sz="1600" dirty="0">
                <a:solidFill>
                  <a:srgbClr val="8A8A8A"/>
                </a:solidFill>
                <a:latin typeface="Arial"/>
              </a:rPr>
              <a:t> / 5</a:t>
            </a:r>
          </a:p>
        </p:txBody>
      </p:sp>
      <p:sp>
        <p:nvSpPr>
          <p:cNvPr id="203" name="Card0">
            <a:extLst>
              <a:ext uri="{FF2B5EF4-FFF2-40B4-BE49-F238E27FC236}">
                <a16:creationId xmlns:a16="http://schemas.microsoft.com/office/drawing/2014/main" id="{3A01F018-76B5-CF7E-343A-7CD26C074C4C}"/>
              </a:ext>
            </a:extLst>
          </p:cNvPr>
          <p:cNvSpPr/>
          <p:nvPr/>
        </p:nvSpPr>
        <p:spPr>
          <a:xfrm>
            <a:off x="609600" y="15748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Badge0">
            <a:extLst>
              <a:ext uri="{FF2B5EF4-FFF2-40B4-BE49-F238E27FC236}">
                <a16:creationId xmlns:a16="http://schemas.microsoft.com/office/drawing/2014/main" id="{DF5D55CA-7A6C-AE22-4C94-EF91E925C02D}"/>
              </a:ext>
            </a:extLst>
          </p:cNvPr>
          <p:cNvSpPr/>
          <p:nvPr/>
        </p:nvSpPr>
        <p:spPr>
          <a:xfrm>
            <a:off x="762000" y="1701800"/>
            <a:ext cx="558800" cy="55880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4EC9B0"/>
                </a:solidFill>
                <a:latin typeface="Arial"/>
              </a:rPr>
              <a:t>1</a:t>
            </a:r>
          </a:p>
        </p:txBody>
      </p:sp>
      <p:sp>
        <p:nvSpPr>
          <p:cNvPr id="205" name="CardText0">
            <a:extLst>
              <a:ext uri="{FF2B5EF4-FFF2-40B4-BE49-F238E27FC236}">
                <a16:creationId xmlns:a16="http://schemas.microsoft.com/office/drawing/2014/main" id="{FC5EF45A-81ED-4B65-C8EF-C98FEA5025AC}"/>
              </a:ext>
            </a:extLst>
          </p:cNvPr>
          <p:cNvSpPr/>
          <p:nvPr/>
        </p:nvSpPr>
        <p:spPr>
          <a:xfrm>
            <a:off x="1524000" y="16891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dirty="0">
                <a:solidFill>
                  <a:srgbClr val="1E1E1E"/>
                </a:solidFill>
                <a:latin typeface="Arial"/>
              </a:rPr>
              <a:t>Foundations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dirty="0">
                <a:solidFill>
                  <a:srgbClr val="1E1E1E"/>
                </a:solidFill>
                <a:latin typeface="Arial"/>
              </a:rPr>
              <a:t>Spark's origins and the Fabric architecture we'll build on</a:t>
            </a:r>
          </a:p>
        </p:txBody>
      </p:sp>
      <p:sp>
        <p:nvSpPr>
          <p:cNvPr id="206" name="HerePill0">
            <a:extLst>
              <a:ext uri="{FF2B5EF4-FFF2-40B4-BE49-F238E27FC236}">
                <a16:creationId xmlns:a16="http://schemas.microsoft.com/office/drawing/2014/main" id="{13E1B7BE-CC74-976B-0CC5-B133BE1D17BF}"/>
              </a:ext>
            </a:extLst>
          </p:cNvPr>
          <p:cNvSpPr/>
          <p:nvPr/>
        </p:nvSpPr>
        <p:spPr>
          <a:xfrm>
            <a:off x="9880600" y="1816100"/>
            <a:ext cx="1524000" cy="33020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200" b="1" dirty="0">
                <a:solidFill>
                  <a:srgbClr val="4EC9B0"/>
                </a:solidFill>
                <a:latin typeface="Arial"/>
              </a:rPr>
              <a:t>YOU ARE HERE</a:t>
            </a:r>
          </a:p>
        </p:txBody>
      </p:sp>
      <p:sp>
        <p:nvSpPr>
          <p:cNvPr id="207" name="Card1">
            <a:extLst>
              <a:ext uri="{FF2B5EF4-FFF2-40B4-BE49-F238E27FC236}">
                <a16:creationId xmlns:a16="http://schemas.microsoft.com/office/drawing/2014/main" id="{287BB834-692A-F58C-88D8-3022C96B744C}"/>
              </a:ext>
            </a:extLst>
          </p:cNvPr>
          <p:cNvSpPr/>
          <p:nvPr/>
        </p:nvSpPr>
        <p:spPr>
          <a:xfrm>
            <a:off x="609600" y="25654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8" name="Badge1">
            <a:extLst>
              <a:ext uri="{FF2B5EF4-FFF2-40B4-BE49-F238E27FC236}">
                <a16:creationId xmlns:a16="http://schemas.microsoft.com/office/drawing/2014/main" id="{1DB1C68F-DB8F-3185-9A00-3AA4DC153649}"/>
              </a:ext>
            </a:extLst>
          </p:cNvPr>
          <p:cNvSpPr/>
          <p:nvPr/>
        </p:nvSpPr>
        <p:spPr>
          <a:xfrm>
            <a:off x="762000" y="26924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2</a:t>
            </a:r>
          </a:p>
        </p:txBody>
      </p:sp>
      <p:sp>
        <p:nvSpPr>
          <p:cNvPr id="209" name="CardText1">
            <a:extLst>
              <a:ext uri="{FF2B5EF4-FFF2-40B4-BE49-F238E27FC236}">
                <a16:creationId xmlns:a16="http://schemas.microsoft.com/office/drawing/2014/main" id="{CADA5992-5550-B7A4-E38C-962EAAD21C09}"/>
              </a:ext>
            </a:extLst>
          </p:cNvPr>
          <p:cNvSpPr/>
          <p:nvPr/>
        </p:nvSpPr>
        <p:spPr>
          <a:xfrm>
            <a:off x="1524000" y="26797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Python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What you need to know before Spark makes sense</a:t>
            </a:r>
          </a:p>
        </p:txBody>
      </p:sp>
      <p:sp>
        <p:nvSpPr>
          <p:cNvPr id="210" name="Card2">
            <a:extLst>
              <a:ext uri="{FF2B5EF4-FFF2-40B4-BE49-F238E27FC236}">
                <a16:creationId xmlns:a16="http://schemas.microsoft.com/office/drawing/2014/main" id="{E919D3FA-10B9-F7D6-CBD9-DA58DAAC42A4}"/>
              </a:ext>
            </a:extLst>
          </p:cNvPr>
          <p:cNvSpPr/>
          <p:nvPr/>
        </p:nvSpPr>
        <p:spPr>
          <a:xfrm>
            <a:off x="609600" y="35560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Badge2">
            <a:extLst>
              <a:ext uri="{FF2B5EF4-FFF2-40B4-BE49-F238E27FC236}">
                <a16:creationId xmlns:a16="http://schemas.microsoft.com/office/drawing/2014/main" id="{B2BB656F-40ED-F2E0-C010-C1CEE8FC3842}"/>
              </a:ext>
            </a:extLst>
          </p:cNvPr>
          <p:cNvSpPr/>
          <p:nvPr/>
        </p:nvSpPr>
        <p:spPr>
          <a:xfrm>
            <a:off x="762000" y="36830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3</a:t>
            </a:r>
          </a:p>
        </p:txBody>
      </p:sp>
      <p:sp>
        <p:nvSpPr>
          <p:cNvPr id="212" name="CardText2">
            <a:extLst>
              <a:ext uri="{FF2B5EF4-FFF2-40B4-BE49-F238E27FC236}">
                <a16:creationId xmlns:a16="http://schemas.microsoft.com/office/drawing/2014/main" id="{475A9D14-E3A5-9677-E156-3BE3C399D24D}"/>
              </a:ext>
            </a:extLst>
          </p:cNvPr>
          <p:cNvSpPr/>
          <p:nvPr/>
        </p:nvSpPr>
        <p:spPr>
          <a:xfrm>
            <a:off x="1524000" y="36703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PySpark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DataFrames, transforms &amp; actions</a:t>
            </a:r>
          </a:p>
        </p:txBody>
      </p:sp>
      <p:sp>
        <p:nvSpPr>
          <p:cNvPr id="213" name="Card3">
            <a:extLst>
              <a:ext uri="{FF2B5EF4-FFF2-40B4-BE49-F238E27FC236}">
                <a16:creationId xmlns:a16="http://schemas.microsoft.com/office/drawing/2014/main" id="{EEA0E69F-1090-AB00-A354-6628193BA95B}"/>
              </a:ext>
            </a:extLst>
          </p:cNvPr>
          <p:cNvSpPr/>
          <p:nvPr/>
        </p:nvSpPr>
        <p:spPr>
          <a:xfrm>
            <a:off x="609600" y="45466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4" name="Badge3">
            <a:extLst>
              <a:ext uri="{FF2B5EF4-FFF2-40B4-BE49-F238E27FC236}">
                <a16:creationId xmlns:a16="http://schemas.microsoft.com/office/drawing/2014/main" id="{6E05C232-CAC7-562D-3B9F-6E18B75F1B09}"/>
              </a:ext>
            </a:extLst>
          </p:cNvPr>
          <p:cNvSpPr/>
          <p:nvPr/>
        </p:nvSpPr>
        <p:spPr>
          <a:xfrm>
            <a:off x="762000" y="46736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4</a:t>
            </a:r>
          </a:p>
        </p:txBody>
      </p:sp>
      <p:sp>
        <p:nvSpPr>
          <p:cNvPr id="215" name="CardText3">
            <a:extLst>
              <a:ext uri="{FF2B5EF4-FFF2-40B4-BE49-F238E27FC236}">
                <a16:creationId xmlns:a16="http://schemas.microsoft.com/office/drawing/2014/main" id="{8FE660B7-89B2-2CD3-1A71-9BF6B75B53CA}"/>
              </a:ext>
            </a:extLst>
          </p:cNvPr>
          <p:cNvSpPr/>
          <p:nvPr/>
        </p:nvSpPr>
        <p:spPr>
          <a:xfrm>
            <a:off x="1524000" y="46609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Putting PySpark to Work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A live notebook demo, real-world results.</a:t>
            </a:r>
          </a:p>
        </p:txBody>
      </p:sp>
      <p:sp>
        <p:nvSpPr>
          <p:cNvPr id="216" name="Card4">
            <a:extLst>
              <a:ext uri="{FF2B5EF4-FFF2-40B4-BE49-F238E27FC236}">
                <a16:creationId xmlns:a16="http://schemas.microsoft.com/office/drawing/2014/main" id="{84444397-1017-F0B7-D620-EE6C85626E18}"/>
              </a:ext>
            </a:extLst>
          </p:cNvPr>
          <p:cNvSpPr/>
          <p:nvPr/>
        </p:nvSpPr>
        <p:spPr>
          <a:xfrm>
            <a:off x="609600" y="55372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Badge4">
            <a:extLst>
              <a:ext uri="{FF2B5EF4-FFF2-40B4-BE49-F238E27FC236}">
                <a16:creationId xmlns:a16="http://schemas.microsoft.com/office/drawing/2014/main" id="{D15B11CB-6E19-65A9-FB31-B1460400F1DF}"/>
              </a:ext>
            </a:extLst>
          </p:cNvPr>
          <p:cNvSpPr/>
          <p:nvPr/>
        </p:nvSpPr>
        <p:spPr>
          <a:xfrm>
            <a:off x="762000" y="56642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5</a:t>
            </a:r>
          </a:p>
        </p:txBody>
      </p:sp>
      <p:sp>
        <p:nvSpPr>
          <p:cNvPr id="218" name="CardText4">
            <a:extLst>
              <a:ext uri="{FF2B5EF4-FFF2-40B4-BE49-F238E27FC236}">
                <a16:creationId xmlns:a16="http://schemas.microsoft.com/office/drawing/2014/main" id="{D2185C68-816D-0722-C3A7-11D92D881522}"/>
              </a:ext>
            </a:extLst>
          </p:cNvPr>
          <p:cNvSpPr/>
          <p:nvPr/>
        </p:nvSpPr>
        <p:spPr>
          <a:xfrm>
            <a:off x="1524000" y="56515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Wrap-Up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Recap, resources &amp; next steps</a:t>
            </a:r>
          </a:p>
        </p:txBody>
      </p:sp>
    </p:spTree>
    <p:extLst>
      <p:ext uri="{BB962C8B-B14F-4D97-AF65-F5344CB8AC3E}">
        <p14:creationId xmlns:p14="http://schemas.microsoft.com/office/powerpoint/2010/main" val="1729916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ck"/>
          <p:cNvSpPr/>
          <p:nvPr/>
        </p:nvSpPr>
        <p:spPr>
          <a:xfrm>
            <a:off x="609600" y="914400"/>
            <a:ext cx="812800" cy="76200"/>
          </a:xfrm>
          <a:prstGeom prst="rect">
            <a:avLst/>
          </a:prstGeom>
          <a:solidFill>
            <a:srgbClr val="EBA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StoryProg"/>
          <p:cNvSpPr/>
          <p:nvPr/>
        </p:nvSpPr>
        <p:spPr>
          <a:xfrm>
            <a:off x="609600" y="533400"/>
            <a:ext cx="4064000" cy="279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1" spc="200" dirty="0">
                <a:solidFill>
                  <a:srgbClr val="4EC9B0"/>
                </a:solidFill>
                <a:latin typeface="Arial"/>
              </a:rPr>
              <a:t>THE STORY OF SPARK</a:t>
            </a:r>
            <a:r>
              <a:rPr lang="en-US" sz="1400" spc="200" dirty="0">
                <a:solidFill>
                  <a:srgbClr val="CCCCCC"/>
                </a:solidFill>
                <a:latin typeface="Arial"/>
              </a:rPr>
              <a:t>   ·   1 of 3</a:t>
            </a:r>
          </a:p>
        </p:txBody>
      </p:sp>
      <p:sp>
        <p:nvSpPr>
          <p:cNvPr id="202" name="CueTitle"/>
          <p:cNvSpPr/>
          <p:nvPr/>
        </p:nvSpPr>
        <p:spPr>
          <a:xfrm>
            <a:off x="609600" y="1371600"/>
            <a:ext cx="4064000" cy="457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What lit the fire for </a:t>
            </a:r>
            <a:r>
              <a:rPr lang="en-US" sz="4000" b="1" dirty="0">
                <a:solidFill>
                  <a:srgbClr val="EBA000"/>
                </a:solidFill>
                <a:latin typeface="Arial"/>
              </a:rPr>
              <a:t>Apache Spark</a:t>
            </a:r>
            <a:r>
              <a:rPr lang="en-US" sz="4000" b="1" dirty="0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203" name="Eyebrow"/>
          <p:cNvSpPr/>
          <p:nvPr/>
        </p:nvSpPr>
        <p:spPr>
          <a:xfrm>
            <a:off x="5334000" y="558800"/>
            <a:ext cx="6248400" cy="38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 dirty="0">
                <a:solidFill>
                  <a:srgbClr val="4EC9B0"/>
                </a:solidFill>
                <a:latin typeface="Arial"/>
              </a:rPr>
              <a:t>The Netflix Prize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E9B06C-EFE0-B427-9E8C-3741911738DE}"/>
              </a:ext>
            </a:extLst>
          </p:cNvPr>
          <p:cNvGrpSpPr/>
          <p:nvPr/>
        </p:nvGrpSpPr>
        <p:grpSpPr>
          <a:xfrm>
            <a:off x="5334000" y="1168400"/>
            <a:ext cx="6248400" cy="1168400"/>
            <a:chOff x="5334000" y="1168400"/>
            <a:chExt cx="6248400" cy="1168400"/>
          </a:xfrm>
        </p:grpSpPr>
        <p:sp>
          <p:nvSpPr>
            <p:cNvPr id="204" name="CCard0"/>
            <p:cNvSpPr/>
            <p:nvPr/>
          </p:nvSpPr>
          <p:spPr>
            <a:xfrm>
              <a:off x="5334000" y="1168400"/>
              <a:ext cx="6248400" cy="1168400"/>
            </a:xfrm>
            <a:prstGeom prst="roundRect">
              <a:avLst>
                <a:gd name="adj" fmla="val 8000"/>
              </a:avLst>
            </a:prstGeom>
            <a:solidFill>
              <a:srgbClr val="2A2A2A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" name="CStripe0"/>
            <p:cNvSpPr/>
            <p:nvPr/>
          </p:nvSpPr>
          <p:spPr>
            <a:xfrm>
              <a:off x="5334000" y="1168400"/>
              <a:ext cx="76200" cy="1168400"/>
            </a:xfrm>
            <a:prstGeom prst="rect">
              <a:avLst/>
            </a:prstGeom>
            <a:solidFill>
              <a:srgbClr val="4EC9B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" name="CBadge0"/>
            <p:cNvSpPr/>
            <p:nvPr/>
          </p:nvSpPr>
          <p:spPr>
            <a:xfrm>
              <a:off x="5613400" y="1498600"/>
              <a:ext cx="508000" cy="508000"/>
            </a:xfrm>
            <a:prstGeom prst="ellipse">
              <a:avLst/>
            </a:prstGeom>
            <a:solidFill>
              <a:srgbClr val="1E1E1E"/>
            </a:solidFill>
            <a:ln w="19050">
              <a:solidFill>
                <a:srgbClr val="4EC9B0"/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algn="ctr"/>
              <a:r>
                <a:rPr lang="en-US" sz="1800" b="1" dirty="0">
                  <a:solidFill>
                    <a:srgbClr val="4EC9B0"/>
                  </a:solidFill>
                  <a:latin typeface="Arial"/>
                </a:rPr>
                <a:t>1</a:t>
              </a:r>
            </a:p>
          </p:txBody>
        </p:sp>
        <p:sp>
          <p:nvSpPr>
            <p:cNvPr id="207" name="CText0"/>
            <p:cNvSpPr/>
            <p:nvPr/>
          </p:nvSpPr>
          <p:spPr>
            <a:xfrm>
              <a:off x="6350000" y="1295400"/>
              <a:ext cx="4978400" cy="914400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4000"/>
                </a:lnSpc>
              </a:pPr>
              <a:r>
                <a:rPr lang="en-US" sz="1700" dirty="0">
                  <a:solidFill>
                    <a:srgbClr val="FFFFFF"/>
                  </a:solidFill>
                  <a:latin typeface="Arial"/>
                </a:rPr>
                <a:t>Began October 2006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1E6CE11-A308-DAD4-A3EA-8D9629A0FD5F}"/>
              </a:ext>
            </a:extLst>
          </p:cNvPr>
          <p:cNvGrpSpPr/>
          <p:nvPr/>
        </p:nvGrpSpPr>
        <p:grpSpPr>
          <a:xfrm>
            <a:off x="5334000" y="2489200"/>
            <a:ext cx="6248400" cy="1168400"/>
            <a:chOff x="5334000" y="2489200"/>
            <a:chExt cx="6248400" cy="1168400"/>
          </a:xfrm>
        </p:grpSpPr>
        <p:sp>
          <p:nvSpPr>
            <p:cNvPr id="208" name="CCard1"/>
            <p:cNvSpPr/>
            <p:nvPr/>
          </p:nvSpPr>
          <p:spPr>
            <a:xfrm>
              <a:off x="5334000" y="2489200"/>
              <a:ext cx="6248400" cy="1168400"/>
            </a:xfrm>
            <a:prstGeom prst="roundRect">
              <a:avLst>
                <a:gd name="adj" fmla="val 8000"/>
              </a:avLst>
            </a:prstGeom>
            <a:solidFill>
              <a:srgbClr val="2A2A2A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9" name="CStripe1"/>
            <p:cNvSpPr/>
            <p:nvPr/>
          </p:nvSpPr>
          <p:spPr>
            <a:xfrm>
              <a:off x="5334000" y="2489200"/>
              <a:ext cx="76200" cy="1168400"/>
            </a:xfrm>
            <a:prstGeom prst="rect">
              <a:avLst/>
            </a:prstGeom>
            <a:solidFill>
              <a:srgbClr val="4EC9B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0" name="CBadge1"/>
            <p:cNvSpPr/>
            <p:nvPr/>
          </p:nvSpPr>
          <p:spPr>
            <a:xfrm>
              <a:off x="5613400" y="2819400"/>
              <a:ext cx="508000" cy="508000"/>
            </a:xfrm>
            <a:prstGeom prst="ellipse">
              <a:avLst/>
            </a:prstGeom>
            <a:solidFill>
              <a:srgbClr val="1E1E1E"/>
            </a:solidFill>
            <a:ln w="19050">
              <a:solidFill>
                <a:srgbClr val="4EC9B0"/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algn="ctr"/>
              <a:r>
                <a:rPr lang="en-US" sz="1800" b="1" dirty="0">
                  <a:solidFill>
                    <a:srgbClr val="4EC9B0"/>
                  </a:solidFill>
                  <a:latin typeface="Arial"/>
                </a:rPr>
                <a:t>2</a:t>
              </a:r>
            </a:p>
          </p:txBody>
        </p:sp>
        <p:sp>
          <p:nvSpPr>
            <p:cNvPr id="211" name="CText1"/>
            <p:cNvSpPr/>
            <p:nvPr/>
          </p:nvSpPr>
          <p:spPr>
            <a:xfrm>
              <a:off x="6350000" y="2616200"/>
              <a:ext cx="4978400" cy="914400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4000"/>
                </a:lnSpc>
              </a:pPr>
              <a:r>
                <a:rPr lang="en-US" sz="1700" dirty="0">
                  <a:solidFill>
                    <a:srgbClr val="FFFFFF"/>
                  </a:solidFill>
                  <a:latin typeface="Arial"/>
                </a:rPr>
                <a:t>Goal: improve Netflix's Cinematch algorithm by at least 10%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BABF6B6-137A-805C-C52C-80219E1E82FF}"/>
              </a:ext>
            </a:extLst>
          </p:cNvPr>
          <p:cNvGrpSpPr/>
          <p:nvPr/>
        </p:nvGrpSpPr>
        <p:grpSpPr>
          <a:xfrm>
            <a:off x="5334000" y="3810000"/>
            <a:ext cx="6248400" cy="1168400"/>
            <a:chOff x="5334000" y="3810000"/>
            <a:chExt cx="6248400" cy="1168400"/>
          </a:xfrm>
        </p:grpSpPr>
        <p:sp>
          <p:nvSpPr>
            <p:cNvPr id="212" name="CCard2"/>
            <p:cNvSpPr/>
            <p:nvPr/>
          </p:nvSpPr>
          <p:spPr>
            <a:xfrm>
              <a:off x="5334000" y="3810000"/>
              <a:ext cx="6248400" cy="1168400"/>
            </a:xfrm>
            <a:prstGeom prst="roundRect">
              <a:avLst>
                <a:gd name="adj" fmla="val 8000"/>
              </a:avLst>
            </a:prstGeom>
            <a:solidFill>
              <a:srgbClr val="2A2A2A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3" name="CStripe2"/>
            <p:cNvSpPr/>
            <p:nvPr/>
          </p:nvSpPr>
          <p:spPr>
            <a:xfrm>
              <a:off x="5334000" y="3810000"/>
              <a:ext cx="76200" cy="1168400"/>
            </a:xfrm>
            <a:prstGeom prst="rect">
              <a:avLst/>
            </a:prstGeom>
            <a:solidFill>
              <a:srgbClr val="4EC9B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4" name="CBadge2"/>
            <p:cNvSpPr/>
            <p:nvPr/>
          </p:nvSpPr>
          <p:spPr>
            <a:xfrm>
              <a:off x="5613400" y="4140200"/>
              <a:ext cx="508000" cy="508000"/>
            </a:xfrm>
            <a:prstGeom prst="ellipse">
              <a:avLst/>
            </a:prstGeom>
            <a:solidFill>
              <a:srgbClr val="1E1E1E"/>
            </a:solidFill>
            <a:ln w="19050">
              <a:solidFill>
                <a:srgbClr val="4EC9B0"/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algn="ctr"/>
              <a:r>
                <a:rPr lang="en-US" sz="1800" b="1" dirty="0">
                  <a:solidFill>
                    <a:srgbClr val="4EC9B0"/>
                  </a:solidFill>
                  <a:latin typeface="Arial"/>
                </a:rPr>
                <a:t>3</a:t>
              </a:r>
            </a:p>
          </p:txBody>
        </p:sp>
        <p:sp>
          <p:nvSpPr>
            <p:cNvPr id="215" name="CText2"/>
            <p:cNvSpPr/>
            <p:nvPr/>
          </p:nvSpPr>
          <p:spPr>
            <a:xfrm>
              <a:off x="6350000" y="3937000"/>
              <a:ext cx="4978400" cy="914400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4000"/>
                </a:lnSpc>
              </a:pPr>
              <a:r>
                <a:rPr lang="en-US" sz="1700" dirty="0">
                  <a:solidFill>
                    <a:srgbClr val="FFFFFF"/>
                  </a:solidFill>
                  <a:latin typeface="Arial"/>
                </a:rPr>
                <a:t>Prize was $1 million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BB30469-D542-B177-D455-92243580C3A3}"/>
              </a:ext>
            </a:extLst>
          </p:cNvPr>
          <p:cNvGrpSpPr/>
          <p:nvPr/>
        </p:nvGrpSpPr>
        <p:grpSpPr>
          <a:xfrm>
            <a:off x="5334000" y="5130800"/>
            <a:ext cx="6248400" cy="1168400"/>
            <a:chOff x="5334000" y="5130800"/>
            <a:chExt cx="6248400" cy="1168400"/>
          </a:xfrm>
        </p:grpSpPr>
        <p:sp>
          <p:nvSpPr>
            <p:cNvPr id="216" name="CCard3"/>
            <p:cNvSpPr/>
            <p:nvPr/>
          </p:nvSpPr>
          <p:spPr>
            <a:xfrm>
              <a:off x="5334000" y="5130800"/>
              <a:ext cx="6248400" cy="1168400"/>
            </a:xfrm>
            <a:prstGeom prst="roundRect">
              <a:avLst>
                <a:gd name="adj" fmla="val 8000"/>
              </a:avLst>
            </a:prstGeom>
            <a:solidFill>
              <a:srgbClr val="2A2A2A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" name="CStripe3"/>
            <p:cNvSpPr/>
            <p:nvPr/>
          </p:nvSpPr>
          <p:spPr>
            <a:xfrm>
              <a:off x="5334000" y="5130800"/>
              <a:ext cx="76200" cy="1168400"/>
            </a:xfrm>
            <a:prstGeom prst="rect">
              <a:avLst/>
            </a:prstGeom>
            <a:solidFill>
              <a:srgbClr val="4EC9B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" name="CBadge3"/>
            <p:cNvSpPr/>
            <p:nvPr/>
          </p:nvSpPr>
          <p:spPr>
            <a:xfrm>
              <a:off x="5613400" y="5461000"/>
              <a:ext cx="508000" cy="508000"/>
            </a:xfrm>
            <a:prstGeom prst="ellipse">
              <a:avLst/>
            </a:prstGeom>
            <a:solidFill>
              <a:srgbClr val="1E1E1E"/>
            </a:solidFill>
            <a:ln w="19050">
              <a:solidFill>
                <a:srgbClr val="4EC9B0"/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algn="ctr"/>
              <a:r>
                <a:rPr lang="en-US" sz="1800" b="1" dirty="0">
                  <a:solidFill>
                    <a:srgbClr val="4EC9B0"/>
                  </a:solidFill>
                  <a:latin typeface="Arial"/>
                </a:rPr>
                <a:t>4</a:t>
              </a:r>
            </a:p>
          </p:txBody>
        </p:sp>
        <p:sp>
          <p:nvSpPr>
            <p:cNvPr id="219" name="CText3"/>
            <p:cNvSpPr/>
            <p:nvPr/>
          </p:nvSpPr>
          <p:spPr>
            <a:xfrm>
              <a:off x="6350000" y="5257800"/>
              <a:ext cx="4978400" cy="914400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4000"/>
                </a:lnSpc>
              </a:pPr>
              <a:r>
                <a:rPr lang="en-US" sz="1700" dirty="0">
                  <a:solidFill>
                    <a:srgbClr val="FFFFFF"/>
                  </a:solidFill>
                  <a:latin typeface="Arial"/>
                </a:rPr>
                <a:t>Took until 2009 to win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22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ck"/>
          <p:cNvSpPr/>
          <p:nvPr/>
        </p:nvSpPr>
        <p:spPr>
          <a:xfrm>
            <a:off x="609600" y="914400"/>
            <a:ext cx="812800" cy="76200"/>
          </a:xfrm>
          <a:prstGeom prst="rect">
            <a:avLst/>
          </a:prstGeom>
          <a:solidFill>
            <a:srgbClr val="EBA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StoryProg"/>
          <p:cNvSpPr/>
          <p:nvPr/>
        </p:nvSpPr>
        <p:spPr>
          <a:xfrm>
            <a:off x="609600" y="533400"/>
            <a:ext cx="4064000" cy="279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1" spc="200" dirty="0">
                <a:solidFill>
                  <a:srgbClr val="4EC9B0"/>
                </a:solidFill>
                <a:latin typeface="Arial"/>
              </a:rPr>
              <a:t>THE STORY OF SPARK</a:t>
            </a:r>
            <a:r>
              <a:rPr lang="en-US" sz="1400" spc="200" dirty="0">
                <a:solidFill>
                  <a:srgbClr val="CCCCCC"/>
                </a:solidFill>
                <a:latin typeface="Arial"/>
              </a:rPr>
              <a:t>   ·   2 of 3</a:t>
            </a:r>
          </a:p>
        </p:txBody>
      </p:sp>
      <p:sp>
        <p:nvSpPr>
          <p:cNvPr id="202" name="CueTitle"/>
          <p:cNvSpPr/>
          <p:nvPr/>
        </p:nvSpPr>
        <p:spPr>
          <a:xfrm>
            <a:off x="609600" y="1371600"/>
            <a:ext cx="4064000" cy="457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Couldn't the </a:t>
            </a:r>
            <a:r>
              <a:rPr lang="en-US" sz="4000" b="1" dirty="0">
                <a:solidFill>
                  <a:srgbClr val="EBA000"/>
                </a:solidFill>
                <a:latin typeface="Arial"/>
              </a:rPr>
              <a:t>Elephant*</a:t>
            </a:r>
            <a:r>
              <a:rPr lang="en-US" sz="4000" b="1" dirty="0">
                <a:solidFill>
                  <a:srgbClr val="FFFFFF"/>
                </a:solidFill>
                <a:latin typeface="Arial"/>
              </a:rPr>
              <a:t> Help?</a:t>
            </a:r>
          </a:p>
          <a:p>
            <a:pPr algn="l">
              <a:spcBef>
                <a:spcPts val="1200"/>
              </a:spcBef>
            </a:pPr>
            <a:r>
              <a:rPr lang="en-US" sz="1400" i="1" dirty="0">
                <a:solidFill>
                  <a:srgbClr val="CCCCCC"/>
                </a:solidFill>
                <a:latin typeface="Arial"/>
              </a:rPr>
              <a:t>* Elephant = Hadoop</a:t>
            </a:r>
          </a:p>
        </p:txBody>
      </p:sp>
      <p:sp>
        <p:nvSpPr>
          <p:cNvPr id="203" name="Eyebrow"/>
          <p:cNvSpPr/>
          <p:nvPr/>
        </p:nvSpPr>
        <p:spPr>
          <a:xfrm>
            <a:off x="5334000" y="558800"/>
            <a:ext cx="6248400" cy="38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 dirty="0">
                <a:solidFill>
                  <a:srgbClr val="4EC9B0"/>
                </a:solidFill>
                <a:latin typeface="Arial"/>
              </a:rPr>
              <a:t>Hadoop's Limits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E9B06C-EFE0-B427-9E8C-3741911738DE}"/>
              </a:ext>
            </a:extLst>
          </p:cNvPr>
          <p:cNvGrpSpPr/>
          <p:nvPr/>
        </p:nvGrpSpPr>
        <p:grpSpPr>
          <a:xfrm>
            <a:off x="5334000" y="1168400"/>
            <a:ext cx="6248400" cy="1168400"/>
            <a:chOff x="5334000" y="1168400"/>
            <a:chExt cx="6248400" cy="1168400"/>
          </a:xfrm>
        </p:grpSpPr>
        <p:sp>
          <p:nvSpPr>
            <p:cNvPr id="204" name="CCard0"/>
            <p:cNvSpPr/>
            <p:nvPr/>
          </p:nvSpPr>
          <p:spPr>
            <a:xfrm>
              <a:off x="5334000" y="1168400"/>
              <a:ext cx="6248400" cy="1168400"/>
            </a:xfrm>
            <a:prstGeom prst="roundRect">
              <a:avLst>
                <a:gd name="adj" fmla="val 8000"/>
              </a:avLst>
            </a:prstGeom>
            <a:solidFill>
              <a:srgbClr val="2A2A2A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" name="CStripe0"/>
            <p:cNvSpPr/>
            <p:nvPr/>
          </p:nvSpPr>
          <p:spPr>
            <a:xfrm>
              <a:off x="5334000" y="1168400"/>
              <a:ext cx="76200" cy="1168400"/>
            </a:xfrm>
            <a:prstGeom prst="rect">
              <a:avLst/>
            </a:prstGeom>
            <a:solidFill>
              <a:srgbClr val="4EC9B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" name="CBadge0"/>
            <p:cNvSpPr/>
            <p:nvPr/>
          </p:nvSpPr>
          <p:spPr>
            <a:xfrm>
              <a:off x="5613400" y="1498600"/>
              <a:ext cx="508000" cy="508000"/>
            </a:xfrm>
            <a:prstGeom prst="ellipse">
              <a:avLst/>
            </a:prstGeom>
            <a:solidFill>
              <a:srgbClr val="1E1E1E"/>
            </a:solidFill>
            <a:ln w="19050">
              <a:solidFill>
                <a:srgbClr val="4EC9B0"/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algn="ctr"/>
              <a:r>
                <a:rPr lang="en-US" sz="1800" b="1" dirty="0">
                  <a:solidFill>
                    <a:srgbClr val="4EC9B0"/>
                  </a:solidFill>
                  <a:latin typeface="Arial"/>
                </a:rPr>
                <a:t>1</a:t>
              </a:r>
            </a:p>
          </p:txBody>
        </p:sp>
        <p:sp>
          <p:nvSpPr>
            <p:cNvPr id="207" name="CText0"/>
            <p:cNvSpPr/>
            <p:nvPr/>
          </p:nvSpPr>
          <p:spPr>
            <a:xfrm>
              <a:off x="6350000" y="1295400"/>
              <a:ext cx="4978400" cy="914400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4000"/>
                </a:lnSpc>
              </a:pPr>
              <a:r>
                <a:rPr lang="en-US" sz="1700" dirty="0">
                  <a:solidFill>
                    <a:srgbClr val="FFFFFF"/>
                  </a:solidFill>
                  <a:latin typeface="Arial"/>
                </a:rPr>
                <a:t>Hadoop wasn't built for ML — every iteration re-reads from disk</a:t>
              </a:r>
            </a:p>
          </p:txBody>
        </p:sp>
      </p:grpSp>
      <p:sp>
        <p:nvSpPr>
          <p:cNvPr id="208" name="CCard1"/>
          <p:cNvSpPr/>
          <p:nvPr/>
        </p:nvSpPr>
        <p:spPr>
          <a:xfrm>
            <a:off x="5334000" y="2489200"/>
            <a:ext cx="6248400" cy="116840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9" name="CStripe1"/>
          <p:cNvSpPr/>
          <p:nvPr/>
        </p:nvSpPr>
        <p:spPr>
          <a:xfrm>
            <a:off x="5334000" y="2489200"/>
            <a:ext cx="76200" cy="1168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" name="CBadge1"/>
          <p:cNvSpPr/>
          <p:nvPr/>
        </p:nvSpPr>
        <p:spPr>
          <a:xfrm>
            <a:off x="5613400" y="2819400"/>
            <a:ext cx="508000" cy="50800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4EC9B0"/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4EC9B0"/>
                </a:solidFill>
                <a:latin typeface="Arial"/>
              </a:rPr>
              <a:t>2</a:t>
            </a:r>
          </a:p>
        </p:txBody>
      </p:sp>
      <p:sp>
        <p:nvSpPr>
          <p:cNvPr id="211" name="CText1"/>
          <p:cNvSpPr/>
          <p:nvPr/>
        </p:nvSpPr>
        <p:spPr>
          <a:xfrm>
            <a:off x="6350000" y="2616200"/>
            <a:ext cx="4978400" cy="9144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1700" dirty="0">
                <a:solidFill>
                  <a:srgbClr val="FFFFFF"/>
                </a:solidFill>
                <a:latin typeface="Arial"/>
              </a:rPr>
              <a:t>Iterative algorithms needed a faster execution model</a:t>
            </a:r>
          </a:p>
        </p:txBody>
      </p:sp>
      <p:sp>
        <p:nvSpPr>
          <p:cNvPr id="212" name="CCard2"/>
          <p:cNvSpPr/>
          <p:nvPr/>
        </p:nvSpPr>
        <p:spPr>
          <a:xfrm>
            <a:off x="5334000" y="3810000"/>
            <a:ext cx="6248400" cy="116840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3" name="CStripe2"/>
          <p:cNvSpPr/>
          <p:nvPr/>
        </p:nvSpPr>
        <p:spPr>
          <a:xfrm>
            <a:off x="5334000" y="3810000"/>
            <a:ext cx="76200" cy="1168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4" name="CBadge2"/>
          <p:cNvSpPr/>
          <p:nvPr/>
        </p:nvSpPr>
        <p:spPr>
          <a:xfrm>
            <a:off x="5613400" y="4140200"/>
            <a:ext cx="508000" cy="50800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4EC9B0"/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4EC9B0"/>
                </a:solidFill>
                <a:latin typeface="Arial"/>
              </a:rPr>
              <a:t>3</a:t>
            </a:r>
          </a:p>
        </p:txBody>
      </p:sp>
      <p:sp>
        <p:nvSpPr>
          <p:cNvPr id="215" name="CText2"/>
          <p:cNvSpPr/>
          <p:nvPr/>
        </p:nvSpPr>
        <p:spPr>
          <a:xfrm>
            <a:off x="6350000" y="3937000"/>
            <a:ext cx="4978400" cy="9144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1700" dirty="0">
                <a:solidFill>
                  <a:srgbClr val="FFFFFF"/>
                </a:solidFill>
                <a:latin typeface="Arial"/>
              </a:rPr>
              <a:t>The shift: keep data in-memory instead of writing to disk each pass</a:t>
            </a:r>
          </a:p>
        </p:txBody>
      </p:sp>
      <p:sp>
        <p:nvSpPr>
          <p:cNvPr id="216" name="CCard3"/>
          <p:cNvSpPr/>
          <p:nvPr/>
        </p:nvSpPr>
        <p:spPr>
          <a:xfrm>
            <a:off x="5334000" y="5130800"/>
            <a:ext cx="6248400" cy="116840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CStripe3"/>
          <p:cNvSpPr/>
          <p:nvPr/>
        </p:nvSpPr>
        <p:spPr>
          <a:xfrm>
            <a:off x="5334000" y="5130800"/>
            <a:ext cx="76200" cy="1168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8" name="CBadge3"/>
          <p:cNvSpPr/>
          <p:nvPr/>
        </p:nvSpPr>
        <p:spPr>
          <a:xfrm>
            <a:off x="5613400" y="5461000"/>
            <a:ext cx="508000" cy="50800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4EC9B0"/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4EC9B0"/>
                </a:solidFill>
                <a:latin typeface="Arial"/>
              </a:rPr>
              <a:t>4</a:t>
            </a:r>
          </a:p>
        </p:txBody>
      </p:sp>
      <p:sp>
        <p:nvSpPr>
          <p:cNvPr id="219" name="CText3"/>
          <p:cNvSpPr/>
          <p:nvPr/>
        </p:nvSpPr>
        <p:spPr>
          <a:xfrm>
            <a:off x="6350000" y="5257800"/>
            <a:ext cx="4978400" cy="9144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1700" dirty="0">
                <a:solidFill>
                  <a:srgbClr val="FFFFFF"/>
                </a:solidFill>
                <a:latin typeface="Arial"/>
              </a:rPr>
              <a:t>Like Analysis Services moving from Multidimensional to Tabular</a:t>
            </a:r>
          </a:p>
        </p:txBody>
      </p:sp>
    </p:spTree>
    <p:extLst>
      <p:ext uri="{BB962C8B-B14F-4D97-AF65-F5344CB8AC3E}">
        <p14:creationId xmlns:p14="http://schemas.microsoft.com/office/powerpoint/2010/main" val="694830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" grpId="0" animBg="1"/>
      <p:bldP spid="209" grpId="0" animBg="1"/>
      <p:bldP spid="210" grpId="0" animBg="1"/>
      <p:bldP spid="211" grpId="0"/>
      <p:bldP spid="212" grpId="0" animBg="1"/>
      <p:bldP spid="213" grpId="0" animBg="1"/>
      <p:bldP spid="214" grpId="0" animBg="1"/>
      <p:bldP spid="215" grpId="0"/>
      <p:bldP spid="216" grpId="0" animBg="1"/>
      <p:bldP spid="217" grpId="0" animBg="1"/>
      <p:bldP spid="218" grpId="0" animBg="1"/>
      <p:bldP spid="2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ck"/>
          <p:cNvSpPr/>
          <p:nvPr/>
        </p:nvSpPr>
        <p:spPr>
          <a:xfrm>
            <a:off x="609600" y="914400"/>
            <a:ext cx="812800" cy="76200"/>
          </a:xfrm>
          <a:prstGeom prst="rect">
            <a:avLst/>
          </a:prstGeom>
          <a:solidFill>
            <a:srgbClr val="EBA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StoryProg"/>
          <p:cNvSpPr/>
          <p:nvPr/>
        </p:nvSpPr>
        <p:spPr>
          <a:xfrm>
            <a:off x="609600" y="533400"/>
            <a:ext cx="4064000" cy="279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1" spc="200" dirty="0">
                <a:solidFill>
                  <a:srgbClr val="4EC9B0"/>
                </a:solidFill>
                <a:latin typeface="Arial"/>
              </a:rPr>
              <a:t>THE STORY OF SPARK</a:t>
            </a:r>
            <a:r>
              <a:rPr lang="en-US" sz="1400" spc="200" dirty="0">
                <a:solidFill>
                  <a:srgbClr val="CCCCCC"/>
                </a:solidFill>
                <a:latin typeface="Arial"/>
              </a:rPr>
              <a:t>   ·   3 of 3</a:t>
            </a:r>
          </a:p>
        </p:txBody>
      </p:sp>
      <p:sp>
        <p:nvSpPr>
          <p:cNvPr id="202" name="CueTitle"/>
          <p:cNvSpPr/>
          <p:nvPr/>
        </p:nvSpPr>
        <p:spPr>
          <a:xfrm>
            <a:off x="609600" y="1371600"/>
            <a:ext cx="4064000" cy="457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Flashbacks of submitting homework </a:t>
            </a:r>
            <a:r>
              <a:rPr lang="en-US" sz="4000" b="1" dirty="0">
                <a:solidFill>
                  <a:srgbClr val="EBA000"/>
                </a:solidFill>
                <a:latin typeface="Arial"/>
              </a:rPr>
              <a:t>digitally</a:t>
            </a:r>
          </a:p>
        </p:txBody>
      </p:sp>
      <p:sp>
        <p:nvSpPr>
          <p:cNvPr id="203" name="Eyebrow"/>
          <p:cNvSpPr/>
          <p:nvPr/>
        </p:nvSpPr>
        <p:spPr>
          <a:xfrm>
            <a:off x="5334000" y="558800"/>
            <a:ext cx="6248400" cy="38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 dirty="0">
                <a:solidFill>
                  <a:srgbClr val="4EC9B0"/>
                </a:solidFill>
                <a:latin typeface="Arial"/>
              </a:rPr>
              <a:t>The 20-Minute Miss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E9B06C-EFE0-B427-9E8C-3741911738DE}"/>
              </a:ext>
            </a:extLst>
          </p:cNvPr>
          <p:cNvGrpSpPr/>
          <p:nvPr/>
        </p:nvGrpSpPr>
        <p:grpSpPr>
          <a:xfrm>
            <a:off x="5334000" y="1168400"/>
            <a:ext cx="6248400" cy="1168400"/>
            <a:chOff x="5334000" y="1168400"/>
            <a:chExt cx="6248400" cy="1168400"/>
          </a:xfrm>
        </p:grpSpPr>
        <p:sp>
          <p:nvSpPr>
            <p:cNvPr id="204" name="CCard0"/>
            <p:cNvSpPr/>
            <p:nvPr/>
          </p:nvSpPr>
          <p:spPr>
            <a:xfrm>
              <a:off x="5334000" y="1168400"/>
              <a:ext cx="6248400" cy="1168400"/>
            </a:xfrm>
            <a:prstGeom prst="roundRect">
              <a:avLst>
                <a:gd name="adj" fmla="val 8000"/>
              </a:avLst>
            </a:prstGeom>
            <a:solidFill>
              <a:srgbClr val="2A2A2A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" name="CStripe0"/>
            <p:cNvSpPr/>
            <p:nvPr/>
          </p:nvSpPr>
          <p:spPr>
            <a:xfrm>
              <a:off x="5334000" y="1168400"/>
              <a:ext cx="76200" cy="1168400"/>
            </a:xfrm>
            <a:prstGeom prst="rect">
              <a:avLst/>
            </a:prstGeom>
            <a:solidFill>
              <a:srgbClr val="4EC9B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" name="CBadge0"/>
            <p:cNvSpPr/>
            <p:nvPr/>
          </p:nvSpPr>
          <p:spPr>
            <a:xfrm>
              <a:off x="5613400" y="1498600"/>
              <a:ext cx="508000" cy="508000"/>
            </a:xfrm>
            <a:prstGeom prst="ellipse">
              <a:avLst/>
            </a:prstGeom>
            <a:solidFill>
              <a:srgbClr val="1E1E1E"/>
            </a:solidFill>
            <a:ln w="19050">
              <a:solidFill>
                <a:srgbClr val="4EC9B0"/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algn="ctr"/>
              <a:r>
                <a:rPr lang="en-US" sz="1800" b="1" dirty="0">
                  <a:solidFill>
                    <a:srgbClr val="4EC9B0"/>
                  </a:solidFill>
                  <a:latin typeface="Arial"/>
                </a:rPr>
                <a:t>1</a:t>
              </a:r>
            </a:p>
          </p:txBody>
        </p:sp>
        <p:sp>
          <p:nvSpPr>
            <p:cNvPr id="207" name="CText0"/>
            <p:cNvSpPr/>
            <p:nvPr/>
          </p:nvSpPr>
          <p:spPr>
            <a:xfrm>
              <a:off x="6350000" y="1295400"/>
              <a:ext cx="4978400" cy="914400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4000"/>
                </a:lnSpc>
              </a:pPr>
              <a:r>
                <a:rPr lang="en-US" sz="1700" dirty="0">
                  <a:solidFill>
                    <a:srgbClr val="FFFFFF"/>
                  </a:solidFill>
                  <a:latin typeface="Arial"/>
                </a:rPr>
                <a:t>Front runner: BellKor's Pragmatic Chaos</a:t>
              </a:r>
            </a:p>
          </p:txBody>
        </p:sp>
      </p:grpSp>
      <p:sp>
        <p:nvSpPr>
          <p:cNvPr id="208" name="CCard1"/>
          <p:cNvSpPr/>
          <p:nvPr/>
        </p:nvSpPr>
        <p:spPr>
          <a:xfrm>
            <a:off x="5334000" y="2489200"/>
            <a:ext cx="6248400" cy="116840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9" name="CStripe1"/>
          <p:cNvSpPr/>
          <p:nvPr/>
        </p:nvSpPr>
        <p:spPr>
          <a:xfrm>
            <a:off x="5334000" y="2489200"/>
            <a:ext cx="76200" cy="1168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" name="CBadge1"/>
          <p:cNvSpPr/>
          <p:nvPr/>
        </p:nvSpPr>
        <p:spPr>
          <a:xfrm>
            <a:off x="5613400" y="2819400"/>
            <a:ext cx="508000" cy="50800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4EC9B0"/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4EC9B0"/>
                </a:solidFill>
                <a:latin typeface="Arial"/>
              </a:rPr>
              <a:t>2</a:t>
            </a:r>
          </a:p>
        </p:txBody>
      </p:sp>
      <p:sp>
        <p:nvSpPr>
          <p:cNvPr id="211" name="CText1"/>
          <p:cNvSpPr/>
          <p:nvPr/>
        </p:nvSpPr>
        <p:spPr>
          <a:xfrm>
            <a:off x="6350000" y="2616200"/>
            <a:ext cx="4978400" cy="9144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1700" dirty="0">
                <a:solidFill>
                  <a:srgbClr val="FFFFFF"/>
                </a:solidFill>
                <a:latin typeface="Arial"/>
              </a:rPr>
              <a:t>A merger of teams from AT&amp;T Labs and Commendo Research</a:t>
            </a:r>
          </a:p>
        </p:txBody>
      </p:sp>
      <p:sp>
        <p:nvSpPr>
          <p:cNvPr id="212" name="CCard2"/>
          <p:cNvSpPr/>
          <p:nvPr/>
        </p:nvSpPr>
        <p:spPr>
          <a:xfrm>
            <a:off x="5334000" y="3810000"/>
            <a:ext cx="6248400" cy="116840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3" name="CStripe2"/>
          <p:cNvSpPr/>
          <p:nvPr/>
        </p:nvSpPr>
        <p:spPr>
          <a:xfrm>
            <a:off x="5334000" y="3810000"/>
            <a:ext cx="76200" cy="1168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4" name="CBadge2"/>
          <p:cNvSpPr/>
          <p:nvPr/>
        </p:nvSpPr>
        <p:spPr>
          <a:xfrm>
            <a:off x="5613400" y="4140200"/>
            <a:ext cx="508000" cy="50800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4EC9B0"/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4EC9B0"/>
                </a:solidFill>
                <a:latin typeface="Arial"/>
              </a:rPr>
              <a:t>3</a:t>
            </a:r>
          </a:p>
        </p:txBody>
      </p:sp>
      <p:sp>
        <p:nvSpPr>
          <p:cNvPr id="215" name="CText2"/>
          <p:cNvSpPr/>
          <p:nvPr/>
        </p:nvSpPr>
        <p:spPr>
          <a:xfrm>
            <a:off x="6350000" y="3937000"/>
            <a:ext cx="4978400" cy="9144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1700" dirty="0">
                <a:solidFill>
                  <a:srgbClr val="FFFFFF"/>
                </a:solidFill>
                <a:latin typeface="Arial"/>
              </a:rPr>
              <a:t>July 26, 2009 — two teams finally met the minimum requirements</a:t>
            </a:r>
          </a:p>
        </p:txBody>
      </p:sp>
      <p:sp>
        <p:nvSpPr>
          <p:cNvPr id="216" name="CCard3"/>
          <p:cNvSpPr/>
          <p:nvPr/>
        </p:nvSpPr>
        <p:spPr>
          <a:xfrm>
            <a:off x="5334000" y="5130800"/>
            <a:ext cx="6248400" cy="116840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CStripe3"/>
          <p:cNvSpPr/>
          <p:nvPr/>
        </p:nvSpPr>
        <p:spPr>
          <a:xfrm>
            <a:off x="5334000" y="5130800"/>
            <a:ext cx="76200" cy="1168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8" name="CBadge3"/>
          <p:cNvSpPr/>
          <p:nvPr/>
        </p:nvSpPr>
        <p:spPr>
          <a:xfrm>
            <a:off x="5613400" y="5461000"/>
            <a:ext cx="508000" cy="50800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4EC9B0"/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4EC9B0"/>
                </a:solidFill>
                <a:latin typeface="Arial"/>
              </a:rPr>
              <a:t>4</a:t>
            </a:r>
          </a:p>
        </p:txBody>
      </p:sp>
      <p:sp>
        <p:nvSpPr>
          <p:cNvPr id="219" name="CText3"/>
          <p:cNvSpPr/>
          <p:nvPr/>
        </p:nvSpPr>
        <p:spPr>
          <a:xfrm>
            <a:off x="6350000" y="5257800"/>
            <a:ext cx="4978400" cy="9144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1700" dirty="0">
                <a:solidFill>
                  <a:srgbClr val="FFFFFF"/>
                </a:solidFill>
                <a:latin typeface="Arial"/>
              </a:rPr>
              <a:t>The Ensemble (Spark) had the better score — but submitted 20 minutes too late</a:t>
            </a:r>
          </a:p>
        </p:txBody>
      </p:sp>
    </p:spTree>
    <p:extLst>
      <p:ext uri="{BB962C8B-B14F-4D97-AF65-F5344CB8AC3E}">
        <p14:creationId xmlns:p14="http://schemas.microsoft.com/office/powerpoint/2010/main" val="2817851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" grpId="0" animBg="1"/>
      <p:bldP spid="209" grpId="0" animBg="1"/>
      <p:bldP spid="210" grpId="0" animBg="1"/>
      <p:bldP spid="211" grpId="0"/>
      <p:bldP spid="212" grpId="0" animBg="1"/>
      <p:bldP spid="213" grpId="0" animBg="1"/>
      <p:bldP spid="214" grpId="0" animBg="1"/>
      <p:bldP spid="215" grpId="0"/>
      <p:bldP spid="216" grpId="0" animBg="1"/>
      <p:bldP spid="217" grpId="0" animBg="1"/>
      <p:bldP spid="218" grpId="0" animBg="1"/>
      <p:bldP spid="2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4611FF-8AC6-121D-1214-49A463060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F6FD403-1CA7-3AC8-84A5-D881DD167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What is Powered by Spark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C08CBE-76A1-6C23-FE2B-F42A96EE6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FFFF"/>
                </a:solidFill>
              </a:rPr>
              <a:t>Microsoft Fabric</a:t>
            </a:r>
          </a:p>
          <a:p>
            <a:pPr>
              <a:buNone/>
            </a:pPr>
            <a:r>
              <a:rPr lang="en-US" sz="3200" b="1" dirty="0">
                <a:solidFill>
                  <a:srgbClr val="FFFFFF"/>
                </a:solidFill>
              </a:rPr>
              <a:t>Azure Databricks</a:t>
            </a:r>
          </a:p>
          <a:p>
            <a:pPr>
              <a:buNone/>
            </a:pPr>
            <a:r>
              <a:rPr lang="en-US" sz="3200" b="1" dirty="0">
                <a:solidFill>
                  <a:srgbClr val="FFFFFF"/>
                </a:solidFill>
              </a:rPr>
              <a:t>Azure Synapse Analytics</a:t>
            </a:r>
          </a:p>
          <a:p>
            <a:pPr>
              <a:buNone/>
            </a:pPr>
            <a:r>
              <a:rPr lang="en-US" sz="3200" b="1" dirty="0">
                <a:solidFill>
                  <a:srgbClr val="FFFFFF"/>
                </a:solidFill>
              </a:rPr>
              <a:t>HDInsight</a:t>
            </a:r>
          </a:p>
          <a:p>
            <a:pPr>
              <a:buNone/>
            </a:pPr>
            <a:r>
              <a:rPr lang="en-US" sz="3200" b="1" dirty="0">
                <a:solidFill>
                  <a:srgbClr val="FFFFFF"/>
                </a:solidFill>
              </a:rPr>
              <a:t>Amazon EMR  ·  Google Dataproc  ·  Snowflake</a:t>
            </a:r>
          </a:p>
          <a:p>
            <a:pPr>
              <a:buNone/>
            </a:pPr>
            <a:r>
              <a:rPr lang="en-US" sz="2000" i="1" dirty="0">
                <a:solidFill>
                  <a:srgbClr val="EBA000"/>
                </a:solidFill>
              </a:rPr>
              <a:t>Plus thousands of in-house data platforms at Netflix, Uber, Pinterest, Shopify…</a:t>
            </a:r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F7501A1F-355C-4856-88C0-9E946EE44BFF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04B917F9-0131-4FE1-B10E-D6BF5DEC5A56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866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9A9E47-4015-3522-67A4-8FE6F4A4C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400" b="1" spc="300" dirty="0">
                <a:solidFill>
                  <a:srgbClr val="4EC9B0"/>
                </a:solidFill>
              </a:rPr>
              <a:t>UP NEXT</a:t>
            </a:r>
          </a:p>
          <a:p>
            <a:pPr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Now let us </a:t>
            </a:r>
            <a:r>
              <a:rPr lang="en-US" sz="4400" b="1" dirty="0">
                <a:solidFill>
                  <a:srgbClr val="EBA000"/>
                </a:solidFill>
              </a:rPr>
              <a:t>install Spark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3767A9-B538-AFDA-E03A-5C320DA26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8D9130-8C5D-065B-9AB0-D0F736D884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" b="62"/>
          <a:stretch/>
        </p:blipFill>
        <p:spPr>
          <a:xfrm>
            <a:off x="5398477" y="508090"/>
            <a:ext cx="6271028" cy="5745379"/>
          </a:xfrm>
          <a:prstGeom prst="rect">
            <a:avLst/>
          </a:prstGeom>
        </p:spPr>
      </p:pic>
      <p:sp>
        <p:nvSpPr>
          <p:cNvPr id="900" name="GoldRuleTop"/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GoldRuleBottom"/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237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9A9E47-4015-3522-67A4-8FE6F4A4C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Installing Spark</a:t>
            </a:r>
          </a:p>
          <a:p>
            <a:r>
              <a:rPr lang="en-US" sz="2400" kern="1200" dirty="0">
                <a:solidFill>
                  <a:srgbClr val="EBA000"/>
                </a:solidFill>
                <a:latin typeface="+mj-lt"/>
                <a:ea typeface="+mj-ea"/>
                <a:cs typeface="+mj-cs"/>
              </a:rPr>
              <a:t>Step 1 of 42</a:t>
            </a:r>
          </a:p>
        </p:txBody>
      </p:sp>
      <p:sp>
        <p:nvSpPr>
          <p:cNvPr id="900" name="GoldRuleTop"/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GoldRuleBottom"/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5E7790-85D7-7D30-9F5A-9074555B5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0431" y="0"/>
            <a:ext cx="7471569" cy="685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493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4043DA-70E4-DD35-D213-C62C2A248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97DE049-50D9-F13A-0642-C7895D68C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686300" cy="4826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000" dirty="0">
                <a:solidFill>
                  <a:srgbClr val="FFFFFF"/>
                </a:solidFill>
              </a:rPr>
              <a:t>Wait!</a:t>
            </a:r>
            <a:br>
              <a:rPr lang="en-US" sz="6000" dirty="0">
                <a:solidFill>
                  <a:srgbClr val="FFFFFF"/>
                </a:solidFill>
              </a:rPr>
            </a:br>
            <a:r>
              <a:rPr lang="en-US" sz="6000" dirty="0">
                <a:solidFill>
                  <a:srgbClr val="FFFFFF"/>
                </a:solidFill>
              </a:rPr>
              <a:t>Microsoft Fabric makes this easy</a:t>
            </a:r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11281421-95C8-411C-8C63-9A8AF034FE6D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7953B83D-1FAF-48AC-AC37-3B4C5638D086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2A641F-B008-67A3-6F4C-146B71DA6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97500" y="510143"/>
            <a:ext cx="6273800" cy="590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867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40546C-5484-4135-C48F-F20E33ED6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1013D00-50D4-F95E-40A0-32B7FC358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1778000"/>
            <a:ext cx="11155680" cy="2794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8800" dirty="0">
                <a:solidFill>
                  <a:srgbClr val="FFFFFF"/>
                </a:solidFill>
              </a:rPr>
              <a:t>Notebooks in Microsoft Fabric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470A5B-4589-FA7B-E9BB-E3509AD1A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4826000"/>
            <a:ext cx="11155680" cy="12700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3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Built for Microsoft Fabric.</a:t>
            </a:r>
          </a:p>
          <a:p>
            <a:pPr marL="0" indent="0">
              <a:buNone/>
            </a:pPr>
            <a:r>
              <a:rPr lang="en-US" sz="2000" i="1" kern="1200" dirty="0">
                <a:solidFill>
                  <a:srgbClr val="EBA000"/>
                </a:solidFill>
                <a:latin typeface="+mn-lt"/>
                <a:ea typeface="+mn-ea"/>
                <a:cs typeface="+mn-cs"/>
              </a:rPr>
              <a:t>The Spark fundamentals you'll learn are portable.</a:t>
            </a:r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8A3353F0-1720-47B2-90A4-CDAF45E010C4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6CF4F8BC-4503-4A13-9F36-859140110BA3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104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F07687-3D45-9480-908C-3B95354C7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D658A52-B4E9-8852-D526-2984FDA5C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Fabric in Visual Studio Code</a:t>
            </a:r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49FBA943-8F7D-4164-8CE9-78B16231798D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093D6F9A-8493-4CA1-BCD1-C602BA12B13F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044A89D-CD8A-AE7E-99DE-09EE609342FB}"/>
              </a:ext>
            </a:extLst>
          </p:cNvPr>
          <p:cNvGrpSpPr/>
          <p:nvPr/>
        </p:nvGrpSpPr>
        <p:grpSpPr>
          <a:xfrm>
            <a:off x="520700" y="2730500"/>
            <a:ext cx="2590800" cy="3390900"/>
            <a:chOff x="520700" y="2730500"/>
            <a:chExt cx="2590800" cy="33909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EE368DF-47C1-424D-B784-0BCF0AA78944}"/>
                </a:ext>
              </a:extLst>
            </p:cNvPr>
            <p:cNvSpPr/>
            <p:nvPr/>
          </p:nvSpPr>
          <p:spPr>
            <a:xfrm>
              <a:off x="1308100" y="2730500"/>
              <a:ext cx="1016000" cy="1016000"/>
            </a:xfrm>
            <a:prstGeom prst="ellipse">
              <a:avLst/>
            </a:prstGeom>
            <a:solidFill>
              <a:srgbClr val="EBA000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B99F922-6787-45C6-BED5-D269801CEF67}"/>
                </a:ext>
              </a:extLst>
            </p:cNvPr>
            <p:cNvSpPr txBox="1"/>
            <p:nvPr/>
          </p:nvSpPr>
          <p:spPr>
            <a:xfrm>
              <a:off x="520700" y="4000500"/>
              <a:ext cx="25908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noAutofit/>
            </a:bodyPr>
            <a:lstStyle/>
            <a:p>
              <a:pPr algn="l"/>
              <a:r>
                <a:rPr lang="en-US" b="1" dirty="0">
                  <a:solidFill>
                    <a:srgbClr val="FFFFFF"/>
                  </a:solidFill>
                </a:rPr>
                <a:t>Familiar IDE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A84B096-15E8-418B-A894-60E96D79B984}"/>
                </a:ext>
              </a:extLst>
            </p:cNvPr>
            <p:cNvSpPr txBox="1"/>
            <p:nvPr/>
          </p:nvSpPr>
          <p:spPr>
            <a:xfrm>
              <a:off x="520700" y="4470400"/>
              <a:ext cx="2590800" cy="16510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noAutofit/>
            </a:bodyPr>
            <a:lstStyle/>
            <a:p>
              <a:pPr algn="l"/>
              <a:r>
                <a:rPr lang="en-US" sz="1400" dirty="0">
                  <a:solidFill>
                    <a:srgbClr val="FFFFFF"/>
                  </a:solidFill>
                </a:rPr>
                <a:t>Stay in the editor your team already uses — no new tool to learn.</a:t>
              </a:r>
            </a:p>
          </p:txBody>
        </p:sp>
        <p:pic>
          <p:nvPicPr>
            <p:cNvPr id="18" name="Graphic 18" descr="Familiar IDE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98600" y="2921000"/>
              <a:ext cx="635000" cy="635000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DBD2FE9-B02A-4848-7D0C-32801D6CBA5D}"/>
              </a:ext>
            </a:extLst>
          </p:cNvPr>
          <p:cNvGrpSpPr/>
          <p:nvPr/>
        </p:nvGrpSpPr>
        <p:grpSpPr>
          <a:xfrm>
            <a:off x="3378200" y="2730500"/>
            <a:ext cx="2590800" cy="3390900"/>
            <a:chOff x="3378200" y="2730500"/>
            <a:chExt cx="2590800" cy="33909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A622934-B041-4706-BD10-43084D80D1DD}"/>
                </a:ext>
              </a:extLst>
            </p:cNvPr>
            <p:cNvSpPr/>
            <p:nvPr/>
          </p:nvSpPr>
          <p:spPr>
            <a:xfrm>
              <a:off x="4165600" y="2730500"/>
              <a:ext cx="1016000" cy="1016000"/>
            </a:xfrm>
            <a:prstGeom prst="ellipse">
              <a:avLst/>
            </a:prstGeom>
            <a:solidFill>
              <a:srgbClr val="EBA000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F989C9A-FF1C-4117-B99B-24CA687C15CD}"/>
                </a:ext>
              </a:extLst>
            </p:cNvPr>
            <p:cNvSpPr txBox="1"/>
            <p:nvPr/>
          </p:nvSpPr>
          <p:spPr>
            <a:xfrm>
              <a:off x="3378200" y="4000500"/>
              <a:ext cx="25908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noAutofit/>
            </a:bodyPr>
            <a:lstStyle/>
            <a:p>
              <a:pPr algn="l"/>
              <a:r>
                <a:rPr lang="en-US" b="1">
                  <a:solidFill>
                    <a:srgbClr val="FFFFFF"/>
                  </a:solidFill>
                </a:rPr>
                <a:t>GitHub Copilot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BCA6D0-2E1C-4276-8723-D2FCD4D1D88D}"/>
                </a:ext>
              </a:extLst>
            </p:cNvPr>
            <p:cNvSpPr txBox="1"/>
            <p:nvPr/>
          </p:nvSpPr>
          <p:spPr>
            <a:xfrm>
              <a:off x="3378200" y="4470400"/>
              <a:ext cx="2590800" cy="16510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noAutofit/>
            </a:bodyPr>
            <a:lstStyle/>
            <a:p>
              <a:pPr algn="l"/>
              <a:r>
                <a:rPr lang="en-US" sz="1400">
                  <a:solidFill>
                    <a:srgbClr val="FFFFFF"/>
                  </a:solidFill>
                </a:rPr>
                <a:t>AI-assisted authoring for PySpark, SQL, and notebook code.</a:t>
              </a:r>
            </a:p>
          </p:txBody>
        </p:sp>
        <p:pic>
          <p:nvPicPr>
            <p:cNvPr id="19" name="Graphic 19" descr="GitHub Copilot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356100" y="2921000"/>
              <a:ext cx="635000" cy="6350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CE7EFA6-0586-56EB-D468-B8538A6BD87C}"/>
              </a:ext>
            </a:extLst>
          </p:cNvPr>
          <p:cNvGrpSpPr/>
          <p:nvPr/>
        </p:nvGrpSpPr>
        <p:grpSpPr>
          <a:xfrm>
            <a:off x="6235700" y="2730500"/>
            <a:ext cx="2590800" cy="3390900"/>
            <a:chOff x="6235700" y="2730500"/>
            <a:chExt cx="2590800" cy="33909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DDCA27B-D91D-44CC-843E-FF65A8313F65}"/>
                </a:ext>
              </a:extLst>
            </p:cNvPr>
            <p:cNvSpPr/>
            <p:nvPr/>
          </p:nvSpPr>
          <p:spPr>
            <a:xfrm>
              <a:off x="7023100" y="2730500"/>
              <a:ext cx="1016000" cy="1016000"/>
            </a:xfrm>
            <a:prstGeom prst="ellipse">
              <a:avLst/>
            </a:prstGeom>
            <a:solidFill>
              <a:srgbClr val="EBA000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B0E3D55-E5EB-428B-8A8A-6DB9AF498960}"/>
                </a:ext>
              </a:extLst>
            </p:cNvPr>
            <p:cNvSpPr txBox="1"/>
            <p:nvPr/>
          </p:nvSpPr>
          <p:spPr>
            <a:xfrm>
              <a:off x="6235700" y="4000500"/>
              <a:ext cx="25908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noAutofit/>
            </a:bodyPr>
            <a:lstStyle/>
            <a:p>
              <a:pPr algn="l"/>
              <a:r>
                <a:rPr lang="en-US" b="1">
                  <a:solidFill>
                    <a:srgbClr val="FFFFFF"/>
                  </a:solidFill>
                </a:rPr>
                <a:t>Notebooks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280D4FD-2ADD-4875-B96A-260A861FA2F0}"/>
                </a:ext>
              </a:extLst>
            </p:cNvPr>
            <p:cNvSpPr txBox="1"/>
            <p:nvPr/>
          </p:nvSpPr>
          <p:spPr>
            <a:xfrm>
              <a:off x="6235700" y="4470400"/>
              <a:ext cx="2590800" cy="16510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noAutofit/>
            </a:bodyPr>
            <a:lstStyle/>
            <a:p>
              <a:pPr algn="l"/>
              <a:r>
                <a:rPr lang="en-US" sz="1400">
                  <a:solidFill>
                    <a:srgbClr val="FFFFFF"/>
                  </a:solidFill>
                </a:rPr>
                <a:t>Author, run, and debug Fabric notebooks with full IDE features.</a:t>
              </a:r>
            </a:p>
          </p:txBody>
        </p:sp>
        <p:pic>
          <p:nvPicPr>
            <p:cNvPr id="20" name="Graphic 20" descr="Notebooks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213600" y="2921000"/>
              <a:ext cx="635000" cy="63500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D516BCD-94EE-0D50-51AA-A3625232B34E}"/>
              </a:ext>
            </a:extLst>
          </p:cNvPr>
          <p:cNvGrpSpPr/>
          <p:nvPr/>
        </p:nvGrpSpPr>
        <p:grpSpPr>
          <a:xfrm>
            <a:off x="9093200" y="2730500"/>
            <a:ext cx="2590800" cy="3390900"/>
            <a:chOff x="9093200" y="2730500"/>
            <a:chExt cx="2590800" cy="33909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A9D5E7B-47D1-485D-BD35-39469B5BEB3D}"/>
                </a:ext>
              </a:extLst>
            </p:cNvPr>
            <p:cNvSpPr/>
            <p:nvPr/>
          </p:nvSpPr>
          <p:spPr>
            <a:xfrm>
              <a:off x="9880600" y="2730500"/>
              <a:ext cx="1016000" cy="1016000"/>
            </a:xfrm>
            <a:prstGeom prst="ellipse">
              <a:avLst/>
            </a:prstGeom>
            <a:solidFill>
              <a:srgbClr val="EBA000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060E381-B665-4965-965A-ED7C62D77B72}"/>
                </a:ext>
              </a:extLst>
            </p:cNvPr>
            <p:cNvSpPr txBox="1"/>
            <p:nvPr/>
          </p:nvSpPr>
          <p:spPr>
            <a:xfrm>
              <a:off x="9093200" y="4000500"/>
              <a:ext cx="25908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noAutofit/>
            </a:bodyPr>
            <a:lstStyle/>
            <a:p>
              <a:pPr algn="l"/>
              <a:r>
                <a:rPr lang="en-US" b="1">
                  <a:solidFill>
                    <a:srgbClr val="FFFFFF"/>
                  </a:solidFill>
                </a:rPr>
                <a:t>Fabric compute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E509E68-5AD2-4FB8-A030-3C5F9AD38AD6}"/>
                </a:ext>
              </a:extLst>
            </p:cNvPr>
            <p:cNvSpPr txBox="1"/>
            <p:nvPr/>
          </p:nvSpPr>
          <p:spPr>
            <a:xfrm>
              <a:off x="9093200" y="4470400"/>
              <a:ext cx="2590800" cy="16510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noAutofit/>
            </a:bodyPr>
            <a:lstStyle/>
            <a:p>
              <a:pPr algn="l"/>
              <a:r>
                <a:rPr lang="en-US" sz="1400">
                  <a:solidFill>
                    <a:srgbClr val="FFFFFF"/>
                  </a:solidFill>
                </a:rPr>
                <a:t>Connect to lakehouses and Spark pools running in Microsoft Fabric.</a:t>
              </a:r>
            </a:p>
          </p:txBody>
        </p:sp>
        <p:pic>
          <p:nvPicPr>
            <p:cNvPr id="21" name="Graphic 21" descr="Fabric compute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071100" y="2921000"/>
              <a:ext cx="635000" cy="635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0770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D352F-D42D-7276-9C47-B63A79E7B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F614743-C199-FBEB-5E51-B7DFE857B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400" b="1" spc="300" dirty="0">
                <a:solidFill>
                  <a:srgbClr val="4EC9B0"/>
                </a:solidFill>
              </a:rPr>
              <a:t>MICROSOFT FABRIC</a:t>
            </a:r>
          </a:p>
          <a:p>
            <a:pPr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Architecture at a </a:t>
            </a:r>
            <a:r>
              <a:rPr lang="en-US" sz="4000" b="1" dirty="0">
                <a:solidFill>
                  <a:srgbClr val="EBA000"/>
                </a:solidFill>
              </a:rPr>
              <a:t>glance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806BEC-A95D-A9D7-57A8-F20C36B93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 algn="l">
              <a:lnSpc>
                <a:spcPct val="115000"/>
              </a:lnSpc>
              <a:spcBef>
                <a:spcPts val="300"/>
              </a:spcBef>
              <a:buClr>
                <a:srgbClr val="EBA000"/>
              </a:buClr>
              <a:buFont typeface="Arial"/>
              <a:buChar char="●"/>
            </a:pPr>
            <a:r>
              <a:rPr lang="en-US" sz="2000" dirty="0">
                <a:solidFill>
                  <a:srgbClr val="FFFFFF"/>
                </a:solidFill>
              </a:rPr>
              <a:t>Data is stored in </a:t>
            </a:r>
            <a:r>
              <a:rPr lang="en-US" sz="2000" b="1" dirty="0">
                <a:solidFill>
                  <a:srgbClr val="EBA000"/>
                </a:solidFill>
              </a:rPr>
              <a:t>OneLake</a:t>
            </a:r>
          </a:p>
          <a:p>
            <a:pPr marL="628650" lvl="1" indent="-228600" algn="l">
              <a:lnSpc>
                <a:spcPct val="115000"/>
              </a:lnSpc>
              <a:spcBef>
                <a:spcPts val="150"/>
              </a:spcBef>
              <a:buClr>
                <a:srgbClr val="4EC9B0"/>
              </a:buClr>
              <a:buFont typeface="Arial"/>
              <a:buChar char="▸"/>
            </a:pPr>
            <a:r>
              <a:rPr lang="en-US" sz="1700" dirty="0">
                <a:solidFill>
                  <a:srgbClr val="CCCCCC"/>
                </a:solidFill>
              </a:rPr>
              <a:t>One copy of your data, accessible by every Fabric experience</a:t>
            </a:r>
          </a:p>
          <a:p>
            <a:pPr marL="285750" indent="-285750" algn="l">
              <a:lnSpc>
                <a:spcPct val="115000"/>
              </a:lnSpc>
              <a:spcBef>
                <a:spcPts val="400"/>
              </a:spcBef>
              <a:buClr>
                <a:srgbClr val="EBA000"/>
              </a:buClr>
              <a:buFont typeface="Arial"/>
              <a:buChar char="●"/>
            </a:pPr>
            <a:r>
              <a:rPr lang="en-US" sz="2000" b="1" dirty="0">
                <a:solidFill>
                  <a:srgbClr val="FFFFFF"/>
                </a:solidFill>
              </a:rPr>
              <a:t>Lakehouse</a:t>
            </a:r>
            <a:r>
              <a:rPr lang="en-US" sz="2000" dirty="0">
                <a:solidFill>
                  <a:srgbClr val="CCCCCC"/>
                </a:solidFill>
              </a:rPr>
              <a:t> — two zones</a:t>
            </a:r>
          </a:p>
          <a:p>
            <a:pPr marL="628650" lvl="1" indent="-228600" algn="l">
              <a:lnSpc>
                <a:spcPct val="115000"/>
              </a:lnSpc>
              <a:spcBef>
                <a:spcPts val="150"/>
              </a:spcBef>
              <a:buClr>
                <a:srgbClr val="4EC9B0"/>
              </a:buClr>
              <a:buFont typeface="Arial"/>
              <a:buChar char="▸"/>
            </a:pPr>
            <a:r>
              <a:rPr lang="en-US" sz="1700" b="1" dirty="0">
                <a:solidFill>
                  <a:srgbClr val="4EC9B0"/>
                </a:solidFill>
                <a:latin typeface="Consolas"/>
              </a:rPr>
              <a:t>Files/</a:t>
            </a:r>
            <a:r>
              <a:rPr lang="en-US" sz="1700" dirty="0">
                <a:solidFill>
                  <a:srgbClr val="CCCCCC"/>
                </a:solidFill>
              </a:rPr>
              <a:t>  unmanaged files (CSV, Parquet, JSON, …)</a:t>
            </a:r>
          </a:p>
          <a:p>
            <a:pPr marL="628650" lvl="1" indent="-228600" algn="l">
              <a:lnSpc>
                <a:spcPct val="115000"/>
              </a:lnSpc>
              <a:spcBef>
                <a:spcPts val="150"/>
              </a:spcBef>
              <a:buClr>
                <a:srgbClr val="4EC9B0"/>
              </a:buClr>
              <a:buFont typeface="Arial"/>
              <a:buChar char="▸"/>
            </a:pPr>
            <a:r>
              <a:rPr lang="en-US" sz="1700" b="1" dirty="0">
                <a:solidFill>
                  <a:srgbClr val="4EC9B0"/>
                </a:solidFill>
                <a:latin typeface="Consolas"/>
              </a:rPr>
              <a:t>Tables/</a:t>
            </a:r>
            <a:r>
              <a:rPr lang="en-US" sz="1700" dirty="0">
                <a:solidFill>
                  <a:srgbClr val="CCCCCC"/>
                </a:solidFill>
              </a:rPr>
              <a:t>  managed Delta tables, queryable via SQL endpoint</a:t>
            </a:r>
          </a:p>
          <a:p>
            <a:pPr marL="285750" indent="-285750" algn="l">
              <a:lnSpc>
                <a:spcPct val="115000"/>
              </a:lnSpc>
              <a:spcBef>
                <a:spcPts val="400"/>
              </a:spcBef>
              <a:buClr>
                <a:srgbClr val="EBA000"/>
              </a:buClr>
              <a:buFont typeface="Arial"/>
              <a:buChar char="●"/>
            </a:pPr>
            <a:r>
              <a:rPr lang="en-US" sz="2000" dirty="0">
                <a:solidFill>
                  <a:srgbClr val="FFFFFF"/>
                </a:solidFill>
              </a:rPr>
              <a:t>Compute reads from OneLake</a:t>
            </a:r>
          </a:p>
          <a:p>
            <a:pPr marL="628650" lvl="1" indent="-228600" algn="l">
              <a:lnSpc>
                <a:spcPct val="115000"/>
              </a:lnSpc>
              <a:spcBef>
                <a:spcPts val="150"/>
              </a:spcBef>
              <a:buClr>
                <a:srgbClr val="4EC9B0"/>
              </a:buClr>
              <a:buFont typeface="Arial"/>
              <a:buChar char="▸"/>
            </a:pPr>
            <a:r>
              <a:rPr lang="en-US" sz="1700" dirty="0">
                <a:solidFill>
                  <a:srgbClr val="CCCCCC"/>
                </a:solidFill>
              </a:rPr>
              <a:t>Spark notebooks, SQL endpoints, Power BI — all hit the same data</a:t>
            </a:r>
          </a:p>
          <a:p>
            <a:pPr marL="285750" indent="-285750" algn="l">
              <a:lnSpc>
                <a:spcPct val="115000"/>
              </a:lnSpc>
              <a:spcBef>
                <a:spcPts val="400"/>
              </a:spcBef>
              <a:buClr>
                <a:srgbClr val="EBA000"/>
              </a:buClr>
              <a:buFont typeface="Arial"/>
              <a:buChar char="●"/>
            </a:pPr>
            <a:r>
              <a:rPr lang="en-US" sz="2000" dirty="0">
                <a:solidFill>
                  <a:srgbClr val="FFFFFF"/>
                </a:solidFill>
              </a:rPr>
              <a:t>Open formats, no lock-in</a:t>
            </a:r>
          </a:p>
          <a:p>
            <a:pPr marL="628650" lvl="1" indent="-228600" algn="l">
              <a:lnSpc>
                <a:spcPct val="115000"/>
              </a:lnSpc>
              <a:spcBef>
                <a:spcPts val="150"/>
              </a:spcBef>
              <a:buClr>
                <a:srgbClr val="4EC9B0"/>
              </a:buClr>
              <a:buFont typeface="Arial"/>
              <a:buChar char="▸"/>
            </a:pPr>
            <a:r>
              <a:rPr lang="en-US" sz="1700" dirty="0">
                <a:solidFill>
                  <a:srgbClr val="CCCCCC"/>
                </a:solidFill>
              </a:rPr>
              <a:t>Delta Lake + Parquet — readable by any tool that speaks them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500" i="1" dirty="0">
                <a:solidFill>
                  <a:srgbClr val="EBA000"/>
                </a:solidFill>
              </a:rPr>
              <a:t>Next slide: how all this fits together, visually.</a:t>
            </a:r>
          </a:p>
        </p:txBody>
      </p:sp>
      <p:sp>
        <p:nvSpPr>
          <p:cNvPr id="500" name="GoldRuleTop"/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1" name="OrangeBrush"/>
          <p:cNvSpPr/>
          <p:nvPr/>
        </p:nvSpPr>
        <p:spPr>
          <a:xfrm>
            <a:off x="520700" y="2260600"/>
            <a:ext cx="1524000" cy="63500"/>
          </a:xfrm>
          <a:prstGeom prst="rect">
            <a:avLst/>
          </a:prstGeom>
          <a:solidFill>
            <a:srgbClr val="FE5D2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2" name="GoldRuleBottom"/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221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A6A48-357F-5CB6-1E2F-794E696D7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459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</a:rPr>
              <a:t>OneLake — “The OneDrive for Your Data”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A81F8D-430A-BDA9-DD99-02D6E7E68E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866919" y="694595"/>
            <a:ext cx="10458162" cy="587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8244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3D6072-77B2-9D55-32C1-B4B6233B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462FFE-4FCC-5CFF-873A-EEFD29189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pPr algn="l">
              <a:lnSpc>
                <a:spcPct val="95000"/>
              </a:lnSpc>
            </a:pPr>
            <a:r>
              <a:rPr lang="en-US" sz="4000" b="1" dirty="0">
                <a:solidFill>
                  <a:srgbClr val="FFFFFF"/>
                </a:solidFill>
              </a:rPr>
              <a:t>Get Noticed in the Fabric Community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EBF4DF-BD9F-13FE-6146-2CEC9B8EC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700" y="2667000"/>
            <a:ext cx="5334000" cy="3556000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000" b="1" u="sng" dirty="0">
                <a:solidFill>
                  <a:srgbClr val="00BAC8"/>
                </a:solidFill>
                <a:uFill>
                  <a:solidFill>
                    <a:srgbClr val="00BAC8"/>
                  </a:solidFill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Browse the Fabric Notebook Gallery</a:t>
            </a:r>
            <a:r>
              <a:rPr lang="en-US" sz="2000" dirty="0">
                <a:solidFill>
                  <a:srgbClr val="FFFFFF"/>
                </a:solidFill>
              </a:rPr>
              <a:t>  —  community-shared Fabric notebooks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000" b="1" u="sng" dirty="0">
                <a:solidFill>
                  <a:srgbClr val="00BAC8"/>
                </a:solidFill>
                <a:uFill>
                  <a:solidFill>
                    <a:srgbClr val="00BAC8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First Fabric Notebooks Competition</a:t>
            </a:r>
            <a:r>
              <a:rPr lang="en-US" sz="2000" i="1" dirty="0">
                <a:solidFill>
                  <a:srgbClr val="CCCCCC"/>
                </a:solidFill>
              </a:rPr>
              <a:t>  (now closed)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000" b="1" u="sng" dirty="0">
                <a:solidFill>
                  <a:srgbClr val="00BAC8"/>
                </a:solidFill>
                <a:uFill>
                  <a:solidFill>
                    <a:srgbClr val="00BAC8"/>
                  </a:solidFill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Fabric Semantic Link Developer Experience Challenge</a:t>
            </a:r>
            <a:r>
              <a:rPr lang="en-US" sz="2000" i="1" dirty="0">
                <a:solidFill>
                  <a:srgbClr val="CCCCCC"/>
                </a:solidFill>
              </a:rPr>
              <a:t>  (now closed)</a:t>
            </a:r>
          </a:p>
        </p:txBody>
      </p:sp>
      <p:sp>
        <p:nvSpPr>
          <p:cNvPr id="300" name="C0"/>
          <p:cNvSpPr/>
          <p:nvPr/>
        </p:nvSpPr>
        <p:spPr>
          <a:xfrm>
            <a:off x="6350000" y="2667000"/>
            <a:ext cx="5334000" cy="111760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" name="S0"/>
          <p:cNvSpPr/>
          <p:nvPr/>
        </p:nvSpPr>
        <p:spPr>
          <a:xfrm>
            <a:off x="6350000" y="2667000"/>
            <a:ext cx="76200" cy="1117600"/>
          </a:xfrm>
          <a:prstGeom prst="rect">
            <a:avLst/>
          </a:prstGeom>
          <a:solidFill>
            <a:srgbClr val="EBA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2" name="B0"/>
          <p:cNvSpPr/>
          <p:nvPr/>
        </p:nvSpPr>
        <p:spPr>
          <a:xfrm>
            <a:off x="6629400" y="2971800"/>
            <a:ext cx="508000" cy="508000"/>
          </a:xfrm>
          <a:prstGeom prst="ellipse">
            <a:avLst/>
          </a:prstGeom>
          <a:solidFill>
            <a:srgbClr val="EBA000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600" b="1" dirty="0">
                <a:solidFill>
                  <a:srgbClr val="1E1E1E"/>
                </a:solidFill>
              </a:rPr>
              <a:t>1</a:t>
            </a:r>
          </a:p>
        </p:txBody>
      </p:sp>
      <p:sp>
        <p:nvSpPr>
          <p:cNvPr id="303" name="T0"/>
          <p:cNvSpPr/>
          <p:nvPr/>
        </p:nvSpPr>
        <p:spPr>
          <a:xfrm>
            <a:off x="7340600" y="2794000"/>
            <a:ext cx="4191000" cy="8636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Browse</a:t>
            </a:r>
          </a:p>
          <a:p>
            <a:pPr algn="l">
              <a:spcBef>
                <a:spcPts val="200"/>
              </a:spcBef>
            </a:pPr>
            <a:r>
              <a:rPr lang="en-US" sz="1500" dirty="0">
                <a:solidFill>
                  <a:srgbClr val="CCCCCC"/>
                </a:solidFill>
              </a:rPr>
              <a:t>Find a notebook in the Gallery that fits a need you have.</a:t>
            </a:r>
          </a:p>
        </p:txBody>
      </p:sp>
      <p:sp>
        <p:nvSpPr>
          <p:cNvPr id="304" name="C1"/>
          <p:cNvSpPr/>
          <p:nvPr/>
        </p:nvSpPr>
        <p:spPr>
          <a:xfrm>
            <a:off x="6350000" y="3911600"/>
            <a:ext cx="5334000" cy="111760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5" name="S1"/>
          <p:cNvSpPr/>
          <p:nvPr/>
        </p:nvSpPr>
        <p:spPr>
          <a:xfrm>
            <a:off x="6350000" y="3911600"/>
            <a:ext cx="76200" cy="1117600"/>
          </a:xfrm>
          <a:prstGeom prst="rect">
            <a:avLst/>
          </a:prstGeom>
          <a:solidFill>
            <a:srgbClr val="EBA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" name="B1"/>
          <p:cNvSpPr/>
          <p:nvPr/>
        </p:nvSpPr>
        <p:spPr>
          <a:xfrm>
            <a:off x="6629400" y="4216400"/>
            <a:ext cx="508000" cy="508000"/>
          </a:xfrm>
          <a:prstGeom prst="ellipse">
            <a:avLst/>
          </a:prstGeom>
          <a:solidFill>
            <a:srgbClr val="EBA000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600" b="1" dirty="0">
                <a:solidFill>
                  <a:srgbClr val="1E1E1E"/>
                </a:solidFill>
              </a:rPr>
              <a:t>2</a:t>
            </a:r>
          </a:p>
        </p:txBody>
      </p:sp>
      <p:sp>
        <p:nvSpPr>
          <p:cNvPr id="307" name="T1"/>
          <p:cNvSpPr/>
          <p:nvPr/>
        </p:nvSpPr>
        <p:spPr>
          <a:xfrm>
            <a:off x="7340600" y="4038600"/>
            <a:ext cx="4191000" cy="8636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Build &amp; Share</a:t>
            </a:r>
          </a:p>
          <a:p>
            <a:pPr algn="l">
              <a:spcBef>
                <a:spcPts val="200"/>
              </a:spcBef>
            </a:pPr>
            <a:r>
              <a:rPr lang="en-US" sz="1500" dirty="0">
                <a:solidFill>
                  <a:srgbClr val="CCCCCC"/>
                </a:solidFill>
              </a:rPr>
              <a:t>Solve a pain point and post your notebook to the community.</a:t>
            </a:r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F0E96362-A4DA-4CBE-8067-651E8ED47F2C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2A2ACA68-33C9-46AA-970A-26EE6C19F032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0" name="C2"/>
          <p:cNvSpPr/>
          <p:nvPr/>
        </p:nvSpPr>
        <p:spPr>
          <a:xfrm>
            <a:off x="6350000" y="5156200"/>
            <a:ext cx="5334000" cy="111760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1" name="S2"/>
          <p:cNvSpPr/>
          <p:nvPr/>
        </p:nvSpPr>
        <p:spPr>
          <a:xfrm>
            <a:off x="6350000" y="5156200"/>
            <a:ext cx="76200" cy="1117600"/>
          </a:xfrm>
          <a:prstGeom prst="rect">
            <a:avLst/>
          </a:prstGeom>
          <a:solidFill>
            <a:srgbClr val="EBA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2" name="B2"/>
          <p:cNvSpPr/>
          <p:nvPr/>
        </p:nvSpPr>
        <p:spPr>
          <a:xfrm>
            <a:off x="6629400" y="5461000"/>
            <a:ext cx="508000" cy="508000"/>
          </a:xfrm>
          <a:prstGeom prst="ellipse">
            <a:avLst/>
          </a:prstGeom>
          <a:solidFill>
            <a:srgbClr val="EBA000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600" b="1" dirty="0">
                <a:solidFill>
                  <a:srgbClr val="1E1E1E"/>
                </a:solidFill>
              </a:rPr>
              <a:t>3</a:t>
            </a:r>
          </a:p>
        </p:txBody>
      </p:sp>
      <p:sp>
        <p:nvSpPr>
          <p:cNvPr id="313" name="T2"/>
          <p:cNvSpPr/>
          <p:nvPr/>
        </p:nvSpPr>
        <p:spPr>
          <a:xfrm>
            <a:off x="7340600" y="5283200"/>
            <a:ext cx="4191000" cy="8636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Compete</a:t>
            </a:r>
          </a:p>
          <a:p>
            <a:pPr algn="l">
              <a:spcBef>
                <a:spcPts val="200"/>
              </a:spcBef>
            </a:pPr>
            <a:r>
              <a:rPr lang="en-US" sz="1500" dirty="0">
                <a:solidFill>
                  <a:srgbClr val="CCCCCC"/>
                </a:solidFill>
              </a:rPr>
              <a:t>Watch for the next community challenge and showcase your work.</a:t>
            </a:r>
          </a:p>
        </p:txBody>
      </p:sp>
    </p:spTree>
    <p:extLst>
      <p:ext uri="{BB962C8B-B14F-4D97-AF65-F5344CB8AC3E}">
        <p14:creationId xmlns:p14="http://schemas.microsoft.com/office/powerpoint/2010/main" val="32677162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2A4713-0534-7CBA-7934-0A50DE8F2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avTitle">
            <a:extLst>
              <a:ext uri="{FF2B5EF4-FFF2-40B4-BE49-F238E27FC236}">
                <a16:creationId xmlns:a16="http://schemas.microsoft.com/office/drawing/2014/main" id="{037FB7C7-2141-E579-2FDE-A4492BC8E0E2}"/>
              </a:ext>
            </a:extLst>
          </p:cNvPr>
          <p:cNvSpPr/>
          <p:nvPr/>
        </p:nvSpPr>
        <p:spPr>
          <a:xfrm>
            <a:off x="609600" y="508000"/>
            <a:ext cx="635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Arial"/>
              </a:rPr>
              <a:t>What We'll Cover</a:t>
            </a:r>
          </a:p>
        </p:txBody>
      </p:sp>
      <p:sp>
        <p:nvSpPr>
          <p:cNvPr id="201" name="TitleRule">
            <a:extLst>
              <a:ext uri="{FF2B5EF4-FFF2-40B4-BE49-F238E27FC236}">
                <a16:creationId xmlns:a16="http://schemas.microsoft.com/office/drawing/2014/main" id="{2E5FF7E2-39BC-DAC6-AC38-4674EA6DC24C}"/>
              </a:ext>
            </a:extLst>
          </p:cNvPr>
          <p:cNvSpPr/>
          <p:nvPr/>
        </p:nvSpPr>
        <p:spPr>
          <a:xfrm>
            <a:off x="609600" y="1168400"/>
            <a:ext cx="812800" cy="635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Progress">
            <a:extLst>
              <a:ext uri="{FF2B5EF4-FFF2-40B4-BE49-F238E27FC236}">
                <a16:creationId xmlns:a16="http://schemas.microsoft.com/office/drawing/2014/main" id="{B41243C6-575B-902D-2703-EB3FCA8603E7}"/>
              </a:ext>
            </a:extLst>
          </p:cNvPr>
          <p:cNvSpPr/>
          <p:nvPr/>
        </p:nvSpPr>
        <p:spPr>
          <a:xfrm>
            <a:off x="8382000" y="660400"/>
            <a:ext cx="3200400" cy="38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600" b="1" dirty="0">
                <a:solidFill>
                  <a:srgbClr val="4EC9B0"/>
                </a:solidFill>
                <a:latin typeface="Arial"/>
              </a:rPr>
              <a:t>Section 2</a:t>
            </a:r>
            <a:r>
              <a:rPr lang="en-US" sz="1600" dirty="0">
                <a:solidFill>
                  <a:srgbClr val="8A8A8A"/>
                </a:solidFill>
                <a:latin typeface="Arial"/>
              </a:rPr>
              <a:t> / 5</a:t>
            </a:r>
          </a:p>
        </p:txBody>
      </p:sp>
      <p:sp>
        <p:nvSpPr>
          <p:cNvPr id="203" name="Card0">
            <a:extLst>
              <a:ext uri="{FF2B5EF4-FFF2-40B4-BE49-F238E27FC236}">
                <a16:creationId xmlns:a16="http://schemas.microsoft.com/office/drawing/2014/main" id="{E11EB7AD-4384-2EC7-03A5-2EECE3BD8BF8}"/>
              </a:ext>
            </a:extLst>
          </p:cNvPr>
          <p:cNvSpPr/>
          <p:nvPr/>
        </p:nvSpPr>
        <p:spPr>
          <a:xfrm>
            <a:off x="609600" y="15748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Badge0">
            <a:extLst>
              <a:ext uri="{FF2B5EF4-FFF2-40B4-BE49-F238E27FC236}">
                <a16:creationId xmlns:a16="http://schemas.microsoft.com/office/drawing/2014/main" id="{F0C61D4F-C752-DB96-4175-ADA23DCEC47F}"/>
              </a:ext>
            </a:extLst>
          </p:cNvPr>
          <p:cNvSpPr/>
          <p:nvPr/>
        </p:nvSpPr>
        <p:spPr>
          <a:xfrm>
            <a:off x="762000" y="17018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1</a:t>
            </a:r>
          </a:p>
        </p:txBody>
      </p:sp>
      <p:sp>
        <p:nvSpPr>
          <p:cNvPr id="205" name="CardText0">
            <a:extLst>
              <a:ext uri="{FF2B5EF4-FFF2-40B4-BE49-F238E27FC236}">
                <a16:creationId xmlns:a16="http://schemas.microsoft.com/office/drawing/2014/main" id="{55F95F19-6E04-AB39-B3D7-00D51996F3AB}"/>
              </a:ext>
            </a:extLst>
          </p:cNvPr>
          <p:cNvSpPr/>
          <p:nvPr/>
        </p:nvSpPr>
        <p:spPr>
          <a:xfrm>
            <a:off x="1524000" y="16891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dirty="0">
                <a:solidFill>
                  <a:srgbClr val="FFFFFF"/>
                </a:solidFill>
                <a:latin typeface="Arial"/>
              </a:rPr>
              <a:t>Foundations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dirty="0">
                <a:solidFill>
                  <a:srgbClr val="CCCCCC"/>
                </a:solidFill>
                <a:latin typeface="Arial"/>
              </a:rPr>
              <a:t>Spark's origins and the Fabric architecture we'll build on</a:t>
            </a:r>
          </a:p>
        </p:txBody>
      </p:sp>
      <p:sp>
        <p:nvSpPr>
          <p:cNvPr id="207" name="Card1">
            <a:extLst>
              <a:ext uri="{FF2B5EF4-FFF2-40B4-BE49-F238E27FC236}">
                <a16:creationId xmlns:a16="http://schemas.microsoft.com/office/drawing/2014/main" id="{ABB3C055-4543-E25B-BAA3-F9851A5F862A}"/>
              </a:ext>
            </a:extLst>
          </p:cNvPr>
          <p:cNvSpPr/>
          <p:nvPr/>
        </p:nvSpPr>
        <p:spPr>
          <a:xfrm>
            <a:off x="609600" y="25654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8" name="Badge1">
            <a:extLst>
              <a:ext uri="{FF2B5EF4-FFF2-40B4-BE49-F238E27FC236}">
                <a16:creationId xmlns:a16="http://schemas.microsoft.com/office/drawing/2014/main" id="{EACC8863-69E3-B96F-FF67-D4DB9DB2370F}"/>
              </a:ext>
            </a:extLst>
          </p:cNvPr>
          <p:cNvSpPr/>
          <p:nvPr/>
        </p:nvSpPr>
        <p:spPr>
          <a:xfrm>
            <a:off x="762000" y="2692400"/>
            <a:ext cx="558800" cy="55880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4EC9B0"/>
                </a:solidFill>
                <a:latin typeface="Arial"/>
              </a:rPr>
              <a:t>2</a:t>
            </a:r>
          </a:p>
        </p:txBody>
      </p:sp>
      <p:sp>
        <p:nvSpPr>
          <p:cNvPr id="209" name="CardText1">
            <a:extLst>
              <a:ext uri="{FF2B5EF4-FFF2-40B4-BE49-F238E27FC236}">
                <a16:creationId xmlns:a16="http://schemas.microsoft.com/office/drawing/2014/main" id="{334CCAF1-4086-0F39-E3FD-34FEFBE2F01E}"/>
              </a:ext>
            </a:extLst>
          </p:cNvPr>
          <p:cNvSpPr/>
          <p:nvPr/>
        </p:nvSpPr>
        <p:spPr>
          <a:xfrm>
            <a:off x="1524000" y="26797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1E1E1E"/>
                </a:solidFill>
                <a:latin typeface="Arial"/>
              </a:rPr>
              <a:t>Python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1E1E1E"/>
                </a:solidFill>
                <a:latin typeface="Arial"/>
              </a:rPr>
              <a:t>What you need to know before Spark makes sense</a:t>
            </a:r>
          </a:p>
        </p:txBody>
      </p:sp>
      <p:sp>
        <p:nvSpPr>
          <p:cNvPr id="210" name="Card2">
            <a:extLst>
              <a:ext uri="{FF2B5EF4-FFF2-40B4-BE49-F238E27FC236}">
                <a16:creationId xmlns:a16="http://schemas.microsoft.com/office/drawing/2014/main" id="{9E00A6BB-F032-6D27-C00E-2E09D6C24208}"/>
              </a:ext>
            </a:extLst>
          </p:cNvPr>
          <p:cNvSpPr/>
          <p:nvPr/>
        </p:nvSpPr>
        <p:spPr>
          <a:xfrm>
            <a:off x="609600" y="35560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Badge2">
            <a:extLst>
              <a:ext uri="{FF2B5EF4-FFF2-40B4-BE49-F238E27FC236}">
                <a16:creationId xmlns:a16="http://schemas.microsoft.com/office/drawing/2014/main" id="{BF8F1939-7ABC-DCA5-6DB6-71D682175AB1}"/>
              </a:ext>
            </a:extLst>
          </p:cNvPr>
          <p:cNvSpPr/>
          <p:nvPr/>
        </p:nvSpPr>
        <p:spPr>
          <a:xfrm>
            <a:off x="762000" y="36830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3</a:t>
            </a:r>
          </a:p>
        </p:txBody>
      </p:sp>
      <p:sp>
        <p:nvSpPr>
          <p:cNvPr id="212" name="CardText2">
            <a:extLst>
              <a:ext uri="{FF2B5EF4-FFF2-40B4-BE49-F238E27FC236}">
                <a16:creationId xmlns:a16="http://schemas.microsoft.com/office/drawing/2014/main" id="{41912E80-6E17-A9FC-71B0-D3C400E4BFA7}"/>
              </a:ext>
            </a:extLst>
          </p:cNvPr>
          <p:cNvSpPr/>
          <p:nvPr/>
        </p:nvSpPr>
        <p:spPr>
          <a:xfrm>
            <a:off x="1524000" y="36703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PySpark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DataFrames, transforms &amp; actions</a:t>
            </a:r>
          </a:p>
        </p:txBody>
      </p:sp>
      <p:sp>
        <p:nvSpPr>
          <p:cNvPr id="213" name="Card3">
            <a:extLst>
              <a:ext uri="{FF2B5EF4-FFF2-40B4-BE49-F238E27FC236}">
                <a16:creationId xmlns:a16="http://schemas.microsoft.com/office/drawing/2014/main" id="{B1BD0393-5E02-EA17-5369-B31DF3F5FCB2}"/>
              </a:ext>
            </a:extLst>
          </p:cNvPr>
          <p:cNvSpPr/>
          <p:nvPr/>
        </p:nvSpPr>
        <p:spPr>
          <a:xfrm>
            <a:off x="609600" y="45466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4" name="Badge3">
            <a:extLst>
              <a:ext uri="{FF2B5EF4-FFF2-40B4-BE49-F238E27FC236}">
                <a16:creationId xmlns:a16="http://schemas.microsoft.com/office/drawing/2014/main" id="{B19780AA-AA97-1D40-4B0A-9F86BE55AD9A}"/>
              </a:ext>
            </a:extLst>
          </p:cNvPr>
          <p:cNvSpPr/>
          <p:nvPr/>
        </p:nvSpPr>
        <p:spPr>
          <a:xfrm>
            <a:off x="762000" y="46736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4</a:t>
            </a:r>
          </a:p>
        </p:txBody>
      </p:sp>
      <p:sp>
        <p:nvSpPr>
          <p:cNvPr id="215" name="CardText3">
            <a:extLst>
              <a:ext uri="{FF2B5EF4-FFF2-40B4-BE49-F238E27FC236}">
                <a16:creationId xmlns:a16="http://schemas.microsoft.com/office/drawing/2014/main" id="{47DC6E76-9E23-C9A1-129C-52978D9C9A0E}"/>
              </a:ext>
            </a:extLst>
          </p:cNvPr>
          <p:cNvSpPr/>
          <p:nvPr/>
        </p:nvSpPr>
        <p:spPr>
          <a:xfrm>
            <a:off x="1524000" y="46609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Putting PySpark to Work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A live notebook demo, real-world results.</a:t>
            </a:r>
          </a:p>
        </p:txBody>
      </p:sp>
      <p:sp>
        <p:nvSpPr>
          <p:cNvPr id="216" name="Card4">
            <a:extLst>
              <a:ext uri="{FF2B5EF4-FFF2-40B4-BE49-F238E27FC236}">
                <a16:creationId xmlns:a16="http://schemas.microsoft.com/office/drawing/2014/main" id="{55A40E0D-F271-0E20-C6D9-EE98D6B031FF}"/>
              </a:ext>
            </a:extLst>
          </p:cNvPr>
          <p:cNvSpPr/>
          <p:nvPr/>
        </p:nvSpPr>
        <p:spPr>
          <a:xfrm>
            <a:off x="609600" y="55372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Badge4">
            <a:extLst>
              <a:ext uri="{FF2B5EF4-FFF2-40B4-BE49-F238E27FC236}">
                <a16:creationId xmlns:a16="http://schemas.microsoft.com/office/drawing/2014/main" id="{D94E78DD-B4C1-37F1-6AED-DABD47F37705}"/>
              </a:ext>
            </a:extLst>
          </p:cNvPr>
          <p:cNvSpPr/>
          <p:nvPr/>
        </p:nvSpPr>
        <p:spPr>
          <a:xfrm>
            <a:off x="762000" y="56642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5</a:t>
            </a:r>
          </a:p>
        </p:txBody>
      </p:sp>
      <p:sp>
        <p:nvSpPr>
          <p:cNvPr id="218" name="CardText4">
            <a:extLst>
              <a:ext uri="{FF2B5EF4-FFF2-40B4-BE49-F238E27FC236}">
                <a16:creationId xmlns:a16="http://schemas.microsoft.com/office/drawing/2014/main" id="{D6DD97FC-CA3B-26C7-019F-4E3C6A6C9D8A}"/>
              </a:ext>
            </a:extLst>
          </p:cNvPr>
          <p:cNvSpPr/>
          <p:nvPr/>
        </p:nvSpPr>
        <p:spPr>
          <a:xfrm>
            <a:off x="1524000" y="56515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Wrap-Up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Recap, resources &amp; next steps</a:t>
            </a:r>
          </a:p>
        </p:txBody>
      </p:sp>
      <p:sp>
        <p:nvSpPr>
          <p:cNvPr id="206" name="HerePill0">
            <a:extLst>
              <a:ext uri="{FF2B5EF4-FFF2-40B4-BE49-F238E27FC236}">
                <a16:creationId xmlns:a16="http://schemas.microsoft.com/office/drawing/2014/main" id="{703B0C09-531D-1E55-E79E-BF233B68DB24}"/>
              </a:ext>
            </a:extLst>
          </p:cNvPr>
          <p:cNvSpPr/>
          <p:nvPr/>
        </p:nvSpPr>
        <p:spPr>
          <a:xfrm>
            <a:off x="9880600" y="2806700"/>
            <a:ext cx="1524000" cy="33020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200" b="1" dirty="0">
                <a:solidFill>
                  <a:srgbClr val="4EC9B0"/>
                </a:solidFill>
                <a:latin typeface="Arial"/>
              </a:rPr>
              <a:t>YOU ARE HERE</a:t>
            </a:r>
          </a:p>
        </p:txBody>
      </p:sp>
    </p:spTree>
    <p:extLst>
      <p:ext uri="{BB962C8B-B14F-4D97-AF65-F5344CB8AC3E}">
        <p14:creationId xmlns:p14="http://schemas.microsoft.com/office/powerpoint/2010/main" val="28897690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BDE8E5-189F-DACF-3BA7-6BEC45F49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8FFEAAB-53C2-F1F1-35D3-679E91810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In Fabric, language choice is also engine choice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0029B4-E682-F901-5B97-2D7FABFE4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i="1" dirty="0">
                <a:solidFill>
                  <a:srgbClr val="FFFFFF"/>
                </a:solidFill>
              </a:rPr>
              <a:t>Not just syntax — you pick which compute engine runs against OneLake</a:t>
            </a:r>
          </a:p>
          <a:p>
            <a:pPr>
              <a:buNone/>
            </a:pPr>
            <a:endParaRPr lang="en-US" sz="1200" dirty="0"/>
          </a:p>
          <a:p>
            <a:pPr>
              <a:buFont typeface="Arial"/>
              <a:buChar char="•"/>
            </a:pPr>
            <a:r>
              <a:rPr lang="en-US" sz="2200" b="1" dirty="0">
                <a:solidFill>
                  <a:srgbClr val="EBA000"/>
                </a:solidFill>
              </a:rPr>
              <a:t>Spark notebook / Lakehouse</a:t>
            </a:r>
            <a:r>
              <a:rPr lang="en-US" sz="2200" dirty="0">
                <a:solidFill>
                  <a:srgbClr val="FFFFFF"/>
                </a:solidFill>
              </a:rPr>
              <a:t> — Python, Scala, SparkSQL, or R on the Spark engine</a:t>
            </a:r>
          </a:p>
          <a:p>
            <a:pPr>
              <a:buFont typeface="Arial"/>
              <a:buChar char="•"/>
            </a:pPr>
            <a:r>
              <a:rPr lang="en-US" sz="2200" b="1" dirty="0">
                <a:solidFill>
                  <a:srgbClr val="EBA000"/>
                </a:solidFill>
              </a:rPr>
              <a:t>Python notebook / Lakehouse</a:t>
            </a:r>
            <a:r>
              <a:rPr lang="en-US" sz="2200" dirty="0">
                <a:solidFill>
                  <a:srgbClr val="FFFFFF"/>
                </a:solidFill>
              </a:rPr>
              <a:t> — pure Python, no Spark</a:t>
            </a:r>
          </a:p>
          <a:p>
            <a:pPr>
              <a:buFont typeface="Arial"/>
              <a:buChar char="•"/>
            </a:pPr>
            <a:r>
              <a:rPr lang="en-US" sz="2200" b="1" dirty="0">
                <a:solidFill>
                  <a:srgbClr val="EBA000"/>
                </a:solidFill>
              </a:rPr>
              <a:t>Warehouse</a:t>
            </a:r>
            <a:r>
              <a:rPr lang="en-US" sz="2200" dirty="0">
                <a:solidFill>
                  <a:srgbClr val="FFFFFF"/>
                </a:solidFill>
              </a:rPr>
              <a:t> — T-SQL on the Warehouse SQL engine</a:t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2000" b="1" i="1" dirty="0">
                <a:solidFill>
                  <a:srgbClr val="EBA000"/>
                </a:solidFill>
              </a:rPr>
              <a:t>Same data. Different language. Different compute engine.</a:t>
            </a:r>
          </a:p>
        </p:txBody>
      </p:sp>
      <p:sp>
        <p:nvSpPr>
          <p:cNvPr id="3" name="GoldRuleTop">
            <a:extLst>
              <a:ext uri="{FF2B5EF4-FFF2-40B4-BE49-F238E27FC236}">
                <a16:creationId xmlns:a16="http://schemas.microsoft.com/office/drawing/2014/main" id="{2A95501E-D870-4372-BAEB-06F015F7492E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GoldRuleBottom">
            <a:extLst>
              <a:ext uri="{FF2B5EF4-FFF2-40B4-BE49-F238E27FC236}">
                <a16:creationId xmlns:a16="http://schemas.microsoft.com/office/drawing/2014/main" id="{BA9A11F0-C6E1-4C60-9B4F-C73A7422D8FC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19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7A51CF-4590-6C58-265D-77BC5B50A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4E2543B-0E57-FE24-AC8B-67CE76529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Compute &amp; Language</a:t>
            </a:r>
            <a:endParaRPr lang="en-US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6894BF-9AFF-EEA2-0B55-D312D7EF1E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18812D3C-B85F-50C6-7A8A-CE566602A48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D4EBEF-9561-519E-A910-8CF52915E1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90092" y="984390"/>
            <a:ext cx="2241216" cy="5377700"/>
          </a:xfrm>
          <a:prstGeom prst="rect">
            <a:avLst/>
          </a:prstGeom>
        </p:spPr>
      </p:pic>
      <p:sp>
        <p:nvSpPr>
          <p:cNvPr id="2" name="GoldRuleTop">
            <a:extLst>
              <a:ext uri="{FF2B5EF4-FFF2-40B4-BE49-F238E27FC236}">
                <a16:creationId xmlns:a16="http://schemas.microsoft.com/office/drawing/2014/main" id="{0F1CD4DE-3B52-441B-B115-980210AC3E36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BA3C5A58-92FF-4AA7-B3B2-F62CF143FF53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ImageEdgeCover">
            <a:extLst>
              <a:ext uri="{FF2B5EF4-FFF2-40B4-BE49-F238E27FC236}">
                <a16:creationId xmlns:a16="http://schemas.microsoft.com/office/drawing/2014/main" id="{839085C2-BF53-4DB7-8A13-4AF57EEAA1B6}"/>
              </a:ext>
            </a:extLst>
          </p:cNvPr>
          <p:cNvSpPr/>
          <p:nvPr/>
        </p:nvSpPr>
        <p:spPr>
          <a:xfrm>
            <a:off x="10515600" y="977900"/>
            <a:ext cx="317500" cy="53848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B43CF3-06A9-40FE-92E3-E8368E5B6383}"/>
              </a:ext>
            </a:extLst>
          </p:cNvPr>
          <p:cNvSpPr/>
          <p:nvPr/>
        </p:nvSpPr>
        <p:spPr>
          <a:xfrm>
            <a:off x="8305800" y="1524000"/>
            <a:ext cx="2209800" cy="2552700"/>
          </a:xfrm>
          <a:prstGeom prst="rect">
            <a:avLst/>
          </a:prstGeom>
          <a:noFill/>
          <a:ln w="38100" cap="flat" cmpd="sng" algn="ctr">
            <a:solidFill>
              <a:srgbClr val="00BA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48E483-5893-4244-B475-DF0BE11B9C99}"/>
              </a:ext>
            </a:extLst>
          </p:cNvPr>
          <p:cNvSpPr/>
          <p:nvPr/>
        </p:nvSpPr>
        <p:spPr>
          <a:xfrm>
            <a:off x="8305800" y="4089400"/>
            <a:ext cx="2209800" cy="1155700"/>
          </a:xfrm>
          <a:prstGeom prst="rect">
            <a:avLst/>
          </a:prstGeom>
          <a:noFill/>
          <a:ln w="38100" cap="flat" cmpd="sng" algn="ctr">
            <a:solidFill>
              <a:srgbClr val="EBA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C0AE2C-5E24-49A6-889F-01EA419B4B06}"/>
              </a:ext>
            </a:extLst>
          </p:cNvPr>
          <p:cNvSpPr/>
          <p:nvPr/>
        </p:nvSpPr>
        <p:spPr>
          <a:xfrm>
            <a:off x="8305800" y="5270500"/>
            <a:ext cx="2209800" cy="1079500"/>
          </a:xfrm>
          <a:prstGeom prst="rect">
            <a:avLst/>
          </a:prstGeom>
          <a:noFill/>
          <a:ln w="38100" cap="flat" cmpd="sng" algn="ctr">
            <a:solidFill>
              <a:srgbClr val="4D5A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C55E4B-0318-4F21-928F-13027B1DBC52}"/>
              </a:ext>
            </a:extLst>
          </p:cNvPr>
          <p:cNvSpPr txBox="1"/>
          <p:nvPr/>
        </p:nvSpPr>
        <p:spPr>
          <a:xfrm>
            <a:off x="762000" y="2667000"/>
            <a:ext cx="711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00BAC8"/>
                </a:solidFill>
              </a:rPr>
              <a:t>Spark notebook / Lakehouse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8F95C3-B1F9-49C3-9C15-FA5072643ACB}"/>
              </a:ext>
            </a:extLst>
          </p:cNvPr>
          <p:cNvSpPr txBox="1"/>
          <p:nvPr/>
        </p:nvSpPr>
        <p:spPr>
          <a:xfrm>
            <a:off x="762000" y="3073400"/>
            <a:ext cx="711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Python, Scala, SparkSQL, R — runs on the Spark engine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923E22-E7FB-4DBC-975B-73F3F23243FC}"/>
              </a:ext>
            </a:extLst>
          </p:cNvPr>
          <p:cNvSpPr txBox="1"/>
          <p:nvPr/>
        </p:nvSpPr>
        <p:spPr>
          <a:xfrm>
            <a:off x="762000" y="4191000"/>
            <a:ext cx="711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EBA000"/>
                </a:solidFill>
              </a:rPr>
              <a:t>Python notebook / Lakehouse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BA1EF5-D88A-4A82-AEDC-01718F310B98}"/>
              </a:ext>
            </a:extLst>
          </p:cNvPr>
          <p:cNvSpPr txBox="1"/>
          <p:nvPr/>
        </p:nvSpPr>
        <p:spPr>
          <a:xfrm>
            <a:off x="762000" y="4597400"/>
            <a:ext cx="711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Pure Python — no Spark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189AFF-73E0-49CB-8FCC-5B8F8B745630}"/>
              </a:ext>
            </a:extLst>
          </p:cNvPr>
          <p:cNvSpPr txBox="1"/>
          <p:nvPr/>
        </p:nvSpPr>
        <p:spPr>
          <a:xfrm>
            <a:off x="762000" y="5397500"/>
            <a:ext cx="711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4D5AFF"/>
                </a:solidFill>
              </a:rPr>
              <a:t>Warehouse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B964F9-9FEF-4B03-BEA3-52E506839CDC}"/>
              </a:ext>
            </a:extLst>
          </p:cNvPr>
          <p:cNvSpPr txBox="1"/>
          <p:nvPr/>
        </p:nvSpPr>
        <p:spPr>
          <a:xfrm>
            <a:off x="762000" y="5803900"/>
            <a:ext cx="711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T-SQL — runs on the Warehouse SQL engine</a:t>
            </a:r>
          </a:p>
        </p:txBody>
      </p:sp>
    </p:spTree>
    <p:extLst>
      <p:ext uri="{BB962C8B-B14F-4D97-AF65-F5344CB8AC3E}">
        <p14:creationId xmlns:p14="http://schemas.microsoft.com/office/powerpoint/2010/main" val="224652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71607-F731-D739-939F-283551556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CA77C6B-8BDC-035B-F106-B36A4139C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4100" dirty="0">
                <a:solidFill>
                  <a:srgbClr val="FFFFFF"/>
                </a:solidFill>
              </a:rPr>
              <a:t>Python or PySpark notebook?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3B14A25-9077-D00E-17F6-F54816B83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DF8570-B431-0A5F-2449-7FEE0B11C84F}"/>
              </a:ext>
            </a:extLst>
          </p:cNvPr>
          <p:cNvSpPr txBox="1"/>
          <p:nvPr/>
        </p:nvSpPr>
        <p:spPr>
          <a:xfrm>
            <a:off x="517868" y="6451600"/>
            <a:ext cx="94674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BFBFBF"/>
                </a:solidFill>
              </a:rPr>
              <a:t>Source: </a:t>
            </a:r>
            <a:r>
              <a:rPr lang="en-US" sz="1200" u="sng" dirty="0">
                <a:solidFill>
                  <a:srgbClr val="FFFFFF"/>
                </a:solidFill>
                <a:hlinkClick r:id="rId3"/>
              </a:rPr>
              <a:t>Microsoft Learn — Fabric Notebook Selection Guide</a:t>
            </a:r>
          </a:p>
        </p:txBody>
      </p:sp>
      <p:sp>
        <p:nvSpPr>
          <p:cNvPr id="3" name="GoldRuleTop">
            <a:extLst>
              <a:ext uri="{FF2B5EF4-FFF2-40B4-BE49-F238E27FC236}">
                <a16:creationId xmlns:a16="http://schemas.microsoft.com/office/drawing/2014/main" id="{62360EE0-C8DC-485E-8811-AB1061E6173E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GoldRuleBottom">
            <a:extLst>
              <a:ext uri="{FF2B5EF4-FFF2-40B4-BE49-F238E27FC236}">
                <a16:creationId xmlns:a16="http://schemas.microsoft.com/office/drawing/2014/main" id="{8AE05AC4-27C0-40E1-9479-04A4E7F795C2}"/>
              </a:ext>
            </a:extLst>
          </p:cNvPr>
          <p:cNvSpPr/>
          <p:nvPr/>
        </p:nvSpPr>
        <p:spPr>
          <a:xfrm>
            <a:off x="520700" y="62865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DBBB53-C23F-42A8-A5EB-88C8A5AF9502}"/>
              </a:ext>
            </a:extLst>
          </p:cNvPr>
          <p:cNvSpPr/>
          <p:nvPr/>
        </p:nvSpPr>
        <p:spPr>
          <a:xfrm>
            <a:off x="6070600" y="2286000"/>
            <a:ext cx="25400" cy="3746500"/>
          </a:xfrm>
          <a:prstGeom prst="rect">
            <a:avLst/>
          </a:prstGeom>
          <a:solidFill>
            <a:srgbClr val="44444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939125-1A13-4A1C-8DE5-A2CBF6123289}"/>
              </a:ext>
            </a:extLst>
          </p:cNvPr>
          <p:cNvSpPr txBox="1"/>
          <p:nvPr/>
        </p:nvSpPr>
        <p:spPr>
          <a:xfrm>
            <a:off x="520700" y="2032000"/>
            <a:ext cx="53975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EBA000"/>
                </a:solidFill>
              </a:rPr>
              <a:t>Pick Python notebook when…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4E24C1-541C-452C-A9BA-EC0CEB488B2B}"/>
              </a:ext>
            </a:extLst>
          </p:cNvPr>
          <p:cNvSpPr txBox="1"/>
          <p:nvPr/>
        </p:nvSpPr>
        <p:spPr>
          <a:xfrm>
            <a:off x="520700" y="2590800"/>
            <a:ext cx="5397500" cy="3505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Data fits in memory (small to medium)</a:t>
            </a:r>
          </a:p>
          <a:p>
            <a:pPr marL="228600" indent="-228600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Rapid exploration &amp; prototyping</a:t>
            </a:r>
          </a:p>
          <a:p>
            <a:pPr marL="228600" indent="-228600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Using DuckDB or Polars (pre-installed)</a:t>
            </a:r>
          </a:p>
          <a:p>
            <a:pPr marL="228600" indent="-228600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Lower cost, faster startup (default: 2 vCores, 16 GB RAM)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6D3F52-365D-47F6-958B-3F52CCF52684}"/>
              </a:ext>
            </a:extLst>
          </p:cNvPr>
          <p:cNvSpPr txBox="1"/>
          <p:nvPr/>
        </p:nvSpPr>
        <p:spPr>
          <a:xfrm>
            <a:off x="6273800" y="2032000"/>
            <a:ext cx="53975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00BAC8"/>
                </a:solidFill>
              </a:rPr>
              <a:t>Pick PySpark notebook when…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9B31B6-A808-4E7A-A27B-8572BAA95E86}"/>
              </a:ext>
            </a:extLst>
          </p:cNvPr>
          <p:cNvSpPr txBox="1"/>
          <p:nvPr/>
        </p:nvSpPr>
        <p:spPr>
          <a:xfrm>
            <a:off x="6273800" y="2590800"/>
            <a:ext cx="5397500" cy="3505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Large datasets (10GB+) exceeding memory</a:t>
            </a:r>
          </a:p>
          <a:p>
            <a:pPr marL="228600" indent="-228600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Complex ETL pipelines</a:t>
            </a:r>
          </a:p>
          <a:p>
            <a:pPr marL="228600" indent="-228600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High-concurrency or parallel execution</a:t>
            </a:r>
          </a:p>
          <a:p>
            <a:pPr marL="228600" indent="-228600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Need Spark APIs: MLlib, SparkSQL, Streaming</a:t>
            </a:r>
          </a:p>
        </p:txBody>
      </p:sp>
    </p:spTree>
    <p:extLst>
      <p:ext uri="{BB962C8B-B14F-4D97-AF65-F5344CB8AC3E}">
        <p14:creationId xmlns:p14="http://schemas.microsoft.com/office/powerpoint/2010/main" val="1128599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10" grpId="0"/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E96D19-636E-6E64-9CA2-61AB6B724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D7B732E-2A02-9F4C-B0DA-01002B01B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0701" y="1828996"/>
            <a:ext cx="7592168" cy="2991777"/>
          </a:xfrm>
          <a:prstGeom prst="rect">
            <a:avLst/>
          </a:prstGeom>
        </p:spPr>
      </p:pic>
      <p:sp>
        <p:nvSpPr>
          <p:cNvPr id="2" name="GoldRuleTop">
            <a:extLst>
              <a:ext uri="{FF2B5EF4-FFF2-40B4-BE49-F238E27FC236}">
                <a16:creationId xmlns:a16="http://schemas.microsoft.com/office/drawing/2014/main" id="{B6CDF13E-F8DD-473C-A706-513986B317B0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486B56F6-3F25-4027-BB9F-550BD43744CB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0F1D64-F037-40E9-9085-EB32822740E4}"/>
              </a:ext>
            </a:extLst>
          </p:cNvPr>
          <p:cNvSpPr txBox="1"/>
          <p:nvPr/>
        </p:nvSpPr>
        <p:spPr>
          <a:xfrm>
            <a:off x="520700" y="762000"/>
            <a:ext cx="11150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 dirty="0">
                <a:solidFill>
                  <a:srgbClr val="FFFFFF"/>
                </a:solidFill>
              </a:rPr>
              <a:t>Magic commands — switch language per cell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205DECC-E9A2-42AE-91FF-8FA7FE5464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860596"/>
              </p:ext>
            </p:extLst>
          </p:nvPr>
        </p:nvGraphicFramePr>
        <p:xfrm>
          <a:off x="8382000" y="1778000"/>
          <a:ext cx="32893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1620827473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759102123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Magic command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Runs as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83589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FFFFFF"/>
                          </a:solidFill>
                        </a:rPr>
                        <a:t>%%pyspark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EBA000"/>
                          </a:solidFill>
                        </a:rPr>
                        <a:t>Python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740501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FFFFFF"/>
                          </a:solidFill>
                        </a:rPr>
                        <a:t>%%spark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0BAC8"/>
                          </a:solidFill>
                        </a:rPr>
                        <a:t>Scala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10326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FFFFFF"/>
                          </a:solidFill>
                        </a:rPr>
                        <a:t>%%sql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0BAC8"/>
                          </a:solidFill>
                        </a:rPr>
                        <a:t>SparkSQL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30750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FFFFFF"/>
                          </a:solidFill>
                        </a:rPr>
                        <a:t>%%sparkr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0BAC8"/>
                          </a:solidFill>
                        </a:rPr>
                        <a:t>R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4548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FFFF"/>
                          </a:solidFill>
                        </a:rPr>
                        <a:t>%%html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BFBFBF"/>
                          </a:solidFill>
                        </a:rPr>
                        <a:t>HTML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55587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7A9AFCB-76C7-4DE4-AA04-61EC8AF6ADA9}"/>
              </a:ext>
            </a:extLst>
          </p:cNvPr>
          <p:cNvSpPr txBox="1"/>
          <p:nvPr/>
        </p:nvSpPr>
        <p:spPr>
          <a:xfrm>
            <a:off x="520700" y="1270000"/>
            <a:ext cx="11150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i="1">
                <a:solidFill>
                  <a:srgbClr val="BFBFBF"/>
                </a:solidFill>
              </a:rPr>
              <a:t>Notebook language sets the default; cell magics override per cell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8EDFA5-2643-4512-ABB0-FCDBD59ACEF6}"/>
              </a:ext>
            </a:extLst>
          </p:cNvPr>
          <p:cNvSpPr/>
          <p:nvPr/>
        </p:nvSpPr>
        <p:spPr>
          <a:xfrm>
            <a:off x="520700" y="1815834"/>
            <a:ext cx="2780219" cy="570687"/>
          </a:xfrm>
          <a:prstGeom prst="rect">
            <a:avLst/>
          </a:prstGeom>
          <a:noFill/>
          <a:ln w="38100" cap="flat" cmpd="sng" algn="ctr">
            <a:solidFill>
              <a:srgbClr val="EBA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7B34E8-5CA6-499F-AAAF-4F46CE55BFEB}"/>
              </a:ext>
            </a:extLst>
          </p:cNvPr>
          <p:cNvSpPr/>
          <p:nvPr/>
        </p:nvSpPr>
        <p:spPr>
          <a:xfrm>
            <a:off x="6234718" y="4311073"/>
            <a:ext cx="1703052" cy="416570"/>
          </a:xfrm>
          <a:prstGeom prst="rect">
            <a:avLst/>
          </a:prstGeom>
          <a:noFill/>
          <a:ln w="38100" cap="flat" cmpd="sng" algn="ctr">
            <a:solidFill>
              <a:srgbClr val="00BA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FFCF027-7EAD-FCA0-5755-4D153329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7B772D8-2337-D3E5-BB46-4B1D3D3BFA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BFDF155-D7C1-EFEB-E56D-F58F41F9053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2956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713DCF-483E-3399-1C9E-F308EA2A2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2A96DE2-D895-7C6A-DC99-56CAE1C78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1600" b="1" spc="200" dirty="0">
                <a:solidFill>
                  <a:srgbClr val="4EC9B0"/>
                </a:solidFill>
                <a:latin typeface="Arial"/>
              </a:rPr>
              <a:t>LIVE DEMO</a:t>
            </a:r>
          </a:p>
          <a:p>
            <a:pPr algn="l">
              <a:spcBef>
                <a:spcPts val="600"/>
              </a:spcBef>
            </a:pPr>
            <a:r>
              <a:rPr lang="en-US" sz="4800" b="1" dirty="0">
                <a:solidFill>
                  <a:srgbClr val="FFFFFF"/>
                </a:solidFill>
                <a:latin typeface="Arial"/>
              </a:rPr>
              <a:t>Python </a:t>
            </a:r>
            <a:r>
              <a:rPr lang="en-US" sz="4800" b="1" dirty="0">
                <a:solidFill>
                  <a:srgbClr val="EBA000"/>
                </a:solidFill>
                <a:latin typeface="Arial"/>
              </a:rPr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AECC3-7D5C-8CC3-690A-E182180199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34C3F7-C19E-622E-AD0C-A95C86D998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Graphic 1" descr="Snake">
            <a:extLst>
              <a:ext uri="{FF2B5EF4-FFF2-40B4-BE49-F238E27FC236}">
                <a16:creationId xmlns:a16="http://schemas.microsoft.com/office/drawing/2014/main" id="{8CD6C04D-CF6A-E779-0F16-DE6FE3469F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92432" y="1603944"/>
            <a:ext cx="3517331" cy="35173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686FD7-022B-EECB-D53B-7F9AB33416E8}"/>
              </a:ext>
            </a:extLst>
          </p:cNvPr>
          <p:cNvSpPr txBox="1"/>
          <p:nvPr/>
        </p:nvSpPr>
        <p:spPr>
          <a:xfrm>
            <a:off x="517866" y="5299775"/>
            <a:ext cx="9291151" cy="9067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4000" i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*</a:t>
            </a:r>
            <a:r>
              <a:rPr lang="en-US" sz="2200" i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You’re welcome for this being an icon and not an actual snake</a:t>
            </a:r>
            <a:endParaRPr lang="en-US" sz="2200" i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5BA8F8-43CE-D4C6-677C-1B554EA1CD94}"/>
              </a:ext>
            </a:extLst>
          </p:cNvPr>
          <p:cNvSpPr txBox="1"/>
          <p:nvPr/>
        </p:nvSpPr>
        <p:spPr>
          <a:xfrm>
            <a:off x="10496428" y="1451350"/>
            <a:ext cx="6234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accent1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8991613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BCDD27-2785-23EA-1FAB-24ECA33F5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avTitle">
            <a:extLst>
              <a:ext uri="{FF2B5EF4-FFF2-40B4-BE49-F238E27FC236}">
                <a16:creationId xmlns:a16="http://schemas.microsoft.com/office/drawing/2014/main" id="{190841C0-9507-8310-7D7C-43D23975ACB7}"/>
              </a:ext>
            </a:extLst>
          </p:cNvPr>
          <p:cNvSpPr/>
          <p:nvPr/>
        </p:nvSpPr>
        <p:spPr>
          <a:xfrm>
            <a:off x="609600" y="508000"/>
            <a:ext cx="635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Arial"/>
              </a:rPr>
              <a:t>What We'll Cover</a:t>
            </a:r>
          </a:p>
        </p:txBody>
      </p:sp>
      <p:sp>
        <p:nvSpPr>
          <p:cNvPr id="201" name="TitleRule">
            <a:extLst>
              <a:ext uri="{FF2B5EF4-FFF2-40B4-BE49-F238E27FC236}">
                <a16:creationId xmlns:a16="http://schemas.microsoft.com/office/drawing/2014/main" id="{022685F3-EAB2-69DF-EB33-69630EDCD6BA}"/>
              </a:ext>
            </a:extLst>
          </p:cNvPr>
          <p:cNvSpPr/>
          <p:nvPr/>
        </p:nvSpPr>
        <p:spPr>
          <a:xfrm>
            <a:off x="609600" y="1168400"/>
            <a:ext cx="812800" cy="635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Progress">
            <a:extLst>
              <a:ext uri="{FF2B5EF4-FFF2-40B4-BE49-F238E27FC236}">
                <a16:creationId xmlns:a16="http://schemas.microsoft.com/office/drawing/2014/main" id="{C0BE0AD9-3DD8-B04E-2664-19E4D78C4B15}"/>
              </a:ext>
            </a:extLst>
          </p:cNvPr>
          <p:cNvSpPr/>
          <p:nvPr/>
        </p:nvSpPr>
        <p:spPr>
          <a:xfrm>
            <a:off x="8382000" y="660400"/>
            <a:ext cx="3200400" cy="38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600" b="1" dirty="0">
                <a:solidFill>
                  <a:srgbClr val="4EC9B0"/>
                </a:solidFill>
                <a:latin typeface="Arial"/>
              </a:rPr>
              <a:t>Section 3</a:t>
            </a:r>
            <a:r>
              <a:rPr lang="en-US" sz="1600" dirty="0">
                <a:solidFill>
                  <a:srgbClr val="8A8A8A"/>
                </a:solidFill>
                <a:latin typeface="Arial"/>
              </a:rPr>
              <a:t> / 5</a:t>
            </a:r>
          </a:p>
        </p:txBody>
      </p:sp>
      <p:sp>
        <p:nvSpPr>
          <p:cNvPr id="203" name="Card0">
            <a:extLst>
              <a:ext uri="{FF2B5EF4-FFF2-40B4-BE49-F238E27FC236}">
                <a16:creationId xmlns:a16="http://schemas.microsoft.com/office/drawing/2014/main" id="{49B42233-E8C4-DBE0-FF1A-93070948C3C9}"/>
              </a:ext>
            </a:extLst>
          </p:cNvPr>
          <p:cNvSpPr/>
          <p:nvPr/>
        </p:nvSpPr>
        <p:spPr>
          <a:xfrm>
            <a:off x="609600" y="15748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Badge0">
            <a:extLst>
              <a:ext uri="{FF2B5EF4-FFF2-40B4-BE49-F238E27FC236}">
                <a16:creationId xmlns:a16="http://schemas.microsoft.com/office/drawing/2014/main" id="{359E4D0F-E830-40F5-5848-9B1B2644C284}"/>
              </a:ext>
            </a:extLst>
          </p:cNvPr>
          <p:cNvSpPr/>
          <p:nvPr/>
        </p:nvSpPr>
        <p:spPr>
          <a:xfrm>
            <a:off x="762000" y="17018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1</a:t>
            </a:r>
          </a:p>
        </p:txBody>
      </p:sp>
      <p:sp>
        <p:nvSpPr>
          <p:cNvPr id="205" name="CardText0">
            <a:extLst>
              <a:ext uri="{FF2B5EF4-FFF2-40B4-BE49-F238E27FC236}">
                <a16:creationId xmlns:a16="http://schemas.microsoft.com/office/drawing/2014/main" id="{06304D23-9989-67CC-06F4-C149F321EB8C}"/>
              </a:ext>
            </a:extLst>
          </p:cNvPr>
          <p:cNvSpPr/>
          <p:nvPr/>
        </p:nvSpPr>
        <p:spPr>
          <a:xfrm>
            <a:off x="1524000" y="16891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dirty="0">
                <a:solidFill>
                  <a:srgbClr val="FFFFFF"/>
                </a:solidFill>
                <a:latin typeface="Arial"/>
              </a:rPr>
              <a:t>Foundations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dirty="0">
                <a:solidFill>
                  <a:srgbClr val="CCCCCC"/>
                </a:solidFill>
                <a:latin typeface="Arial"/>
              </a:rPr>
              <a:t>Spark's origins and the Fabric architecture we'll build on</a:t>
            </a:r>
          </a:p>
        </p:txBody>
      </p:sp>
      <p:sp>
        <p:nvSpPr>
          <p:cNvPr id="207" name="Card1">
            <a:extLst>
              <a:ext uri="{FF2B5EF4-FFF2-40B4-BE49-F238E27FC236}">
                <a16:creationId xmlns:a16="http://schemas.microsoft.com/office/drawing/2014/main" id="{E1E3A7FF-E50C-76D9-4667-F98AA7F47388}"/>
              </a:ext>
            </a:extLst>
          </p:cNvPr>
          <p:cNvSpPr/>
          <p:nvPr/>
        </p:nvSpPr>
        <p:spPr>
          <a:xfrm>
            <a:off x="609600" y="25654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8" name="Badge1">
            <a:extLst>
              <a:ext uri="{FF2B5EF4-FFF2-40B4-BE49-F238E27FC236}">
                <a16:creationId xmlns:a16="http://schemas.microsoft.com/office/drawing/2014/main" id="{33B154F9-DC18-9C0A-7646-CF8181DB31B0}"/>
              </a:ext>
            </a:extLst>
          </p:cNvPr>
          <p:cNvSpPr/>
          <p:nvPr/>
        </p:nvSpPr>
        <p:spPr>
          <a:xfrm>
            <a:off x="762000" y="26924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2</a:t>
            </a:r>
          </a:p>
        </p:txBody>
      </p:sp>
      <p:sp>
        <p:nvSpPr>
          <p:cNvPr id="209" name="CardText1">
            <a:extLst>
              <a:ext uri="{FF2B5EF4-FFF2-40B4-BE49-F238E27FC236}">
                <a16:creationId xmlns:a16="http://schemas.microsoft.com/office/drawing/2014/main" id="{71825EBE-05E3-AF4C-9CE6-7327A729808C}"/>
              </a:ext>
            </a:extLst>
          </p:cNvPr>
          <p:cNvSpPr/>
          <p:nvPr/>
        </p:nvSpPr>
        <p:spPr>
          <a:xfrm>
            <a:off x="1524000" y="26797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Python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What you need to know before Spark makes sense</a:t>
            </a:r>
          </a:p>
        </p:txBody>
      </p:sp>
      <p:sp>
        <p:nvSpPr>
          <p:cNvPr id="210" name="Card2">
            <a:extLst>
              <a:ext uri="{FF2B5EF4-FFF2-40B4-BE49-F238E27FC236}">
                <a16:creationId xmlns:a16="http://schemas.microsoft.com/office/drawing/2014/main" id="{CF2819D4-2B53-5195-C53E-B4FF482B52F1}"/>
              </a:ext>
            </a:extLst>
          </p:cNvPr>
          <p:cNvSpPr/>
          <p:nvPr/>
        </p:nvSpPr>
        <p:spPr>
          <a:xfrm>
            <a:off x="609600" y="35560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Badge2">
            <a:extLst>
              <a:ext uri="{FF2B5EF4-FFF2-40B4-BE49-F238E27FC236}">
                <a16:creationId xmlns:a16="http://schemas.microsoft.com/office/drawing/2014/main" id="{40371F2E-8773-0A3B-CCE3-CFE92EAD21CE}"/>
              </a:ext>
            </a:extLst>
          </p:cNvPr>
          <p:cNvSpPr/>
          <p:nvPr/>
        </p:nvSpPr>
        <p:spPr>
          <a:xfrm>
            <a:off x="762000" y="3683000"/>
            <a:ext cx="558800" cy="55880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4EC9B0"/>
                </a:solidFill>
                <a:latin typeface="Arial"/>
              </a:rPr>
              <a:t>3</a:t>
            </a:r>
          </a:p>
        </p:txBody>
      </p:sp>
      <p:sp>
        <p:nvSpPr>
          <p:cNvPr id="212" name="CardText2">
            <a:extLst>
              <a:ext uri="{FF2B5EF4-FFF2-40B4-BE49-F238E27FC236}">
                <a16:creationId xmlns:a16="http://schemas.microsoft.com/office/drawing/2014/main" id="{6F24465B-1821-B785-F442-1C687B75B6F7}"/>
              </a:ext>
            </a:extLst>
          </p:cNvPr>
          <p:cNvSpPr/>
          <p:nvPr/>
        </p:nvSpPr>
        <p:spPr>
          <a:xfrm>
            <a:off x="1524000" y="36703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1E1E1E"/>
                </a:solidFill>
                <a:latin typeface="Arial"/>
              </a:rPr>
              <a:t>PySpark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1E1E1E"/>
                </a:solidFill>
                <a:latin typeface="Arial"/>
              </a:rPr>
              <a:t>DataFrames, transforms &amp; actions</a:t>
            </a:r>
          </a:p>
        </p:txBody>
      </p:sp>
      <p:sp>
        <p:nvSpPr>
          <p:cNvPr id="213" name="Card3">
            <a:extLst>
              <a:ext uri="{FF2B5EF4-FFF2-40B4-BE49-F238E27FC236}">
                <a16:creationId xmlns:a16="http://schemas.microsoft.com/office/drawing/2014/main" id="{E2123695-68B6-8F99-19DB-2C1B5806AF9F}"/>
              </a:ext>
            </a:extLst>
          </p:cNvPr>
          <p:cNvSpPr/>
          <p:nvPr/>
        </p:nvSpPr>
        <p:spPr>
          <a:xfrm>
            <a:off x="609600" y="45466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4" name="Badge3">
            <a:extLst>
              <a:ext uri="{FF2B5EF4-FFF2-40B4-BE49-F238E27FC236}">
                <a16:creationId xmlns:a16="http://schemas.microsoft.com/office/drawing/2014/main" id="{FA299FB9-1DD2-D3A9-0DBF-AC6E70AB5EEA}"/>
              </a:ext>
            </a:extLst>
          </p:cNvPr>
          <p:cNvSpPr/>
          <p:nvPr/>
        </p:nvSpPr>
        <p:spPr>
          <a:xfrm>
            <a:off x="762000" y="46736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4</a:t>
            </a:r>
          </a:p>
        </p:txBody>
      </p:sp>
      <p:sp>
        <p:nvSpPr>
          <p:cNvPr id="215" name="CardText3">
            <a:extLst>
              <a:ext uri="{FF2B5EF4-FFF2-40B4-BE49-F238E27FC236}">
                <a16:creationId xmlns:a16="http://schemas.microsoft.com/office/drawing/2014/main" id="{B2D15D8E-D1FB-CA0D-E2CD-163E53E704CB}"/>
              </a:ext>
            </a:extLst>
          </p:cNvPr>
          <p:cNvSpPr/>
          <p:nvPr/>
        </p:nvSpPr>
        <p:spPr>
          <a:xfrm>
            <a:off x="1524000" y="46609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Putting PySpark to Work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A live notebook demo, real-world results.</a:t>
            </a:r>
          </a:p>
        </p:txBody>
      </p:sp>
      <p:sp>
        <p:nvSpPr>
          <p:cNvPr id="216" name="Card4">
            <a:extLst>
              <a:ext uri="{FF2B5EF4-FFF2-40B4-BE49-F238E27FC236}">
                <a16:creationId xmlns:a16="http://schemas.microsoft.com/office/drawing/2014/main" id="{57390E7A-BE2C-661B-5C17-20353A2278C2}"/>
              </a:ext>
            </a:extLst>
          </p:cNvPr>
          <p:cNvSpPr/>
          <p:nvPr/>
        </p:nvSpPr>
        <p:spPr>
          <a:xfrm>
            <a:off x="609600" y="55372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Badge4">
            <a:extLst>
              <a:ext uri="{FF2B5EF4-FFF2-40B4-BE49-F238E27FC236}">
                <a16:creationId xmlns:a16="http://schemas.microsoft.com/office/drawing/2014/main" id="{7524B145-812D-AA89-B0DF-B141B26CFD9B}"/>
              </a:ext>
            </a:extLst>
          </p:cNvPr>
          <p:cNvSpPr/>
          <p:nvPr/>
        </p:nvSpPr>
        <p:spPr>
          <a:xfrm>
            <a:off x="762000" y="56642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5</a:t>
            </a:r>
          </a:p>
        </p:txBody>
      </p:sp>
      <p:sp>
        <p:nvSpPr>
          <p:cNvPr id="218" name="CardText4">
            <a:extLst>
              <a:ext uri="{FF2B5EF4-FFF2-40B4-BE49-F238E27FC236}">
                <a16:creationId xmlns:a16="http://schemas.microsoft.com/office/drawing/2014/main" id="{DF44C9B5-FE22-5C41-E982-CF020F924288}"/>
              </a:ext>
            </a:extLst>
          </p:cNvPr>
          <p:cNvSpPr/>
          <p:nvPr/>
        </p:nvSpPr>
        <p:spPr>
          <a:xfrm>
            <a:off x="1524000" y="56515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Wrap-Up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Recap, resources &amp; next steps</a:t>
            </a:r>
          </a:p>
        </p:txBody>
      </p:sp>
      <p:sp>
        <p:nvSpPr>
          <p:cNvPr id="206" name="HerePill0">
            <a:extLst>
              <a:ext uri="{FF2B5EF4-FFF2-40B4-BE49-F238E27FC236}">
                <a16:creationId xmlns:a16="http://schemas.microsoft.com/office/drawing/2014/main" id="{88A40A49-D275-E3F1-9483-A976CEF8F0FA}"/>
              </a:ext>
            </a:extLst>
          </p:cNvPr>
          <p:cNvSpPr/>
          <p:nvPr/>
        </p:nvSpPr>
        <p:spPr>
          <a:xfrm>
            <a:off x="9880600" y="3797300"/>
            <a:ext cx="1524000" cy="33020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200" b="1" dirty="0">
                <a:solidFill>
                  <a:srgbClr val="4EC9B0"/>
                </a:solidFill>
                <a:latin typeface="Arial"/>
              </a:rPr>
              <a:t>YOU ARE HERE</a:t>
            </a:r>
          </a:p>
        </p:txBody>
      </p:sp>
    </p:spTree>
    <p:extLst>
      <p:ext uri="{BB962C8B-B14F-4D97-AF65-F5344CB8AC3E}">
        <p14:creationId xmlns:p14="http://schemas.microsoft.com/office/powerpoint/2010/main" val="9858295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0207C4-AB3C-CB37-CCC3-25F9CA62D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ldRuleTop">
            <a:extLst>
              <a:ext uri="{FF2B5EF4-FFF2-40B4-BE49-F238E27FC236}">
                <a16:creationId xmlns:a16="http://schemas.microsoft.com/office/drawing/2014/main" id="{3885EE42-1382-4B45-8302-C961B5AAD23E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F8E9BECB-4763-458A-852A-4910A9ABE849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4F206B-E92E-44A8-9B88-2E64A7FB95BB}"/>
              </a:ext>
            </a:extLst>
          </p:cNvPr>
          <p:cNvSpPr txBox="1"/>
          <p:nvPr/>
        </p:nvSpPr>
        <p:spPr>
          <a:xfrm>
            <a:off x="520700" y="5588000"/>
            <a:ext cx="11150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2000" i="1" dirty="0">
                <a:solidFill>
                  <a:srgbClr val="FFFFFF"/>
                </a:solidFill>
              </a:rPr>
              <a:t>Like Pandas, but distributed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98D4BB9-64C7-05B7-D134-3C3860733BFC}"/>
              </a:ext>
            </a:extLst>
          </p:cNvPr>
          <p:cNvGrpSpPr/>
          <p:nvPr/>
        </p:nvGrpSpPr>
        <p:grpSpPr>
          <a:xfrm>
            <a:off x="889000" y="2032000"/>
            <a:ext cx="2794000" cy="2349500"/>
            <a:chOff x="889000" y="2032000"/>
            <a:chExt cx="2794000" cy="2349500"/>
          </a:xfrm>
        </p:grpSpPr>
        <p:pic>
          <p:nvPicPr>
            <p:cNvPr id="14" name="Graphic 14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97000" y="2032000"/>
              <a:ext cx="1778000" cy="17780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CB788A8-E93F-4F33-9664-A8C98C8D300F}"/>
                </a:ext>
              </a:extLst>
            </p:cNvPr>
            <p:cNvSpPr txBox="1"/>
            <p:nvPr/>
          </p:nvSpPr>
          <p:spPr>
            <a:xfrm>
              <a:off x="889000" y="3873500"/>
              <a:ext cx="2794000" cy="508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</a:rPr>
                <a:t>Pandas</a:t>
              </a:r>
            </a:p>
            <a:p>
              <a:pPr algn="ctr"/>
              <a:r>
                <a:rPr lang="en-US" sz="1400" i="1" dirty="0">
                  <a:solidFill>
                    <a:srgbClr val="BFBFBF"/>
                  </a:solidFill>
                </a:rPr>
                <a:t>one machine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EAB67A8-D176-998B-4BAE-8FE198169924}"/>
              </a:ext>
            </a:extLst>
          </p:cNvPr>
          <p:cNvGrpSpPr/>
          <p:nvPr/>
        </p:nvGrpSpPr>
        <p:grpSpPr>
          <a:xfrm>
            <a:off x="6095999" y="1397000"/>
            <a:ext cx="5944757" cy="3949700"/>
            <a:chOff x="6095999" y="1397000"/>
            <a:chExt cx="5944757" cy="3949700"/>
          </a:xfrm>
        </p:grpSpPr>
        <p:pic>
          <p:nvPicPr>
            <p:cNvPr id="4" name="Graphic 4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04000" y="1397000"/>
              <a:ext cx="1016000" cy="1016000"/>
            </a:xfrm>
            <a:prstGeom prst="rect">
              <a:avLst/>
            </a:prstGeom>
          </p:spPr>
        </p:pic>
        <p:pic>
          <p:nvPicPr>
            <p:cNvPr id="5" name="Graphic 5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82000" y="1397000"/>
              <a:ext cx="1016000" cy="1016000"/>
            </a:xfrm>
            <a:prstGeom prst="rect">
              <a:avLst/>
            </a:prstGeom>
          </p:spPr>
        </p:pic>
        <p:pic>
          <p:nvPicPr>
            <p:cNvPr id="6" name="Graphic 6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000" y="1397000"/>
              <a:ext cx="1016000" cy="1016000"/>
            </a:xfrm>
            <a:prstGeom prst="rect">
              <a:avLst/>
            </a:prstGeom>
          </p:spPr>
        </p:pic>
        <p:pic>
          <p:nvPicPr>
            <p:cNvPr id="7" name="Graphic 7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04000" y="2794000"/>
              <a:ext cx="1016000" cy="1016000"/>
            </a:xfrm>
            <a:prstGeom prst="rect">
              <a:avLst/>
            </a:prstGeom>
          </p:spPr>
        </p:pic>
        <p:pic>
          <p:nvPicPr>
            <p:cNvPr id="8" name="Graphic 8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000" y="2794000"/>
              <a:ext cx="1016000" cy="1016000"/>
            </a:xfrm>
            <a:prstGeom prst="rect">
              <a:avLst/>
            </a:prstGeom>
          </p:spPr>
        </p:pic>
        <p:pic>
          <p:nvPicPr>
            <p:cNvPr id="9" name="Graphic 9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04000" y="4191000"/>
              <a:ext cx="1016000" cy="1016000"/>
            </a:xfrm>
            <a:prstGeom prst="rect">
              <a:avLst/>
            </a:prstGeom>
          </p:spPr>
        </p:pic>
        <p:pic>
          <p:nvPicPr>
            <p:cNvPr id="10" name="Graphic 10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82000" y="4191000"/>
              <a:ext cx="1016000" cy="1016000"/>
            </a:xfrm>
            <a:prstGeom prst="rect">
              <a:avLst/>
            </a:prstGeom>
          </p:spPr>
        </p:pic>
        <p:pic>
          <p:nvPicPr>
            <p:cNvPr id="11" name="Graphic 11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000" y="4191000"/>
              <a:ext cx="1016000" cy="10160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85261EB-2AC1-4F27-A8F0-E4D7F8CD5840}"/>
                </a:ext>
              </a:extLst>
            </p:cNvPr>
            <p:cNvSpPr txBox="1"/>
            <p:nvPr/>
          </p:nvSpPr>
          <p:spPr>
            <a:xfrm>
              <a:off x="7874000" y="2921000"/>
              <a:ext cx="2032000" cy="762000"/>
            </a:xfrm>
            <a:prstGeom prst="rect">
              <a:avLst/>
            </a:prstGeom>
            <a:noFill/>
          </p:spPr>
          <p:txBody>
            <a:bodyPr vertOverflow="overflow" vert="horz" wrap="square" rtlCol="0" anchor="ctr" anchorCtr="0">
              <a:noAutofit/>
            </a:bodyPr>
            <a:lstStyle/>
            <a:p>
              <a:pPr algn="ctr"/>
              <a:r>
                <a:rPr lang="en-US" sz="3200" b="1" dirty="0">
                  <a:solidFill>
                    <a:srgbClr val="EBA000"/>
                  </a:solidFill>
                </a:rPr>
                <a:t>PySpark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B819677-F386-49F0-A8A7-422B6B74DA74}"/>
                </a:ext>
              </a:extLst>
            </p:cNvPr>
            <p:cNvSpPr/>
            <p:nvPr/>
          </p:nvSpPr>
          <p:spPr>
            <a:xfrm>
              <a:off x="6096000" y="1651000"/>
              <a:ext cx="12700" cy="2540000"/>
            </a:xfrm>
            <a:prstGeom prst="rect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054D78A-46F1-4E72-A5B9-52B20CE47C47}"/>
                </a:ext>
              </a:extLst>
            </p:cNvPr>
            <p:cNvSpPr txBox="1"/>
            <p:nvPr/>
          </p:nvSpPr>
          <p:spPr>
            <a:xfrm>
              <a:off x="6095999" y="5067300"/>
              <a:ext cx="5944757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/>
              <a:r>
                <a:rPr lang="en-US" sz="1400" i="1" dirty="0">
                  <a:solidFill>
                    <a:srgbClr val="BFBFBF"/>
                  </a:solidFill>
                </a:rPr>
                <a:t>across the cluster</a:t>
              </a:r>
            </a:p>
          </p:txBody>
        </p:sp>
      </p:grpSp>
      <p:sp>
        <p:nvSpPr>
          <p:cNvPr id="20" name="Title 19">
            <a:extLst>
              <a:ext uri="{FF2B5EF4-FFF2-40B4-BE49-F238E27FC236}">
                <a16:creationId xmlns:a16="http://schemas.microsoft.com/office/drawing/2014/main" id="{87AACF7C-8911-BE92-9FB5-7CD8B69FF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F341E96D-00FD-06DC-594F-16C21AAF7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671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0207C4-AB3C-CB37-CCC3-25F9CA62D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4E968B8-EA75-54C3-8B19-3F6A51C50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</a:rPr>
              <a:t>PySpark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D6C5191-F4FE-1E7E-BAFA-85D95D662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3885EE42-1382-4B45-8302-C961B5AAD23E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F8E9BECB-4763-458A-852A-4910A9ABE849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60D586-CA0F-4580-ACCF-A43CD888BAAB}"/>
              </a:ext>
            </a:extLst>
          </p:cNvPr>
          <p:cNvSpPr txBox="1"/>
          <p:nvPr/>
        </p:nvSpPr>
        <p:spPr>
          <a:xfrm>
            <a:off x="520700" y="2222500"/>
            <a:ext cx="4318000" cy="355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</a:rPr>
              <a:t>The Python API for Spark. Write familiar DataFrame code; Spark splits the work across the cluster.</a:t>
            </a:r>
          </a:p>
          <a:p>
            <a:pPr>
              <a:lnSpc>
                <a:spcPts val="2000"/>
              </a:lnSpc>
              <a:buNone/>
            </a:pPr>
            <a:endParaRPr lang="en-US" sz="800" dirty="0"/>
          </a:p>
          <a:p>
            <a:pPr marL="228600" indent="-228600">
              <a:lnSpc>
                <a:spcPts val="2200"/>
              </a:lnSpc>
              <a:spcAft>
                <a:spcPts val="400"/>
              </a:spcAft>
              <a:buFont typeface="Arial"/>
              <a:buChar char="•"/>
            </a:pPr>
            <a:r>
              <a:rPr lang="en-US" sz="1500" b="1" dirty="0">
                <a:solidFill>
                  <a:srgbClr val="EBA000"/>
                </a:solidFill>
              </a:rPr>
              <a:t>Same DataFrame API</a:t>
            </a:r>
            <a:r>
              <a:rPr lang="en-US" sz="1500" dirty="0">
                <a:solidFill>
                  <a:srgbClr val="FFFFFF"/>
                </a:solidFill>
              </a:rPr>
              <a:t> — scales from MBs to TBs</a:t>
            </a:r>
          </a:p>
          <a:p>
            <a:pPr marL="228600" indent="-228600">
              <a:lnSpc>
                <a:spcPts val="2200"/>
              </a:lnSpc>
              <a:spcAft>
                <a:spcPts val="400"/>
              </a:spcAft>
              <a:buFont typeface="Arial"/>
              <a:buChar char="•"/>
            </a:pPr>
            <a:r>
              <a:rPr lang="en-US" sz="1500" b="1" dirty="0">
                <a:solidFill>
                  <a:srgbClr val="EBA000"/>
                </a:solidFill>
              </a:rPr>
              <a:t>Lazy evaluation</a:t>
            </a:r>
            <a:r>
              <a:rPr lang="en-US" sz="1500" dirty="0">
                <a:solidFill>
                  <a:srgbClr val="FFFFFF"/>
                </a:solidFill>
              </a:rPr>
              <a:t> — Spark optimizes the full job before running</a:t>
            </a:r>
          </a:p>
          <a:p>
            <a:pPr marL="228600" indent="-228600">
              <a:lnSpc>
                <a:spcPts val="2200"/>
              </a:lnSpc>
              <a:spcAft>
                <a:spcPts val="400"/>
              </a:spcAft>
              <a:buFont typeface="Arial"/>
              <a:buChar char="•"/>
            </a:pPr>
            <a:r>
              <a:rPr lang="en-US" sz="1500" b="1" dirty="0">
                <a:solidFill>
                  <a:srgbClr val="EBA000"/>
                </a:solidFill>
              </a:rPr>
              <a:t>Native OneLake</a:t>
            </a:r>
            <a:r>
              <a:rPr lang="en-US" sz="1500" dirty="0">
                <a:solidFill>
                  <a:srgbClr val="FFFFFF"/>
                </a:solidFill>
              </a:rPr>
              <a:t> — read/write Delta tables directly</a:t>
            </a:r>
          </a:p>
          <a:p>
            <a:pPr marL="228600" indent="-228600">
              <a:lnSpc>
                <a:spcPts val="2200"/>
              </a:lnSpc>
              <a:spcAft>
                <a:spcPts val="400"/>
              </a:spcAft>
              <a:buFont typeface="Arial"/>
              <a:buChar char="•"/>
            </a:pPr>
            <a:r>
              <a:rPr lang="en-US" sz="1500" b="1" dirty="0">
                <a:solidFill>
                  <a:srgbClr val="EBA000"/>
                </a:solidFill>
              </a:rPr>
              <a:t>SparkSQL on the side</a:t>
            </a:r>
            <a:r>
              <a:rPr lang="en-US" sz="1500" dirty="0">
                <a:solidFill>
                  <a:srgbClr val="FFFFFF"/>
                </a:solidFill>
              </a:rPr>
              <a:t> — drop into SQL whenever you want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E9726C-6FEA-407B-9870-1D45D879DC80}"/>
              </a:ext>
            </a:extLst>
          </p:cNvPr>
          <p:cNvSpPr txBox="1"/>
          <p:nvPr/>
        </p:nvSpPr>
        <p:spPr>
          <a:xfrm>
            <a:off x="5054600" y="1206500"/>
            <a:ext cx="6616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400" b="1" dirty="0">
                <a:solidFill>
                  <a:srgbClr val="BFBFBF"/>
                </a:solidFill>
              </a:rPr>
              <a:t>Pandas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3E5266-BFB5-43F5-B0A4-7586F867E42B}"/>
              </a:ext>
            </a:extLst>
          </p:cNvPr>
          <p:cNvSpPr/>
          <p:nvPr/>
        </p:nvSpPr>
        <p:spPr>
          <a:xfrm>
            <a:off x="5054600" y="1524000"/>
            <a:ext cx="6616700" cy="1651000"/>
          </a:xfrm>
          <a:prstGeom prst="rect">
            <a:avLst/>
          </a:prstGeom>
          <a:solidFill>
            <a:srgbClr val="0F1419"/>
          </a:solidFill>
          <a:ln w="12700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B6A3D7-EAC6-41F7-959C-86C9ACB6A3AA}"/>
              </a:ext>
            </a:extLst>
          </p:cNvPr>
          <p:cNvSpPr txBox="1"/>
          <p:nvPr/>
        </p:nvSpPr>
        <p:spPr>
          <a:xfrm>
            <a:off x="5207000" y="1651000"/>
            <a:ext cx="6350000" cy="1460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/>
              </a:rPr>
              <a:t>df = pd.read_parquet("sales.parquet")</a:t>
            </a:r>
          </a:p>
          <a:p>
            <a:pPr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/>
              </a:rPr>
              <a:t>(df.groupby("region")</a:t>
            </a:r>
          </a:p>
          <a:p>
            <a:pPr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/>
              </a:rPr>
              <a:t>   .agg({"revenue": "sum"}))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F3D708-138B-4763-AF82-523EFE41CE4A}"/>
              </a:ext>
            </a:extLst>
          </p:cNvPr>
          <p:cNvSpPr txBox="1"/>
          <p:nvPr/>
        </p:nvSpPr>
        <p:spPr>
          <a:xfrm>
            <a:off x="5054600" y="3429000"/>
            <a:ext cx="6616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400" b="1" dirty="0">
                <a:solidFill>
                  <a:srgbClr val="EBA000"/>
                </a:solidFill>
              </a:rPr>
              <a:t>PySpark</a:t>
            </a:r>
            <a:r>
              <a:rPr lang="en-US" sz="1400" i="1" dirty="0">
                <a:solidFill>
                  <a:srgbClr val="BFBFBF"/>
                </a:solidFill>
              </a:rPr>
              <a:t>  — same shape, runs distributed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BB4BFF-D697-4955-9CD9-617DEB0EBCC7}"/>
              </a:ext>
            </a:extLst>
          </p:cNvPr>
          <p:cNvSpPr/>
          <p:nvPr/>
        </p:nvSpPr>
        <p:spPr>
          <a:xfrm>
            <a:off x="5054600" y="3746500"/>
            <a:ext cx="6616700" cy="1841500"/>
          </a:xfrm>
          <a:prstGeom prst="rect">
            <a:avLst/>
          </a:prstGeom>
          <a:solidFill>
            <a:srgbClr val="0F1419"/>
          </a:solidFill>
          <a:ln w="25400" cap="flat" cmpd="sng" algn="ctr">
            <a:solidFill>
              <a:srgbClr val="EBA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FF030F-F252-45C8-AA7F-AB0FC2C26CE3}"/>
              </a:ext>
            </a:extLst>
          </p:cNvPr>
          <p:cNvSpPr txBox="1"/>
          <p:nvPr/>
        </p:nvSpPr>
        <p:spPr>
          <a:xfrm>
            <a:off x="5207000" y="3873500"/>
            <a:ext cx="6350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/>
              </a:rPr>
              <a:t>df = spark.read.parquet("sales.parquet")</a:t>
            </a:r>
          </a:p>
          <a:p>
            <a:pPr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/>
              </a:rPr>
              <a:t>(df.groupBy("region")</a:t>
            </a:r>
          </a:p>
          <a:p>
            <a:pPr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/>
              </a:rPr>
              <a:t>   .agg({"revenue": "sum"}))</a:t>
            </a:r>
          </a:p>
        </p:txBody>
      </p:sp>
    </p:spTree>
    <p:extLst>
      <p:ext uri="{BB962C8B-B14F-4D97-AF65-F5344CB8AC3E}">
        <p14:creationId xmlns:p14="http://schemas.microsoft.com/office/powerpoint/2010/main" val="6069395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5C59B-88A8-3FA3-51C7-B9B125655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56">
            <a:extLst>
              <a:ext uri="{FF2B5EF4-FFF2-40B4-BE49-F238E27FC236}">
                <a16:creationId xmlns:a16="http://schemas.microsoft.com/office/drawing/2014/main" id="{75217BDC-120B-FEAD-782D-5A7DF34D69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1"/>
            <a:ext cx="12191978" cy="6857988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4F348EF8-DFF1-CF60-9C9B-541E05787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6000" b="1" dirty="0">
                <a:solidFill>
                  <a:srgbClr val="FFFFFF"/>
                </a:solidFill>
              </a:rPr>
              <a:t>Spark is Lazy</a:t>
            </a:r>
          </a:p>
          <a:p>
            <a:r>
              <a:rPr lang="en-US" sz="3600" i="1" dirty="0">
                <a:solidFill>
                  <a:srgbClr val="EBA000"/>
                </a:solidFill>
              </a:rPr>
              <a:t>…in a good way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8D027E-B40F-C37A-27CF-89BD789FD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1026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5E6996-2FB7-247F-38DE-096453E6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A269DA4-4DF5-E726-32DD-BE34B416B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Transformations queue. Actions trigger.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3FC4A0-7F9D-0E53-BEC0-12EF22EFA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0E8C4A8C-D748-4C3A-AEB1-E8A0F5681EE9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ECF3400E-BED0-474D-A86A-24105D0A5ACB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EE5B66-8A6D-436B-9456-D3502CB52BE6}"/>
              </a:ext>
            </a:extLst>
          </p:cNvPr>
          <p:cNvSpPr/>
          <p:nvPr/>
        </p:nvSpPr>
        <p:spPr>
          <a:xfrm>
            <a:off x="6083300" y="2222500"/>
            <a:ext cx="12700" cy="3937000"/>
          </a:xfrm>
          <a:prstGeom prst="rect">
            <a:avLst/>
          </a:prstGeom>
          <a:solidFill>
            <a:srgbClr val="44444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4B385F-C804-4A0B-9321-4D4AAF03AA3E}"/>
              </a:ext>
            </a:extLst>
          </p:cNvPr>
          <p:cNvSpPr txBox="1"/>
          <p:nvPr/>
        </p:nvSpPr>
        <p:spPr>
          <a:xfrm>
            <a:off x="762000" y="2222500"/>
            <a:ext cx="508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2800" b="1" dirty="0">
                <a:solidFill>
                  <a:srgbClr val="EBA000"/>
                </a:solidFill>
              </a:rPr>
              <a:t>Transformations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BA5E05-84E3-4E31-A711-7498192D503D}"/>
              </a:ext>
            </a:extLst>
          </p:cNvPr>
          <p:cNvSpPr txBox="1"/>
          <p:nvPr/>
        </p:nvSpPr>
        <p:spPr>
          <a:xfrm>
            <a:off x="762000" y="2730500"/>
            <a:ext cx="508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600" i="1" dirty="0">
                <a:solidFill>
                  <a:srgbClr val="BFBFBF"/>
                </a:solidFill>
              </a:rPr>
              <a:t>Describe the work — deferred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AB65AC-D0FC-40E6-B926-0CD6F7DE7258}"/>
              </a:ext>
            </a:extLst>
          </p:cNvPr>
          <p:cNvSpPr txBox="1"/>
          <p:nvPr/>
        </p:nvSpPr>
        <p:spPr>
          <a:xfrm>
            <a:off x="762000" y="3302000"/>
            <a:ext cx="5080000" cy="254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</a:rPr>
              <a:t>select()</a:t>
            </a:r>
          </a:p>
          <a:p>
            <a:pPr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</a:rPr>
              <a:t>filter()</a:t>
            </a:r>
          </a:p>
          <a:p>
            <a:pPr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</a:rPr>
              <a:t>withColumn()</a:t>
            </a:r>
          </a:p>
          <a:p>
            <a:pPr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</a:rPr>
              <a:t>groupBy()</a:t>
            </a:r>
          </a:p>
          <a:p>
            <a:pPr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</a:rPr>
              <a:t>join()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180B20-95B0-499B-8061-9DDBD72F9331}"/>
              </a:ext>
            </a:extLst>
          </p:cNvPr>
          <p:cNvSpPr txBox="1"/>
          <p:nvPr/>
        </p:nvSpPr>
        <p:spPr>
          <a:xfrm>
            <a:off x="6350000" y="2222500"/>
            <a:ext cx="508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2800" b="1" dirty="0">
                <a:solidFill>
                  <a:srgbClr val="00BAC8"/>
                </a:solidFill>
              </a:rPr>
              <a:t>Actions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9B1D69-EF44-4FBF-99FA-527666FE2AEA}"/>
              </a:ext>
            </a:extLst>
          </p:cNvPr>
          <p:cNvSpPr txBox="1"/>
          <p:nvPr/>
        </p:nvSpPr>
        <p:spPr>
          <a:xfrm>
            <a:off x="6350000" y="2730500"/>
            <a:ext cx="508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600" i="1" dirty="0">
                <a:solidFill>
                  <a:srgbClr val="BFBFBF"/>
                </a:solidFill>
              </a:rPr>
              <a:t>Demand a result — Spark runs the job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8F38DA-6AB8-4FCF-8FF3-EF09DBA0BEBA}"/>
              </a:ext>
            </a:extLst>
          </p:cNvPr>
          <p:cNvSpPr txBox="1"/>
          <p:nvPr/>
        </p:nvSpPr>
        <p:spPr>
          <a:xfrm>
            <a:off x="6350000" y="3302000"/>
            <a:ext cx="5080000" cy="254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</a:rPr>
              <a:t>show()</a:t>
            </a:r>
          </a:p>
          <a:p>
            <a:pPr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</a:rPr>
              <a:t>count()</a:t>
            </a:r>
          </a:p>
          <a:p>
            <a:pPr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</a:rPr>
              <a:t>collect()</a:t>
            </a:r>
          </a:p>
          <a:p>
            <a:pPr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</a:rPr>
              <a:t>write.save()</a:t>
            </a:r>
          </a:p>
          <a:p>
            <a:pPr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</a:rPr>
              <a:t>toPandas()</a:t>
            </a:r>
          </a:p>
        </p:txBody>
      </p:sp>
    </p:spTree>
    <p:extLst>
      <p:ext uri="{BB962C8B-B14F-4D97-AF65-F5344CB8AC3E}">
        <p14:creationId xmlns:p14="http://schemas.microsoft.com/office/powerpoint/2010/main" val="11692887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427AB4-7FA1-DC48-3BE5-28C5622E9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FFA9BFE-10E7-F36F-BEE1-FE2EA5D48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400" b="1" spc="300" dirty="0">
                <a:solidFill>
                  <a:srgbClr val="4EC9B0"/>
                </a:solidFill>
              </a:rPr>
              <a:t>WHY LAZY</a:t>
            </a:r>
          </a:p>
          <a:p>
            <a:pPr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Benefits of </a:t>
            </a:r>
            <a:r>
              <a:rPr lang="en-US" sz="4000" b="1" dirty="0">
                <a:solidFill>
                  <a:srgbClr val="EBA000"/>
                </a:solidFill>
              </a:rPr>
              <a:t>Lazy Evaluation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D9B075-F815-F70C-6FEA-E7348242F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 anchorCtr="0">
            <a:normAutofit/>
          </a:bodyPr>
          <a:lstStyle/>
          <a:p>
            <a:pPr marL="285750" indent="-285750" algn="l">
              <a:lnSpc>
                <a:spcPct val="130000"/>
              </a:lnSpc>
              <a:spcBef>
                <a:spcPts val="600"/>
              </a:spcBef>
              <a:buClr>
                <a:srgbClr val="EBA000"/>
              </a:buClr>
              <a:buFont typeface="Arial"/>
              <a:buChar char="●"/>
            </a:pPr>
            <a:r>
              <a:rPr lang="en-US" sz="3200" b="1" dirty="0">
                <a:solidFill>
                  <a:srgbClr val="FFFFFF"/>
                </a:solidFill>
              </a:rPr>
              <a:t>Saves resources</a:t>
            </a:r>
            <a:r>
              <a:rPr lang="en-US" sz="2400" dirty="0">
                <a:solidFill>
                  <a:srgbClr val="CCCCCC"/>
                </a:solidFill>
              </a:rPr>
              <a:t> — intermediate work is skipped</a:t>
            </a:r>
          </a:p>
          <a:p>
            <a:pPr marL="285750" indent="-285750" algn="l">
              <a:lnSpc>
                <a:spcPct val="130000"/>
              </a:lnSpc>
              <a:spcBef>
                <a:spcPts val="600"/>
              </a:spcBef>
              <a:buClr>
                <a:srgbClr val="EBA000"/>
              </a:buClr>
              <a:buFont typeface="Arial"/>
              <a:buChar char="●"/>
            </a:pPr>
            <a:r>
              <a:rPr lang="en-US" sz="3200" b="1" dirty="0">
                <a:solidFill>
                  <a:srgbClr val="FFFFFF"/>
                </a:solidFill>
              </a:rPr>
              <a:t>Plan can be optimized</a:t>
            </a:r>
            <a:r>
              <a:rPr lang="en-US" sz="2400" dirty="0">
                <a:solidFill>
                  <a:srgbClr val="CCCCCC"/>
                </a:solidFill>
              </a:rPr>
              <a:t> — Catalyst reorders, prunes, pushes down filters</a:t>
            </a:r>
          </a:p>
          <a:p>
            <a:pPr marL="285750" indent="-285750" algn="l">
              <a:lnSpc>
                <a:spcPct val="130000"/>
              </a:lnSpc>
              <a:spcBef>
                <a:spcPts val="600"/>
              </a:spcBef>
              <a:buClr>
                <a:srgbClr val="EBA000"/>
              </a:buClr>
              <a:buFont typeface="Arial"/>
              <a:buChar char="●"/>
            </a:pPr>
            <a:r>
              <a:rPr lang="en-US" sz="3200" b="1" dirty="0">
                <a:solidFill>
                  <a:srgbClr val="FFFFFF"/>
                </a:solidFill>
              </a:rPr>
              <a:t>Sees the whole job</a:t>
            </a:r>
            <a:r>
              <a:rPr lang="en-US" sz="2400" dirty="0">
                <a:solidFill>
                  <a:srgbClr val="CCCCCC"/>
                </a:solidFill>
              </a:rPr>
              <a:t> — Spark picks the smartest path before running anything</a:t>
            </a:r>
          </a:p>
          <a:p>
            <a:pPr marL="285750" indent="-285750" algn="l">
              <a:lnSpc>
                <a:spcPct val="130000"/>
              </a:lnSpc>
              <a:spcBef>
                <a:spcPts val="600"/>
              </a:spcBef>
              <a:buClr>
                <a:srgbClr val="EBA000"/>
              </a:buClr>
              <a:buFont typeface="Arial"/>
              <a:buChar char="●"/>
            </a:pPr>
            <a:r>
              <a:rPr lang="en-US" sz="3200" b="1" dirty="0">
                <a:solidFill>
                  <a:srgbClr val="FFFFFF"/>
                </a:solidFill>
              </a:rPr>
              <a:t>Skips redundant work</a:t>
            </a:r>
            <a:r>
              <a:rPr lang="en-US" sz="2400" dirty="0">
                <a:solidFill>
                  <a:srgbClr val="CCCCCC"/>
                </a:solidFill>
              </a:rPr>
              <a:t> — the same data isn't read or recomputed twice</a:t>
            </a:r>
          </a:p>
          <a:p>
            <a:pPr algn="l">
              <a:spcBef>
                <a:spcPts val="1400"/>
              </a:spcBef>
              <a:buNone/>
            </a:pPr>
            <a:r>
              <a:rPr lang="en-US" sz="1600" i="1" dirty="0">
                <a:solidFill>
                  <a:srgbClr val="CCCCCC"/>
                </a:solidFill>
              </a:rPr>
              <a:t>For contrast: </a:t>
            </a:r>
            <a:r>
              <a:rPr lang="en-US" sz="1600" b="1" dirty="0">
                <a:solidFill>
                  <a:srgbClr val="FE5D21"/>
                </a:solidFill>
              </a:rPr>
              <a:t>pandas</a:t>
            </a:r>
            <a:r>
              <a:rPr lang="en-US" sz="1600" i="1" dirty="0">
                <a:solidFill>
                  <a:srgbClr val="CCCCCC"/>
                </a:solidFill>
              </a:rPr>
              <a:t> (non-Spark, historic) runs eager evaluation.</a:t>
            </a:r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BD432CA4-45CC-4E99-B984-C9A146472D80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8BBC5E2D-CB71-4CE8-B881-365A0A56B986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509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FFF7DA-F13F-5E20-A093-EBF5E5785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CB8A3E8-CE45-FC3E-CD5D-ECAD8F7F8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Data Wrangler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8920E3-2AF2-A8E2-DA4B-8C5144409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779478" cy="3767328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Power Query for PySpark and Python</a:t>
            </a:r>
          </a:p>
        </p:txBody>
      </p:sp>
      <p:pic>
        <p:nvPicPr>
          <p:cNvPr id="13" name="Graphic 12" descr="Cow">
            <a:extLst>
              <a:ext uri="{FF2B5EF4-FFF2-40B4-BE49-F238E27FC236}">
                <a16:creationId xmlns:a16="http://schemas.microsoft.com/office/drawing/2014/main" id="{074919C3-E04D-C8EF-4934-D30C048F51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06492" y="976160"/>
            <a:ext cx="4364590" cy="4364590"/>
          </a:xfrm>
          <a:prstGeom prst="rect">
            <a:avLst/>
          </a:prstGeom>
        </p:spPr>
      </p:pic>
      <p:sp>
        <p:nvSpPr>
          <p:cNvPr id="2" name="GoldRuleTop">
            <a:extLst>
              <a:ext uri="{FF2B5EF4-FFF2-40B4-BE49-F238E27FC236}">
                <a16:creationId xmlns:a16="http://schemas.microsoft.com/office/drawing/2014/main" id="{B880CFC4-8F3A-464E-B280-B6FD2F44EC8E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67902CCF-D116-44CB-81F8-3937CD96FE95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3715EB-5BC0-45FB-9FEC-2206D92AE296}"/>
              </a:ext>
            </a:extLst>
          </p:cNvPr>
          <p:cNvSpPr txBox="1"/>
          <p:nvPr/>
        </p:nvSpPr>
        <p:spPr>
          <a:xfrm>
            <a:off x="7669645" y="4574309"/>
            <a:ext cx="4368800" cy="635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800" b="1" i="1" dirty="0">
                <a:solidFill>
                  <a:srgbClr val="EBA000"/>
                </a:solidFill>
              </a:rPr>
              <a:t>Data Moo-</a:t>
            </a:r>
            <a:r>
              <a:rPr lang="en-US" sz="2800" b="1" i="1" dirty="0" err="1">
                <a:solidFill>
                  <a:srgbClr val="EBA000"/>
                </a:solidFill>
              </a:rPr>
              <a:t>ment</a:t>
            </a:r>
            <a:endParaRPr lang="en-US" sz="2800" b="1" i="1" dirty="0">
              <a:solidFill>
                <a:srgbClr val="EBA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D5E0CC-9F66-6D6D-A36D-FB2BA32E5D31}"/>
              </a:ext>
            </a:extLst>
          </p:cNvPr>
          <p:cNvSpPr txBox="1"/>
          <p:nvPr/>
        </p:nvSpPr>
        <p:spPr>
          <a:xfrm>
            <a:off x="520700" y="5777987"/>
            <a:ext cx="7227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*</a:t>
            </a:r>
            <a:r>
              <a:rPr lang="en-US" sz="2800" dirty="0">
                <a:solidFill>
                  <a:schemeClr val="bg1"/>
                </a:solidFill>
              </a:rPr>
              <a:t> We’re wrangling columns, not cattle.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F2856E-4C04-943A-03C0-2A4A643B0736}"/>
              </a:ext>
            </a:extLst>
          </p:cNvPr>
          <p:cNvSpPr txBox="1"/>
          <p:nvPr/>
        </p:nvSpPr>
        <p:spPr>
          <a:xfrm>
            <a:off x="11231310" y="732420"/>
            <a:ext cx="6234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accent1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39640752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713DCF-483E-3399-1C9E-F308EA2A2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2A96DE2-D895-7C6A-DC99-56CAE1C78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1600" b="1" spc="200" dirty="0">
                <a:solidFill>
                  <a:srgbClr val="4EC9B0"/>
                </a:solidFill>
                <a:latin typeface="Arial"/>
              </a:rPr>
              <a:t>LIVE DEMO</a:t>
            </a:r>
          </a:p>
          <a:p>
            <a:pPr algn="l">
              <a:spcBef>
                <a:spcPts val="600"/>
              </a:spcBef>
            </a:pPr>
            <a:r>
              <a:rPr lang="en-US" sz="4800" b="1" dirty="0">
                <a:solidFill>
                  <a:srgbClr val="FFFFFF"/>
                </a:solidFill>
                <a:latin typeface="Arial"/>
              </a:rPr>
              <a:t>PySpark </a:t>
            </a:r>
            <a:r>
              <a:rPr lang="en-US" sz="4800" b="1" dirty="0">
                <a:solidFill>
                  <a:srgbClr val="EBA000"/>
                </a:solidFill>
                <a:latin typeface="Arial"/>
              </a:rPr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071E9-6CAD-DF55-0B87-3BF2C9E99EF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02106B-19F8-B714-F90B-1FA8FB86290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DB14EB-6F28-E50A-DC51-7BC1DDD76D0A}"/>
              </a:ext>
            </a:extLst>
          </p:cNvPr>
          <p:cNvSpPr txBox="1"/>
          <p:nvPr/>
        </p:nvSpPr>
        <p:spPr>
          <a:xfrm>
            <a:off x="762000" y="5151584"/>
            <a:ext cx="9291151" cy="90670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5200" dirty="0">
                <a:solidFill>
                  <a:schemeClr val="accent1"/>
                </a:solidFill>
              </a:rPr>
              <a:t>*</a:t>
            </a:r>
            <a:r>
              <a:rPr lang="en-US" sz="2800" dirty="0">
                <a:solidFill>
                  <a:schemeClr val="accent1"/>
                </a:solidFill>
              </a:rPr>
              <a:t> This is where Python starts speaking </a:t>
            </a:r>
            <a:r>
              <a:rPr lang="en-US" sz="2800" dirty="0" err="1">
                <a:solidFill>
                  <a:schemeClr val="accent1"/>
                </a:solidFill>
              </a:rPr>
              <a:t>Parseltongue</a:t>
            </a:r>
            <a:r>
              <a:rPr lang="en-US" sz="2800" dirty="0">
                <a:solidFill>
                  <a:schemeClr val="accent1"/>
                </a:solidFill>
              </a:rPr>
              <a:t> to Spark.</a:t>
            </a:r>
            <a:endParaRPr lang="en-US" sz="2800" i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44" name="Graphic 144" descr="Lightning bolt sp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6368" y="2408670"/>
            <a:ext cx="1143000" cy="1143000"/>
          </a:xfrm>
          <a:prstGeom prst="rect">
            <a:avLst/>
          </a:prstGeom>
        </p:spPr>
      </p:pic>
      <p:pic>
        <p:nvPicPr>
          <p:cNvPr id="5" name="Graphic 4" descr="Snake">
            <a:extLst>
              <a:ext uri="{FF2B5EF4-FFF2-40B4-BE49-F238E27FC236}">
                <a16:creationId xmlns:a16="http://schemas.microsoft.com/office/drawing/2014/main" id="{098BF45D-9534-2B65-AC8E-A083DA7CF8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56321" y="1482137"/>
            <a:ext cx="3517331" cy="35173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C446BD-27DD-294D-BE5C-F274FA0A0281}"/>
              </a:ext>
            </a:extLst>
          </p:cNvPr>
          <p:cNvSpPr txBox="1"/>
          <p:nvPr/>
        </p:nvSpPr>
        <p:spPr>
          <a:xfrm>
            <a:off x="9860317" y="1329543"/>
            <a:ext cx="6234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accent1"/>
                </a:solidFill>
              </a:rPr>
              <a:t>*</a:t>
            </a:r>
          </a:p>
        </p:txBody>
      </p:sp>
      <p:pic>
        <p:nvPicPr>
          <p:cNvPr id="18" name="Graphic 144" descr="Lightning bolt spark">
            <a:extLst>
              <a:ext uri="{FF2B5EF4-FFF2-40B4-BE49-F238E27FC236}">
                <a16:creationId xmlns:a16="http://schemas.microsoft.com/office/drawing/2014/main" id="{BB38944D-EE28-3D0B-30B6-0E73BA182A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1845" y="1614046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339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DC5ED7-5B47-09AA-B4D5-507BA42AA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avTitle">
            <a:extLst>
              <a:ext uri="{FF2B5EF4-FFF2-40B4-BE49-F238E27FC236}">
                <a16:creationId xmlns:a16="http://schemas.microsoft.com/office/drawing/2014/main" id="{B830F50C-6BC0-A4E1-16D5-67CB4D43E6FC}"/>
              </a:ext>
            </a:extLst>
          </p:cNvPr>
          <p:cNvSpPr/>
          <p:nvPr/>
        </p:nvSpPr>
        <p:spPr>
          <a:xfrm>
            <a:off x="609600" y="508000"/>
            <a:ext cx="635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Arial"/>
              </a:rPr>
              <a:t>What We'll Cover</a:t>
            </a:r>
          </a:p>
        </p:txBody>
      </p:sp>
      <p:sp>
        <p:nvSpPr>
          <p:cNvPr id="201" name="TitleRule">
            <a:extLst>
              <a:ext uri="{FF2B5EF4-FFF2-40B4-BE49-F238E27FC236}">
                <a16:creationId xmlns:a16="http://schemas.microsoft.com/office/drawing/2014/main" id="{EDEC8165-D26F-533D-639C-53A4476E9011}"/>
              </a:ext>
            </a:extLst>
          </p:cNvPr>
          <p:cNvSpPr/>
          <p:nvPr/>
        </p:nvSpPr>
        <p:spPr>
          <a:xfrm>
            <a:off x="609600" y="1168400"/>
            <a:ext cx="812800" cy="635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Progress">
            <a:extLst>
              <a:ext uri="{FF2B5EF4-FFF2-40B4-BE49-F238E27FC236}">
                <a16:creationId xmlns:a16="http://schemas.microsoft.com/office/drawing/2014/main" id="{CBB7544D-B666-AA0B-88E3-D6CE9802C1B7}"/>
              </a:ext>
            </a:extLst>
          </p:cNvPr>
          <p:cNvSpPr/>
          <p:nvPr/>
        </p:nvSpPr>
        <p:spPr>
          <a:xfrm>
            <a:off x="8382000" y="660400"/>
            <a:ext cx="3200400" cy="38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600" b="1" dirty="0">
                <a:solidFill>
                  <a:srgbClr val="4EC9B0"/>
                </a:solidFill>
                <a:latin typeface="Arial"/>
              </a:rPr>
              <a:t>Section 4</a:t>
            </a:r>
            <a:r>
              <a:rPr lang="en-US" sz="1600" dirty="0">
                <a:solidFill>
                  <a:srgbClr val="8A8A8A"/>
                </a:solidFill>
                <a:latin typeface="Arial"/>
              </a:rPr>
              <a:t> / 5</a:t>
            </a:r>
          </a:p>
        </p:txBody>
      </p:sp>
      <p:sp>
        <p:nvSpPr>
          <p:cNvPr id="203" name="Card0">
            <a:extLst>
              <a:ext uri="{FF2B5EF4-FFF2-40B4-BE49-F238E27FC236}">
                <a16:creationId xmlns:a16="http://schemas.microsoft.com/office/drawing/2014/main" id="{ECD450A3-D34B-E648-640E-EBB57023F371}"/>
              </a:ext>
            </a:extLst>
          </p:cNvPr>
          <p:cNvSpPr/>
          <p:nvPr/>
        </p:nvSpPr>
        <p:spPr>
          <a:xfrm>
            <a:off x="609600" y="15748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Badge0">
            <a:extLst>
              <a:ext uri="{FF2B5EF4-FFF2-40B4-BE49-F238E27FC236}">
                <a16:creationId xmlns:a16="http://schemas.microsoft.com/office/drawing/2014/main" id="{2B002D1B-C329-B026-E3FC-FBC373295656}"/>
              </a:ext>
            </a:extLst>
          </p:cNvPr>
          <p:cNvSpPr/>
          <p:nvPr/>
        </p:nvSpPr>
        <p:spPr>
          <a:xfrm>
            <a:off x="762000" y="17018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1</a:t>
            </a:r>
          </a:p>
        </p:txBody>
      </p:sp>
      <p:sp>
        <p:nvSpPr>
          <p:cNvPr id="205" name="CardText0">
            <a:extLst>
              <a:ext uri="{FF2B5EF4-FFF2-40B4-BE49-F238E27FC236}">
                <a16:creationId xmlns:a16="http://schemas.microsoft.com/office/drawing/2014/main" id="{084B8924-1A42-7525-7C29-4AE01F60D433}"/>
              </a:ext>
            </a:extLst>
          </p:cNvPr>
          <p:cNvSpPr/>
          <p:nvPr/>
        </p:nvSpPr>
        <p:spPr>
          <a:xfrm>
            <a:off x="1524000" y="16891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dirty="0">
                <a:solidFill>
                  <a:srgbClr val="FFFFFF"/>
                </a:solidFill>
                <a:latin typeface="Arial"/>
              </a:rPr>
              <a:t>Foundations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dirty="0">
                <a:solidFill>
                  <a:srgbClr val="CCCCCC"/>
                </a:solidFill>
                <a:latin typeface="Arial"/>
              </a:rPr>
              <a:t>Spark's origins and the Fabric architecture we'll build on</a:t>
            </a:r>
          </a:p>
        </p:txBody>
      </p:sp>
      <p:sp>
        <p:nvSpPr>
          <p:cNvPr id="207" name="Card1">
            <a:extLst>
              <a:ext uri="{FF2B5EF4-FFF2-40B4-BE49-F238E27FC236}">
                <a16:creationId xmlns:a16="http://schemas.microsoft.com/office/drawing/2014/main" id="{7D4F81F4-7CE3-39E6-A747-CDB69FA132EC}"/>
              </a:ext>
            </a:extLst>
          </p:cNvPr>
          <p:cNvSpPr/>
          <p:nvPr/>
        </p:nvSpPr>
        <p:spPr>
          <a:xfrm>
            <a:off x="609600" y="25654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8" name="Badge1">
            <a:extLst>
              <a:ext uri="{FF2B5EF4-FFF2-40B4-BE49-F238E27FC236}">
                <a16:creationId xmlns:a16="http://schemas.microsoft.com/office/drawing/2014/main" id="{4CF0F6FF-1A2F-1996-F4B2-4D38612BD3BE}"/>
              </a:ext>
            </a:extLst>
          </p:cNvPr>
          <p:cNvSpPr/>
          <p:nvPr/>
        </p:nvSpPr>
        <p:spPr>
          <a:xfrm>
            <a:off x="762000" y="26924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2</a:t>
            </a:r>
          </a:p>
        </p:txBody>
      </p:sp>
      <p:sp>
        <p:nvSpPr>
          <p:cNvPr id="209" name="CardText1">
            <a:extLst>
              <a:ext uri="{FF2B5EF4-FFF2-40B4-BE49-F238E27FC236}">
                <a16:creationId xmlns:a16="http://schemas.microsoft.com/office/drawing/2014/main" id="{71AA1C82-CC05-F43B-FF0B-6D8C1B14E57C}"/>
              </a:ext>
            </a:extLst>
          </p:cNvPr>
          <p:cNvSpPr/>
          <p:nvPr/>
        </p:nvSpPr>
        <p:spPr>
          <a:xfrm>
            <a:off x="1524000" y="26797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Python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What you need to know before Spark makes sense</a:t>
            </a:r>
          </a:p>
        </p:txBody>
      </p:sp>
      <p:sp>
        <p:nvSpPr>
          <p:cNvPr id="210" name="Card2">
            <a:extLst>
              <a:ext uri="{FF2B5EF4-FFF2-40B4-BE49-F238E27FC236}">
                <a16:creationId xmlns:a16="http://schemas.microsoft.com/office/drawing/2014/main" id="{AF49BF08-6DB6-01AA-60DE-AE70BF603A50}"/>
              </a:ext>
            </a:extLst>
          </p:cNvPr>
          <p:cNvSpPr/>
          <p:nvPr/>
        </p:nvSpPr>
        <p:spPr>
          <a:xfrm>
            <a:off x="609600" y="35560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Badge2">
            <a:extLst>
              <a:ext uri="{FF2B5EF4-FFF2-40B4-BE49-F238E27FC236}">
                <a16:creationId xmlns:a16="http://schemas.microsoft.com/office/drawing/2014/main" id="{1D045AD3-CED2-61EC-1B42-138AA2FE0694}"/>
              </a:ext>
            </a:extLst>
          </p:cNvPr>
          <p:cNvSpPr/>
          <p:nvPr/>
        </p:nvSpPr>
        <p:spPr>
          <a:xfrm>
            <a:off x="762000" y="36830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3</a:t>
            </a:r>
          </a:p>
        </p:txBody>
      </p:sp>
      <p:sp>
        <p:nvSpPr>
          <p:cNvPr id="212" name="CardText2">
            <a:extLst>
              <a:ext uri="{FF2B5EF4-FFF2-40B4-BE49-F238E27FC236}">
                <a16:creationId xmlns:a16="http://schemas.microsoft.com/office/drawing/2014/main" id="{E1112645-B416-C06E-F240-860AF0FA3E10}"/>
              </a:ext>
            </a:extLst>
          </p:cNvPr>
          <p:cNvSpPr/>
          <p:nvPr/>
        </p:nvSpPr>
        <p:spPr>
          <a:xfrm>
            <a:off x="1524000" y="36703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PySpark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DataFrames, transforms &amp; actions</a:t>
            </a:r>
          </a:p>
        </p:txBody>
      </p:sp>
      <p:sp>
        <p:nvSpPr>
          <p:cNvPr id="213" name="Card3">
            <a:extLst>
              <a:ext uri="{FF2B5EF4-FFF2-40B4-BE49-F238E27FC236}">
                <a16:creationId xmlns:a16="http://schemas.microsoft.com/office/drawing/2014/main" id="{21574B11-2C55-A3BC-C6EF-588C9B50DA1C}"/>
              </a:ext>
            </a:extLst>
          </p:cNvPr>
          <p:cNvSpPr/>
          <p:nvPr/>
        </p:nvSpPr>
        <p:spPr>
          <a:xfrm>
            <a:off x="609600" y="45466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4" name="Badge3">
            <a:extLst>
              <a:ext uri="{FF2B5EF4-FFF2-40B4-BE49-F238E27FC236}">
                <a16:creationId xmlns:a16="http://schemas.microsoft.com/office/drawing/2014/main" id="{DD27C526-2E2E-CFE5-5BD0-A80C2592D996}"/>
              </a:ext>
            </a:extLst>
          </p:cNvPr>
          <p:cNvSpPr/>
          <p:nvPr/>
        </p:nvSpPr>
        <p:spPr>
          <a:xfrm>
            <a:off x="762000" y="4673600"/>
            <a:ext cx="558800" cy="55880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4EC9B0"/>
                </a:solidFill>
                <a:latin typeface="Arial"/>
              </a:rPr>
              <a:t>4</a:t>
            </a:r>
          </a:p>
        </p:txBody>
      </p:sp>
      <p:sp>
        <p:nvSpPr>
          <p:cNvPr id="215" name="CardText3">
            <a:extLst>
              <a:ext uri="{FF2B5EF4-FFF2-40B4-BE49-F238E27FC236}">
                <a16:creationId xmlns:a16="http://schemas.microsoft.com/office/drawing/2014/main" id="{FD2C187D-D063-54E4-C3C1-9D112E8ADA44}"/>
              </a:ext>
            </a:extLst>
          </p:cNvPr>
          <p:cNvSpPr/>
          <p:nvPr/>
        </p:nvSpPr>
        <p:spPr>
          <a:xfrm>
            <a:off x="1524000" y="46609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1E1E1E"/>
                </a:solidFill>
                <a:latin typeface="Arial"/>
              </a:rPr>
              <a:t>Putting PySpark to Work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1E1E1E"/>
                </a:solidFill>
                <a:latin typeface="Arial"/>
              </a:rPr>
              <a:t>A live notebook demo, real-world results.</a:t>
            </a:r>
          </a:p>
        </p:txBody>
      </p:sp>
      <p:sp>
        <p:nvSpPr>
          <p:cNvPr id="216" name="Card4">
            <a:extLst>
              <a:ext uri="{FF2B5EF4-FFF2-40B4-BE49-F238E27FC236}">
                <a16:creationId xmlns:a16="http://schemas.microsoft.com/office/drawing/2014/main" id="{15BA589C-2EB9-E406-E61C-CFA4635D17B2}"/>
              </a:ext>
            </a:extLst>
          </p:cNvPr>
          <p:cNvSpPr/>
          <p:nvPr/>
        </p:nvSpPr>
        <p:spPr>
          <a:xfrm>
            <a:off x="609600" y="55372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Badge4">
            <a:extLst>
              <a:ext uri="{FF2B5EF4-FFF2-40B4-BE49-F238E27FC236}">
                <a16:creationId xmlns:a16="http://schemas.microsoft.com/office/drawing/2014/main" id="{6D62F645-D30D-C5E2-60EA-A2ECFE0C9B89}"/>
              </a:ext>
            </a:extLst>
          </p:cNvPr>
          <p:cNvSpPr/>
          <p:nvPr/>
        </p:nvSpPr>
        <p:spPr>
          <a:xfrm>
            <a:off x="762000" y="56642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5</a:t>
            </a:r>
          </a:p>
        </p:txBody>
      </p:sp>
      <p:sp>
        <p:nvSpPr>
          <p:cNvPr id="218" name="CardText4">
            <a:extLst>
              <a:ext uri="{FF2B5EF4-FFF2-40B4-BE49-F238E27FC236}">
                <a16:creationId xmlns:a16="http://schemas.microsoft.com/office/drawing/2014/main" id="{BD917B67-C92C-CDDD-9BBA-8D3662873549}"/>
              </a:ext>
            </a:extLst>
          </p:cNvPr>
          <p:cNvSpPr/>
          <p:nvPr/>
        </p:nvSpPr>
        <p:spPr>
          <a:xfrm>
            <a:off x="1524000" y="56515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Wrap-Up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Recap, resources &amp; next steps</a:t>
            </a:r>
          </a:p>
        </p:txBody>
      </p:sp>
      <p:sp>
        <p:nvSpPr>
          <p:cNvPr id="206" name="HerePill0">
            <a:extLst>
              <a:ext uri="{FF2B5EF4-FFF2-40B4-BE49-F238E27FC236}">
                <a16:creationId xmlns:a16="http://schemas.microsoft.com/office/drawing/2014/main" id="{21B1E86B-B5AC-30C9-9D78-4D55F47017C7}"/>
              </a:ext>
            </a:extLst>
          </p:cNvPr>
          <p:cNvSpPr/>
          <p:nvPr/>
        </p:nvSpPr>
        <p:spPr>
          <a:xfrm>
            <a:off x="9880600" y="4787900"/>
            <a:ext cx="1524000" cy="33020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200" b="1" dirty="0">
                <a:solidFill>
                  <a:srgbClr val="4EC9B0"/>
                </a:solidFill>
                <a:latin typeface="Arial"/>
              </a:rPr>
              <a:t>YOU ARE HERE</a:t>
            </a:r>
          </a:p>
        </p:txBody>
      </p:sp>
    </p:spTree>
    <p:extLst>
      <p:ext uri="{BB962C8B-B14F-4D97-AF65-F5344CB8AC3E}">
        <p14:creationId xmlns:p14="http://schemas.microsoft.com/office/powerpoint/2010/main" val="41162904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6E306-E93B-49CF-15CE-6EB954FF6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CCA07C9-B6FB-614B-7F1D-AD18FDC62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Why Semantic Link?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7D3B68-5AAA-A127-4BD1-B54C561BD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The bridge between notebooks and Power BI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Read your model from Python — no export, no REST calls</a:t>
            </a:r>
          </a:p>
          <a:p>
            <a:r>
              <a:rPr lang="en-US" sz="4000" b="1" dirty="0">
                <a:solidFill>
                  <a:srgbClr val="FFFFFF"/>
                </a:solidFill>
              </a:rPr>
              <a:t>sempy (Semantic Link)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Datasets, tables, measures, and DAX — as DataFrames</a:t>
            </a:r>
          </a:p>
          <a:p>
            <a:r>
              <a:rPr lang="en-US" sz="4000" b="1" dirty="0">
                <a:solidFill>
                  <a:srgbClr val="FFFFFF"/>
                </a:solidFill>
              </a:rPr>
              <a:t>Semantic Link Labs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Extended utilities — best-practice checks, docs, analyzers</a:t>
            </a:r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171B2AF6-9DC5-4EAB-8564-24FD04232504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C03E8120-86D7-4212-8001-9C03F783DB0B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602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6E306-E93B-49CF-15CE-6EB954FF6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CCA07C9-B6FB-614B-7F1D-AD18FDC62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Explore a Semantic Model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7D3B68-5AAA-A127-4BD1-B54C561BD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List what's in the model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list_datasets, list_tables, list_columns, list_measures</a:t>
            </a:r>
          </a:p>
          <a:p>
            <a:r>
              <a:rPr lang="en-US" sz="4000" b="1" dirty="0">
                <a:solidFill>
                  <a:srgbClr val="FFFFFF"/>
                </a:solidFill>
              </a:rPr>
              <a:t>Pull a table into a DataFrame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read_table('FactSales') — straight into pandas</a:t>
            </a:r>
          </a:p>
          <a:p>
            <a:r>
              <a:rPr lang="en-US" sz="4000" b="1" dirty="0">
                <a:solidFill>
                  <a:srgbClr val="FFFFFF"/>
                </a:solidFill>
              </a:rPr>
              <a:t>Visualize relationships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plot_relationship_metadata() — see the model topology</a:t>
            </a:r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D1DC6B61-870A-4019-9972-849075A7F44C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AA21CCE0-AAA4-423D-BC38-3535FE24D210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926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6E306-E93B-49CF-15CE-6EB954FF6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CCA07C9-B6FB-614B-7F1D-AD18FDC62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Evaluate Measures from Python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7D3B68-5AAA-A127-4BD1-B54C561BD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evaluate_measure()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Run any measure without opening Desktop</a:t>
            </a:r>
          </a:p>
          <a:p>
            <a:r>
              <a:rPr lang="en-US" sz="4000" b="1" dirty="0">
                <a:solidFill>
                  <a:srgbClr val="FFFFFF"/>
                </a:solidFill>
              </a:rPr>
              <a:t>Slice by any column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Year, Region, Product — same syntax</a:t>
            </a:r>
          </a:p>
          <a:p>
            <a:r>
              <a:rPr lang="en-US" sz="4000" b="1" dirty="0">
                <a:solidFill>
                  <a:srgbClr val="FFFFFF"/>
                </a:solidFill>
              </a:rPr>
              <a:t>Returns a DataFrame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Pipe into analysis, charts, or downstream notebooks</a:t>
            </a:r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B7871022-B3B2-4071-A05D-8BA21049E11F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3EC2ED8F-86E1-4B59-8C7E-1E7E9EBCBCEC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666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6E306-E93B-49CF-15CE-6EB954FF6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CCA07C9-B6FB-614B-7F1D-AD18FDC62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DAX from a Notebook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7D3B68-5AAA-A127-4BD1-B54C561BD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%%dax cell magic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Write DAX directly in a cell — results render inline</a:t>
            </a:r>
          </a:p>
          <a:p>
            <a:r>
              <a:rPr lang="en-US" sz="4000" b="1" dirty="0">
                <a:solidFill>
                  <a:srgbClr val="FFFFFF"/>
                </a:solidFill>
              </a:rPr>
              <a:t>evaluate_dax()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Ad-hoc queries from Python code, parameterized</a:t>
            </a:r>
          </a:p>
          <a:p>
            <a:r>
              <a:rPr lang="en-US" sz="4000" b="1" dirty="0">
                <a:solidFill>
                  <a:srgbClr val="FFFFFF"/>
                </a:solidFill>
              </a:rPr>
              <a:t>Results as DataFrames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DAX output flows into pandas / Spark workflows</a:t>
            </a:r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6067506D-ACE0-48B4-BD36-03E2C929A1E6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2154C2ED-9082-4151-9983-31B4ACC878C2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101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4AF111-E3D7-CBD9-78DB-F7FCA112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13A7B9F-A88F-5C17-E809-9021189C3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See the Invisible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B1C2-A624-4C0B-4536-3718CBE75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AutoDate hidden tables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Every date column gets a secret table — sempy shows them all</a:t>
            </a:r>
          </a:p>
          <a:p>
            <a:r>
              <a:rPr lang="en-US" sz="4000" b="1" dirty="0">
                <a:solidFill>
                  <a:srgbClr val="FFFFFF"/>
                </a:solidFill>
              </a:rPr>
              <a:t>Hidden relationships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Cross-references Power BI Desktop won't display</a:t>
            </a:r>
          </a:p>
          <a:p>
            <a:r>
              <a:rPr lang="en-US" sz="4000" b="1" dirty="0">
                <a:solidFill>
                  <a:srgbClr val="FFFFFF"/>
                </a:solidFill>
              </a:rPr>
              <a:t>Referential integrity checks via DAX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Find broken keys and orphan rows before users do</a:t>
            </a:r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6AD429FF-062D-4DB6-AAD1-E037B3965897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38EC39DE-7D06-4F67-B2B7-8524BCC4D7ED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944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6E306-E93B-49CF-15CE-6EB954FF6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CCA07C9-B6FB-614B-7F1D-AD18FDC62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Semantic Link Labs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7D3B68-5AAA-A127-4BD1-B54C561BD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Best Practice Analyzer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Run BPA rules against any dataset, straight from Python</a:t>
            </a:r>
          </a:p>
          <a:p>
            <a:r>
              <a:rPr lang="en-US" sz="4000" b="1" dirty="0">
                <a:solidFill>
                  <a:srgbClr val="FFFFFF"/>
                </a:solidFill>
              </a:rPr>
              <a:t>Auto-generate documentation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Tables, measures, relationships — Markdown out</a:t>
            </a:r>
          </a:p>
          <a:p>
            <a:r>
              <a:rPr lang="en-US" sz="4000" b="1" dirty="0">
                <a:solidFill>
                  <a:srgbClr val="FFFFFF"/>
                </a:solidFill>
              </a:rPr>
              <a:t>Metadata automation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Bulk-edit measures, descriptions, perspectives at scale</a:t>
            </a:r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8037DF6D-CBAC-4014-ABA3-2B95B28060DF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BC657DBB-A61B-463F-B210-DDBE7EEF34D6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64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230" end="2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6E306-E93B-49CF-15CE-6EB954FF6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CCA07C9-B6FB-614B-7F1D-AD18FDC62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The Memory Analyzer Payoff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7D3B68-5AAA-A127-4BD1-B54C561BD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Profile your model's footprint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Column-by-column size — see exactly where memory goes</a:t>
            </a:r>
          </a:p>
          <a:p>
            <a:r>
              <a:rPr lang="en-US" sz="4000" b="1" dirty="0">
                <a:solidFill>
                  <a:srgbClr val="FFFFFF"/>
                </a:solidFill>
              </a:rPr>
              <a:t>Clean vs AutoDate-bloated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Same data, side by side — the bloat is shocking</a:t>
            </a:r>
          </a:p>
          <a:p>
            <a:r>
              <a:rPr lang="en-US" sz="4000" b="1" dirty="0">
                <a:solidFill>
                  <a:srgbClr val="FFFFFF"/>
                </a:solidFill>
              </a:rPr>
              <a:t>Why it matters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Refresh time, query speed, capacity cost — all downstream</a:t>
            </a:r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B65963C5-900D-42E6-AC40-A5FA4D8B64BE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78EE3886-3599-4F9E-B7D1-30DFDCDE67EA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286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1983C4-7BC5-3B95-18B6-EE9E41E25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099E824-B618-DB2B-F65F-9DE013402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2540000"/>
            <a:ext cx="1115568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1600" b="1" spc="200" dirty="0">
                <a:solidFill>
                  <a:srgbClr val="4EC9B0"/>
                </a:solidFill>
                <a:latin typeface="Arial"/>
              </a:rPr>
              <a:t>LIVE DEMO</a:t>
            </a:r>
          </a:p>
          <a:p>
            <a:pPr algn="l">
              <a:spcBef>
                <a:spcPts val="600"/>
              </a:spcBef>
            </a:pPr>
            <a:r>
              <a:rPr lang="en-US" sz="4800" b="1" dirty="0">
                <a:solidFill>
                  <a:srgbClr val="FFFFFF"/>
                </a:solidFill>
                <a:latin typeface="Arial"/>
              </a:rPr>
              <a:t>Semantic Link </a:t>
            </a:r>
            <a:r>
              <a:rPr lang="en-US" sz="3600" b="1" dirty="0">
                <a:solidFill>
                  <a:srgbClr val="FFFFFF"/>
                </a:solidFill>
                <a:latin typeface="Arial"/>
              </a:rPr>
              <a:t>(Labs) </a:t>
            </a:r>
            <a:r>
              <a:rPr lang="en-US" sz="4800" b="1" dirty="0">
                <a:solidFill>
                  <a:srgbClr val="EBA000"/>
                </a:solidFill>
                <a:latin typeface="Arial"/>
              </a:rPr>
              <a:t>Demo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232423-207A-8272-BA72-59953A6FD92F}"/>
              </a:ext>
            </a:extLst>
          </p:cNvPr>
          <p:cNvSpPr txBox="1"/>
          <p:nvPr/>
        </p:nvSpPr>
        <p:spPr>
          <a:xfrm>
            <a:off x="762000" y="5461000"/>
            <a:ext cx="9291151" cy="90670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5200" dirty="0">
                <a:solidFill>
                  <a:schemeClr val="accent1"/>
                </a:solidFill>
              </a:rPr>
              <a:t>*</a:t>
            </a:r>
            <a:r>
              <a:rPr lang="en-US" sz="2800" dirty="0">
                <a:solidFill>
                  <a:schemeClr val="accent1"/>
                </a:solidFill>
              </a:rPr>
              <a:t> Welcome to Kovalsky's Laboratory — where notebooks meet Power BI. </a:t>
            </a:r>
            <a:endParaRPr lang="en-US" sz="2800" i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43" name="Graphic 143" descr="Flask icon for Kovalsky's Laboratory / Semantic Link dem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0" y="1905000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1123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CEC31C-0FEA-16A3-52C7-6C1FAB5EB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avTitle">
            <a:extLst>
              <a:ext uri="{FF2B5EF4-FFF2-40B4-BE49-F238E27FC236}">
                <a16:creationId xmlns:a16="http://schemas.microsoft.com/office/drawing/2014/main" id="{4024FDBF-4D0B-A7F7-5F47-A5AF12ED0346}"/>
              </a:ext>
            </a:extLst>
          </p:cNvPr>
          <p:cNvSpPr/>
          <p:nvPr/>
        </p:nvSpPr>
        <p:spPr>
          <a:xfrm>
            <a:off x="609600" y="508000"/>
            <a:ext cx="635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Arial"/>
              </a:rPr>
              <a:t>What We'll Cover</a:t>
            </a:r>
          </a:p>
        </p:txBody>
      </p:sp>
      <p:sp>
        <p:nvSpPr>
          <p:cNvPr id="201" name="TitleRule">
            <a:extLst>
              <a:ext uri="{FF2B5EF4-FFF2-40B4-BE49-F238E27FC236}">
                <a16:creationId xmlns:a16="http://schemas.microsoft.com/office/drawing/2014/main" id="{8EE81F7F-0D05-5773-0F66-39E6EBB32A02}"/>
              </a:ext>
            </a:extLst>
          </p:cNvPr>
          <p:cNvSpPr/>
          <p:nvPr/>
        </p:nvSpPr>
        <p:spPr>
          <a:xfrm>
            <a:off x="609600" y="1168400"/>
            <a:ext cx="812800" cy="635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Progress">
            <a:extLst>
              <a:ext uri="{FF2B5EF4-FFF2-40B4-BE49-F238E27FC236}">
                <a16:creationId xmlns:a16="http://schemas.microsoft.com/office/drawing/2014/main" id="{DEF45C94-7AAF-D76B-0C50-2784CAB60F2D}"/>
              </a:ext>
            </a:extLst>
          </p:cNvPr>
          <p:cNvSpPr/>
          <p:nvPr/>
        </p:nvSpPr>
        <p:spPr>
          <a:xfrm>
            <a:off x="8382000" y="660400"/>
            <a:ext cx="3200400" cy="38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600" b="1" dirty="0">
                <a:solidFill>
                  <a:srgbClr val="4EC9B0"/>
                </a:solidFill>
                <a:latin typeface="Arial"/>
              </a:rPr>
              <a:t>Section 5</a:t>
            </a:r>
            <a:r>
              <a:rPr lang="en-US" sz="1600" dirty="0">
                <a:solidFill>
                  <a:srgbClr val="8A8A8A"/>
                </a:solidFill>
                <a:latin typeface="Arial"/>
              </a:rPr>
              <a:t> / 5</a:t>
            </a:r>
          </a:p>
        </p:txBody>
      </p:sp>
      <p:sp>
        <p:nvSpPr>
          <p:cNvPr id="203" name="Card0">
            <a:extLst>
              <a:ext uri="{FF2B5EF4-FFF2-40B4-BE49-F238E27FC236}">
                <a16:creationId xmlns:a16="http://schemas.microsoft.com/office/drawing/2014/main" id="{CDF9C42A-2115-63C1-9621-B2C79BE45775}"/>
              </a:ext>
            </a:extLst>
          </p:cNvPr>
          <p:cNvSpPr/>
          <p:nvPr/>
        </p:nvSpPr>
        <p:spPr>
          <a:xfrm>
            <a:off x="609600" y="15748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Badge0">
            <a:extLst>
              <a:ext uri="{FF2B5EF4-FFF2-40B4-BE49-F238E27FC236}">
                <a16:creationId xmlns:a16="http://schemas.microsoft.com/office/drawing/2014/main" id="{C87174AB-0218-44B1-6CA7-9C0AE3EB50C7}"/>
              </a:ext>
            </a:extLst>
          </p:cNvPr>
          <p:cNvSpPr/>
          <p:nvPr/>
        </p:nvSpPr>
        <p:spPr>
          <a:xfrm>
            <a:off x="762000" y="17018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1</a:t>
            </a:r>
          </a:p>
        </p:txBody>
      </p:sp>
      <p:sp>
        <p:nvSpPr>
          <p:cNvPr id="205" name="CardText0">
            <a:extLst>
              <a:ext uri="{FF2B5EF4-FFF2-40B4-BE49-F238E27FC236}">
                <a16:creationId xmlns:a16="http://schemas.microsoft.com/office/drawing/2014/main" id="{3684986C-5453-B496-F7CA-04D1A728244E}"/>
              </a:ext>
            </a:extLst>
          </p:cNvPr>
          <p:cNvSpPr/>
          <p:nvPr/>
        </p:nvSpPr>
        <p:spPr>
          <a:xfrm>
            <a:off x="1524000" y="16891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dirty="0">
                <a:solidFill>
                  <a:srgbClr val="FFFFFF"/>
                </a:solidFill>
                <a:latin typeface="Arial"/>
              </a:rPr>
              <a:t>Foundations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dirty="0">
                <a:solidFill>
                  <a:srgbClr val="CCCCCC"/>
                </a:solidFill>
                <a:latin typeface="Arial"/>
              </a:rPr>
              <a:t>Spark's origins and the Fabric architecture we'll build on</a:t>
            </a:r>
          </a:p>
        </p:txBody>
      </p:sp>
      <p:sp>
        <p:nvSpPr>
          <p:cNvPr id="207" name="Card1">
            <a:extLst>
              <a:ext uri="{FF2B5EF4-FFF2-40B4-BE49-F238E27FC236}">
                <a16:creationId xmlns:a16="http://schemas.microsoft.com/office/drawing/2014/main" id="{9C4DFF58-C445-1C4F-99E1-C179E336EEAB}"/>
              </a:ext>
            </a:extLst>
          </p:cNvPr>
          <p:cNvSpPr/>
          <p:nvPr/>
        </p:nvSpPr>
        <p:spPr>
          <a:xfrm>
            <a:off x="609600" y="25654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8" name="Badge1">
            <a:extLst>
              <a:ext uri="{FF2B5EF4-FFF2-40B4-BE49-F238E27FC236}">
                <a16:creationId xmlns:a16="http://schemas.microsoft.com/office/drawing/2014/main" id="{CA130F9A-35BE-8DB8-44C1-9CEC59FF8EEF}"/>
              </a:ext>
            </a:extLst>
          </p:cNvPr>
          <p:cNvSpPr/>
          <p:nvPr/>
        </p:nvSpPr>
        <p:spPr>
          <a:xfrm>
            <a:off x="762000" y="26924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2</a:t>
            </a:r>
          </a:p>
        </p:txBody>
      </p:sp>
      <p:sp>
        <p:nvSpPr>
          <p:cNvPr id="209" name="CardText1">
            <a:extLst>
              <a:ext uri="{FF2B5EF4-FFF2-40B4-BE49-F238E27FC236}">
                <a16:creationId xmlns:a16="http://schemas.microsoft.com/office/drawing/2014/main" id="{0CB8192A-CFE2-6551-71B8-2F347856FDAC}"/>
              </a:ext>
            </a:extLst>
          </p:cNvPr>
          <p:cNvSpPr/>
          <p:nvPr/>
        </p:nvSpPr>
        <p:spPr>
          <a:xfrm>
            <a:off x="1524000" y="26797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Python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What you need to know before Spark makes sense</a:t>
            </a:r>
          </a:p>
        </p:txBody>
      </p:sp>
      <p:sp>
        <p:nvSpPr>
          <p:cNvPr id="210" name="Card2">
            <a:extLst>
              <a:ext uri="{FF2B5EF4-FFF2-40B4-BE49-F238E27FC236}">
                <a16:creationId xmlns:a16="http://schemas.microsoft.com/office/drawing/2014/main" id="{B2ACF6BD-ED4F-4D4E-A685-D58F24C5D7B0}"/>
              </a:ext>
            </a:extLst>
          </p:cNvPr>
          <p:cNvSpPr/>
          <p:nvPr/>
        </p:nvSpPr>
        <p:spPr>
          <a:xfrm>
            <a:off x="609600" y="35560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Badge2">
            <a:extLst>
              <a:ext uri="{FF2B5EF4-FFF2-40B4-BE49-F238E27FC236}">
                <a16:creationId xmlns:a16="http://schemas.microsoft.com/office/drawing/2014/main" id="{0CDDC9EB-8124-D3DC-966C-C8CA89743F18}"/>
              </a:ext>
            </a:extLst>
          </p:cNvPr>
          <p:cNvSpPr/>
          <p:nvPr/>
        </p:nvSpPr>
        <p:spPr>
          <a:xfrm>
            <a:off x="762000" y="36830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3</a:t>
            </a:r>
          </a:p>
        </p:txBody>
      </p:sp>
      <p:sp>
        <p:nvSpPr>
          <p:cNvPr id="212" name="CardText2">
            <a:extLst>
              <a:ext uri="{FF2B5EF4-FFF2-40B4-BE49-F238E27FC236}">
                <a16:creationId xmlns:a16="http://schemas.microsoft.com/office/drawing/2014/main" id="{08AE8D6D-59EA-9B7F-B6A3-61FD9580B857}"/>
              </a:ext>
            </a:extLst>
          </p:cNvPr>
          <p:cNvSpPr/>
          <p:nvPr/>
        </p:nvSpPr>
        <p:spPr>
          <a:xfrm>
            <a:off x="1524000" y="36703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PySpark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DataFrames, transforms &amp; actions</a:t>
            </a:r>
          </a:p>
        </p:txBody>
      </p:sp>
      <p:sp>
        <p:nvSpPr>
          <p:cNvPr id="213" name="Card3">
            <a:extLst>
              <a:ext uri="{FF2B5EF4-FFF2-40B4-BE49-F238E27FC236}">
                <a16:creationId xmlns:a16="http://schemas.microsoft.com/office/drawing/2014/main" id="{4A60AD4C-272A-AFF9-4514-66E21900CE04}"/>
              </a:ext>
            </a:extLst>
          </p:cNvPr>
          <p:cNvSpPr/>
          <p:nvPr/>
        </p:nvSpPr>
        <p:spPr>
          <a:xfrm>
            <a:off x="609600" y="45466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4" name="Badge3">
            <a:extLst>
              <a:ext uri="{FF2B5EF4-FFF2-40B4-BE49-F238E27FC236}">
                <a16:creationId xmlns:a16="http://schemas.microsoft.com/office/drawing/2014/main" id="{9C1C7834-9351-F398-4394-BDF7621A5314}"/>
              </a:ext>
            </a:extLst>
          </p:cNvPr>
          <p:cNvSpPr/>
          <p:nvPr/>
        </p:nvSpPr>
        <p:spPr>
          <a:xfrm>
            <a:off x="762000" y="46736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4</a:t>
            </a:r>
          </a:p>
        </p:txBody>
      </p:sp>
      <p:sp>
        <p:nvSpPr>
          <p:cNvPr id="215" name="CardText3">
            <a:extLst>
              <a:ext uri="{FF2B5EF4-FFF2-40B4-BE49-F238E27FC236}">
                <a16:creationId xmlns:a16="http://schemas.microsoft.com/office/drawing/2014/main" id="{1798EC87-32AE-62E8-9C5A-2D55FCE8D91D}"/>
              </a:ext>
            </a:extLst>
          </p:cNvPr>
          <p:cNvSpPr/>
          <p:nvPr/>
        </p:nvSpPr>
        <p:spPr>
          <a:xfrm>
            <a:off x="1524000" y="46609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Putting PySpark to Work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A live notebook demo, real-world results.</a:t>
            </a:r>
          </a:p>
        </p:txBody>
      </p:sp>
      <p:sp>
        <p:nvSpPr>
          <p:cNvPr id="216" name="Card4">
            <a:extLst>
              <a:ext uri="{FF2B5EF4-FFF2-40B4-BE49-F238E27FC236}">
                <a16:creationId xmlns:a16="http://schemas.microsoft.com/office/drawing/2014/main" id="{9835D307-6B65-3001-C636-1A0CC5B2C6BC}"/>
              </a:ext>
            </a:extLst>
          </p:cNvPr>
          <p:cNvSpPr/>
          <p:nvPr/>
        </p:nvSpPr>
        <p:spPr>
          <a:xfrm>
            <a:off x="609600" y="55372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Badge4">
            <a:extLst>
              <a:ext uri="{FF2B5EF4-FFF2-40B4-BE49-F238E27FC236}">
                <a16:creationId xmlns:a16="http://schemas.microsoft.com/office/drawing/2014/main" id="{DEB88D5D-ED37-8C22-5D77-DE90F99E6FAB}"/>
              </a:ext>
            </a:extLst>
          </p:cNvPr>
          <p:cNvSpPr/>
          <p:nvPr/>
        </p:nvSpPr>
        <p:spPr>
          <a:xfrm>
            <a:off x="762000" y="5664200"/>
            <a:ext cx="558800" cy="55880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4EC9B0"/>
                </a:solidFill>
                <a:latin typeface="Arial"/>
              </a:rPr>
              <a:t>5</a:t>
            </a:r>
          </a:p>
        </p:txBody>
      </p:sp>
      <p:sp>
        <p:nvSpPr>
          <p:cNvPr id="218" name="CardText4">
            <a:extLst>
              <a:ext uri="{FF2B5EF4-FFF2-40B4-BE49-F238E27FC236}">
                <a16:creationId xmlns:a16="http://schemas.microsoft.com/office/drawing/2014/main" id="{80699907-16AF-F74B-C562-49DABCE6AFD8}"/>
              </a:ext>
            </a:extLst>
          </p:cNvPr>
          <p:cNvSpPr/>
          <p:nvPr/>
        </p:nvSpPr>
        <p:spPr>
          <a:xfrm>
            <a:off x="1524000" y="56515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1E1E1E"/>
                </a:solidFill>
                <a:latin typeface="Arial"/>
              </a:rPr>
              <a:t>Wrap-Up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1E1E1E"/>
                </a:solidFill>
                <a:latin typeface="Arial"/>
              </a:rPr>
              <a:t>Recap, resources &amp; next steps</a:t>
            </a:r>
          </a:p>
        </p:txBody>
      </p:sp>
      <p:sp>
        <p:nvSpPr>
          <p:cNvPr id="206" name="HerePill0">
            <a:extLst>
              <a:ext uri="{FF2B5EF4-FFF2-40B4-BE49-F238E27FC236}">
                <a16:creationId xmlns:a16="http://schemas.microsoft.com/office/drawing/2014/main" id="{256749A6-6B4E-6DFE-8374-307F3662D0D3}"/>
              </a:ext>
            </a:extLst>
          </p:cNvPr>
          <p:cNvSpPr/>
          <p:nvPr/>
        </p:nvSpPr>
        <p:spPr>
          <a:xfrm>
            <a:off x="9880600" y="5778500"/>
            <a:ext cx="1524000" cy="33020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200" b="1" dirty="0">
                <a:solidFill>
                  <a:srgbClr val="4EC9B0"/>
                </a:solidFill>
                <a:latin typeface="Arial"/>
              </a:rPr>
              <a:t>YOU ARE HERE</a:t>
            </a:r>
          </a:p>
        </p:txBody>
      </p:sp>
    </p:spTree>
    <p:extLst>
      <p:ext uri="{BB962C8B-B14F-4D97-AF65-F5344CB8AC3E}">
        <p14:creationId xmlns:p14="http://schemas.microsoft.com/office/powerpoint/2010/main" val="42156275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7AF5E7-8D2C-2216-88A9-A8244D489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EA61476-05E7-DA02-C5EE-6A40E274D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Resources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386B62-203E-476B-C176-33B337637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Fabric Samples</a:t>
            </a:r>
          </a:p>
          <a:p>
            <a:pPr lvl="1"/>
            <a:r>
              <a:rPr lang="en-US" sz="2400" u="sng" dirty="0">
                <a:solidFill>
                  <a:srgbClr val="00BAC8"/>
                </a:solidFill>
                <a:uFill>
                  <a:solidFill>
                    <a:srgbClr val="00BAC8"/>
                  </a:solidFill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https://github.com/microsoft/fabric-samples</a:t>
            </a:r>
          </a:p>
          <a:p>
            <a:r>
              <a:rPr lang="en-US" sz="3200" dirty="0">
                <a:solidFill>
                  <a:srgbClr val="FFFFFF"/>
                </a:solidFill>
              </a:rPr>
              <a:t>Semantic Link</a:t>
            </a:r>
          </a:p>
          <a:p>
            <a:pPr lvl="1"/>
            <a:r>
              <a:rPr lang="en-US" sz="2400" u="sng" dirty="0">
                <a:solidFill>
                  <a:srgbClr val="00BAC8"/>
                </a:solidFill>
                <a:uFill>
                  <a:solidFill>
                    <a:srgbClr val="00BAC8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https://learn.microsoft.com/en-us/fabric/data-science/semantic-link-overview</a:t>
            </a:r>
          </a:p>
          <a:p>
            <a:r>
              <a:rPr lang="en-US" sz="3200" dirty="0">
                <a:solidFill>
                  <a:srgbClr val="FFFFFF"/>
                </a:solidFill>
              </a:rPr>
              <a:t>Semantic Link Labs</a:t>
            </a:r>
          </a:p>
          <a:p>
            <a:pPr lvl="1"/>
            <a:r>
              <a:rPr lang="en-US" sz="2400" u="sng" dirty="0">
                <a:solidFill>
                  <a:srgbClr val="00BAC8"/>
                </a:solidFill>
                <a:uFill>
                  <a:solidFill>
                    <a:srgbClr val="00BAC8"/>
                  </a:solidFill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https://github.com/microsoft/semantic-link-labs</a:t>
            </a:r>
          </a:p>
          <a:p>
            <a:r>
              <a:rPr lang="en-US" sz="3200" dirty="0">
                <a:solidFill>
                  <a:srgbClr val="FFFFFF"/>
                </a:solidFill>
              </a:rPr>
              <a:t>Dataset – US Airline On-Time Performance (BTS)</a:t>
            </a:r>
          </a:p>
          <a:p>
            <a:pPr lvl="1"/>
            <a:r>
              <a:rPr lang="en-US" sz="2400" u="sng">
                <a:solidFill>
                  <a:srgbClr val="00BAC8"/>
                </a:solidFill>
                <a:uFill>
                  <a:solidFill>
                    <a:srgbClr val="00BAC8"/>
                  </a:solidFill>
                </a:uFill>
                <a:hlinkClick r:id="rId6"/>
              </a:rPr>
              <a:t>https://www.transtats.bts.gov</a:t>
            </a:r>
            <a:endParaRPr lang="en-US" sz="2400" u="sng" dirty="0">
              <a:solidFill>
                <a:srgbClr val="00BAC8"/>
              </a:solidFill>
              <a:uFill>
                <a:solidFill>
                  <a:srgbClr val="00BAC8"/>
                </a:solidFill>
              </a:uFill>
            </a:endParaRP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2022–2024 · ~7M flights/year · flights, airlines &amp; airports tables</a:t>
            </a:r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85966538-6356-4B82-B597-871F30B0DFE1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B816D03A-4BC2-4C83-B27C-4869F6C8FDF1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1751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057E00-93B6-CCEC-3F95-BE0633FAB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CC19DC3-5AF6-7722-355B-0040C9100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Resources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BFCBFB-320C-C534-BFEC-E8FB17BBE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</a:rPr>
              <a:t>PySpark Book – Data Analysis with Python and PySpark</a:t>
            </a:r>
          </a:p>
          <a:p>
            <a:pPr lvl="1"/>
            <a:r>
              <a:rPr lang="en-US" sz="2400" u="sng" dirty="0">
                <a:solidFill>
                  <a:srgbClr val="00BAC8"/>
                </a:solidFill>
                <a:uFill>
                  <a:solidFill>
                    <a:srgbClr val="00BAC8"/>
                  </a:solidFill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https://www.oreilly.com/library/view/data-analysis-with/9781617297205/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</a:rPr>
              <a:t>PySpark Book – Intro to PySpark (Free HTML version)</a:t>
            </a:r>
          </a:p>
          <a:p>
            <a:pPr lvl="1"/>
            <a:r>
              <a:rPr lang="en-US" sz="2400" u="sng" dirty="0">
                <a:solidFill>
                  <a:srgbClr val="00BAC8"/>
                </a:solidFill>
                <a:uFill>
                  <a:solidFill>
                    <a:srgbClr val="00BAC8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https://pedropark99.github.io/Introd-pyspark/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Also in the demo repo — whichever isn't today's live demo</a:t>
            </a:r>
          </a:p>
          <a:p>
            <a:pPr lvl="1"/>
            <a:r>
              <a:rPr lang="en-US" sz="2400" dirty="0">
                <a:solidFill>
                  <a:srgbClr val="FFFFFF"/>
                </a:solidFill>
              </a:rPr>
              <a:t>Notebook 3 — Writing to the Lakehouse (Files/ vs Tables/, write modes, Delta merge, time travel)</a:t>
            </a:r>
          </a:p>
          <a:p>
            <a:pPr lvl="1"/>
            <a:r>
              <a:rPr lang="en-US" sz="2400" dirty="0">
                <a:solidFill>
                  <a:srgbClr val="FFFFFF"/>
                </a:solidFill>
              </a:rPr>
              <a:t>Notebook 4 — Semantic Link &amp; Semantic Link Labs (measures, DAX, BPA, Memory Analyzer)</a:t>
            </a:r>
          </a:p>
          <a:p>
            <a:pPr lvl="1"/>
            <a:r>
              <a:rPr lang="en-US" sz="2400" dirty="0">
                <a:solidFill>
                  <a:srgbClr val="FFFFFF"/>
                </a:solidFill>
              </a:rPr>
              <a:t>Notebook 5 — Window Functions in PySpark (ranking, lag/lead, running totals, ntile)</a:t>
            </a:r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1942F831-BC13-41D1-9062-A46394671A36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F6620798-69D4-4D1F-8552-EEF8BF3983D1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4167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C48FC-251B-79AE-8AE2-CD746A9F7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Same Python, Bigger Reach</a:t>
            </a:r>
          </a:p>
        </p:txBody>
      </p:sp>
      <p:sp>
        <p:nvSpPr>
          <p:cNvPr id="3" name="GoldRuleTop">
            <a:extLst>
              <a:ext uri="{FF2B5EF4-FFF2-40B4-BE49-F238E27FC236}">
                <a16:creationId xmlns:a16="http://schemas.microsoft.com/office/drawing/2014/main" id="{926A2CC5-8FA4-40B0-B8AD-BA5508635B2C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GoldRuleBottom">
            <a:extLst>
              <a:ext uri="{FF2B5EF4-FFF2-40B4-BE49-F238E27FC236}">
                <a16:creationId xmlns:a16="http://schemas.microsoft.com/office/drawing/2014/main" id="{2D8C824F-5214-47BF-B232-E29625349FAE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colStripe0">
            <a:extLst>
              <a:ext uri="{FF2B5EF4-FFF2-40B4-BE49-F238E27FC236}">
                <a16:creationId xmlns:a16="http://schemas.microsoft.com/office/drawing/2014/main" id="{BDA1BB09-2983-4D37-BBB0-84F0F476C535}"/>
              </a:ext>
            </a:extLst>
          </p:cNvPr>
          <p:cNvSpPr/>
          <p:nvPr/>
        </p:nvSpPr>
        <p:spPr>
          <a:xfrm>
            <a:off x="520700" y="3556000"/>
            <a:ext cx="4064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colTitle0">
            <a:extLst>
              <a:ext uri="{FF2B5EF4-FFF2-40B4-BE49-F238E27FC236}">
                <a16:creationId xmlns:a16="http://schemas.microsoft.com/office/drawing/2014/main" id="{DD205D9F-4E42-4FE6-BB30-4C68F7B1988A}"/>
              </a:ext>
            </a:extLst>
          </p:cNvPr>
          <p:cNvSpPr txBox="1"/>
          <p:nvPr/>
        </p:nvSpPr>
        <p:spPr>
          <a:xfrm>
            <a:off x="520700" y="3733800"/>
            <a:ext cx="3513666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 dirty="0">
                <a:solidFill>
                  <a:schemeClr val="bg1"/>
                </a:solidFill>
              </a:rPr>
              <a:t>Python Got You Started</a:t>
            </a:r>
          </a:p>
        </p:txBody>
      </p:sp>
      <p:sp>
        <p:nvSpPr>
          <p:cNvPr id="7" name="colBody0">
            <a:extLst>
              <a:ext uri="{FF2B5EF4-FFF2-40B4-BE49-F238E27FC236}">
                <a16:creationId xmlns:a16="http://schemas.microsoft.com/office/drawing/2014/main" id="{3A7180D4-4C57-4B71-97DA-1DDAB882CE8F}"/>
              </a:ext>
            </a:extLst>
          </p:cNvPr>
          <p:cNvSpPr txBox="1"/>
          <p:nvPr/>
        </p:nvSpPr>
        <p:spPr>
          <a:xfrm>
            <a:off x="520700" y="4241800"/>
            <a:ext cx="3513666" cy="55399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dirty="0">
                <a:solidFill>
                  <a:srgbClr val="DDDDDD"/>
                </a:solidFill>
              </a:rPr>
              <a:t>pandas on the Lego dataset — familiar code, single machine, instant feedback.</a:t>
            </a:r>
          </a:p>
        </p:txBody>
      </p:sp>
      <p:sp>
        <p:nvSpPr>
          <p:cNvPr id="8" name="colStripe1">
            <a:extLst>
              <a:ext uri="{FF2B5EF4-FFF2-40B4-BE49-F238E27FC236}">
                <a16:creationId xmlns:a16="http://schemas.microsoft.com/office/drawing/2014/main" id="{693F8F94-A766-4B88-BC3D-04DC72F0E6E9}"/>
              </a:ext>
            </a:extLst>
          </p:cNvPr>
          <p:cNvSpPr/>
          <p:nvPr/>
        </p:nvSpPr>
        <p:spPr>
          <a:xfrm>
            <a:off x="4339166" y="3556000"/>
            <a:ext cx="4064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colTitle1">
            <a:extLst>
              <a:ext uri="{FF2B5EF4-FFF2-40B4-BE49-F238E27FC236}">
                <a16:creationId xmlns:a16="http://schemas.microsoft.com/office/drawing/2014/main" id="{F84080BD-20EE-4985-A7A6-08ABEFEB6BAF}"/>
              </a:ext>
            </a:extLst>
          </p:cNvPr>
          <p:cNvSpPr txBox="1"/>
          <p:nvPr/>
        </p:nvSpPr>
        <p:spPr>
          <a:xfrm>
            <a:off x="4339166" y="3733800"/>
            <a:ext cx="3513666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 dirty="0">
                <a:solidFill>
                  <a:schemeClr val="bg1"/>
                </a:solidFill>
              </a:rPr>
              <a:t>PySpark Raised the Ceiling</a:t>
            </a:r>
          </a:p>
        </p:txBody>
      </p:sp>
      <p:sp>
        <p:nvSpPr>
          <p:cNvPr id="10" name="colBody1">
            <a:extLst>
              <a:ext uri="{FF2B5EF4-FFF2-40B4-BE49-F238E27FC236}">
                <a16:creationId xmlns:a16="http://schemas.microsoft.com/office/drawing/2014/main" id="{D8F86C5F-6E27-4104-94A0-5563A8BD4E80}"/>
              </a:ext>
            </a:extLst>
          </p:cNvPr>
          <p:cNvSpPr txBox="1"/>
          <p:nvPr/>
        </p:nvSpPr>
        <p:spPr>
          <a:xfrm>
            <a:off x="4339166" y="4241800"/>
            <a:ext cx="3513666" cy="7848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dirty="0">
                <a:solidFill>
                  <a:srgbClr val="DDDDDD"/>
                </a:solidFill>
              </a:rPr>
              <a:t>The same logic, distributed across a cluster. The data grew — the code barely changed.</a:t>
            </a:r>
          </a:p>
        </p:txBody>
      </p:sp>
      <p:sp>
        <p:nvSpPr>
          <p:cNvPr id="12" name="colStripe2">
            <a:extLst>
              <a:ext uri="{FF2B5EF4-FFF2-40B4-BE49-F238E27FC236}">
                <a16:creationId xmlns:a16="http://schemas.microsoft.com/office/drawing/2014/main" id="{DEA879A9-4947-4621-87A6-1EA43345F44D}"/>
              </a:ext>
            </a:extLst>
          </p:cNvPr>
          <p:cNvSpPr/>
          <p:nvPr/>
        </p:nvSpPr>
        <p:spPr>
          <a:xfrm>
            <a:off x="8157633" y="3556000"/>
            <a:ext cx="4064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colTitle2">
            <a:extLst>
              <a:ext uri="{FF2B5EF4-FFF2-40B4-BE49-F238E27FC236}">
                <a16:creationId xmlns:a16="http://schemas.microsoft.com/office/drawing/2014/main" id="{BCF25200-CC66-4098-9D6D-A2310659F5C1}"/>
              </a:ext>
            </a:extLst>
          </p:cNvPr>
          <p:cNvSpPr txBox="1"/>
          <p:nvPr/>
        </p:nvSpPr>
        <p:spPr>
          <a:xfrm>
            <a:off x="8157633" y="3733800"/>
            <a:ext cx="3513666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 dirty="0">
                <a:solidFill>
                  <a:schemeClr val="bg1"/>
                </a:solidFill>
              </a:rPr>
              <a:t>Semantic Link Closed the Loop</a:t>
            </a:r>
          </a:p>
        </p:txBody>
      </p:sp>
      <p:sp>
        <p:nvSpPr>
          <p:cNvPr id="14" name="colBody2">
            <a:extLst>
              <a:ext uri="{FF2B5EF4-FFF2-40B4-BE49-F238E27FC236}">
                <a16:creationId xmlns:a16="http://schemas.microsoft.com/office/drawing/2014/main" id="{2F39D9F1-E059-4255-930E-D94125E0EE11}"/>
              </a:ext>
            </a:extLst>
          </p:cNvPr>
          <p:cNvSpPr txBox="1"/>
          <p:nvPr/>
        </p:nvSpPr>
        <p:spPr>
          <a:xfrm>
            <a:off x="8157633" y="4241800"/>
            <a:ext cx="3513666" cy="7848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dirty="0">
                <a:solidFill>
                  <a:srgbClr val="DDDDDD"/>
                </a:solidFill>
              </a:rPr>
              <a:t>Notebooks reading and writing your Power BI semantic models — analysis and BI, finally connected.</a:t>
            </a:r>
          </a:p>
        </p:txBody>
      </p:sp>
    </p:spTree>
    <p:extLst>
      <p:ext uri="{BB962C8B-B14F-4D97-AF65-F5344CB8AC3E}">
        <p14:creationId xmlns:p14="http://schemas.microsoft.com/office/powerpoint/2010/main" val="17812665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 animBg="1"/>
      <p:bldP spid="9" grpId="0"/>
      <p:bldP spid="10" grpId="0"/>
      <p:bldP spid="12" grpId="0" animBg="1"/>
      <p:bldP spid="13" grpId="0"/>
      <p:bldP spid="1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5734AD-49B1-8E5D-B3F0-BD811345C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5232CC-272A-AD20-28B8-1C9918EFA9F6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6E424D-4557-9846-D8F5-4AC70253D16A}"/>
              </a:ext>
            </a:extLst>
          </p:cNvPr>
          <p:cNvSpPr txBox="1"/>
          <p:nvPr/>
        </p:nvSpPr>
        <p:spPr>
          <a:xfrm>
            <a:off x="457200" y="300335"/>
            <a:ext cx="11277600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ptos Display"/>
              </a:rPr>
              <a:t>Thank you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6E0B70-3D19-212F-BFF2-BED99F10E23E}"/>
              </a:ext>
            </a:extLst>
          </p:cNvPr>
          <p:cNvSpPr txBox="1"/>
          <p:nvPr/>
        </p:nvSpPr>
        <p:spPr>
          <a:xfrm>
            <a:off x="457200" y="4826000"/>
            <a:ext cx="43180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Jason Romans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thedaxshepherd@gmail.com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linkedin.com/in/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jason</a:t>
            </a:r>
            <a:r>
              <a:rPr lang="en-US" sz="2000" dirty="0">
                <a:solidFill>
                  <a:srgbClr val="FFFFFF"/>
                </a:solidFill>
                <a:latin typeface="Aptos"/>
              </a:rPr>
              <a:t>romans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www.thedaxshepherd.com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330A92-32B6-563F-BE9B-9BEE4D6F59AC}"/>
              </a:ext>
            </a:extLst>
          </p:cNvPr>
          <p:cNvSpPr txBox="1"/>
          <p:nvPr/>
        </p:nvSpPr>
        <p:spPr>
          <a:xfrm>
            <a:off x="5410200" y="4978400"/>
            <a:ext cx="284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2400" b="0" dirty="0">
                <a:solidFill>
                  <a:srgbClr val="FFFFFF"/>
                </a:solidFill>
                <a:latin typeface="Calibri"/>
              </a:rPr>
              <a:t>Slides</a:t>
            </a:r>
            <a:r>
              <a:rPr lang="en-US" sz="2400" dirty="0">
                <a:solidFill>
                  <a:srgbClr val="FFFFFF"/>
                </a:solidFill>
                <a:latin typeface="Calibri"/>
              </a:rPr>
              <a:t> + </a:t>
            </a:r>
            <a:r>
              <a:rPr lang="en-US" sz="2400" b="0" dirty="0">
                <a:solidFill>
                  <a:srgbClr val="FFFFFF"/>
                </a:solidFill>
                <a:latin typeface="Calibri"/>
              </a:rPr>
              <a:t>Demos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4A6A63-38F2-5BC5-2DCC-CABA7326681D}"/>
              </a:ext>
            </a:extLst>
          </p:cNvPr>
          <p:cNvSpPr txBox="1"/>
          <p:nvPr/>
        </p:nvSpPr>
        <p:spPr>
          <a:xfrm>
            <a:off x="8890000" y="4978400"/>
            <a:ext cx="284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2400" b="0" dirty="0">
                <a:solidFill>
                  <a:srgbClr val="FFFFFF"/>
                </a:solidFill>
                <a:latin typeface="Calibri"/>
              </a:rPr>
              <a:t>Session Evaluation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4B04CD-3B8B-E6F9-C636-6D51EF7233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13246" y="2006600"/>
            <a:ext cx="2838708" cy="2844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0041C3C-AEC4-BF3C-A2FB-675D2F2692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6624" y="2209800"/>
            <a:ext cx="4279152" cy="2438400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63E449-6231-6654-2691-36089068C2D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90000" y="2006600"/>
            <a:ext cx="2844800" cy="28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929922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 [1781551721588]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  <wetp:taskpane dockstate="right" visibility="0" width="350" row="5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931FE9D1-5673-4B18-AA8D-B4E0A99A633F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812ff84e-292d-489b-8898-a40f835c1f92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2EF225A5-8B57-497F-92B8-2645AEC7AC5A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e2903fc9-d661-4a1c-9506-b70d0c4680d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5777</TotalTime>
  <Words>2398</Words>
  <Application>Microsoft Office PowerPoint</Application>
  <PresentationFormat>Widescreen</PresentationFormat>
  <Paragraphs>503</Paragraphs>
  <Slides>51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51</vt:i4>
      </vt:variant>
    </vt:vector>
  </HeadingPairs>
  <TitlesOfParts>
    <vt:vector size="60" baseType="lpstr">
      <vt:lpstr>Aptos</vt:lpstr>
      <vt:lpstr>Aptos Display</vt:lpstr>
      <vt:lpstr>Arial</vt:lpstr>
      <vt:lpstr>Berlin Sans FB</vt:lpstr>
      <vt:lpstr>Bierstadt</vt:lpstr>
      <vt:lpstr>Calibri</vt:lpstr>
      <vt:lpstr>Consolas</vt:lpstr>
      <vt:lpstr>GestaltVTI [1781551721588]</vt:lpstr>
      <vt:lpstr>Office Theme</vt:lpstr>
      <vt:lpstr>Data on Fire A Hands-On Intro to Spark in Fabric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Powered by Spark</vt:lpstr>
      <vt:lpstr>UP NEXT Now let us install Spark</vt:lpstr>
      <vt:lpstr>Installing Spark Step 1 of 42</vt:lpstr>
      <vt:lpstr>Wait! Microsoft Fabric makes this easy</vt:lpstr>
      <vt:lpstr>Notebooks in Microsoft Fabric</vt:lpstr>
      <vt:lpstr>Fabric in Visual Studio Code</vt:lpstr>
      <vt:lpstr>MICROSOFT FABRIC Architecture at a glance</vt:lpstr>
      <vt:lpstr>OneLake — “The OneDrive for Your Data”</vt:lpstr>
      <vt:lpstr>Get Noticed in the Fabric Community</vt:lpstr>
      <vt:lpstr>PowerPoint Presentation</vt:lpstr>
      <vt:lpstr>In Fabric, language choice is also engine choice</vt:lpstr>
      <vt:lpstr>Compute &amp; Language</vt:lpstr>
      <vt:lpstr>Python or PySpark notebook?</vt:lpstr>
      <vt:lpstr>PowerPoint Presentation</vt:lpstr>
      <vt:lpstr>LIVE DEMO Python Demo</vt:lpstr>
      <vt:lpstr>PowerPoint Presentation</vt:lpstr>
      <vt:lpstr>PowerPoint Presentation</vt:lpstr>
      <vt:lpstr>PySpark</vt:lpstr>
      <vt:lpstr>Spark is Lazy …in a good way</vt:lpstr>
      <vt:lpstr>Transformations queue. Actions trigger.</vt:lpstr>
      <vt:lpstr>WHY LAZY Benefits of Lazy Evaluation</vt:lpstr>
      <vt:lpstr>Data Wrangler</vt:lpstr>
      <vt:lpstr>LIVE DEMO PySpark Demo</vt:lpstr>
      <vt:lpstr>PowerPoint Presentation</vt:lpstr>
      <vt:lpstr>Why Semantic Link?</vt:lpstr>
      <vt:lpstr>Explore a Semantic Model</vt:lpstr>
      <vt:lpstr>Evaluate Measures from Python</vt:lpstr>
      <vt:lpstr>DAX from a Notebook</vt:lpstr>
      <vt:lpstr>See the Invisible</vt:lpstr>
      <vt:lpstr>Semantic Link Labs</vt:lpstr>
      <vt:lpstr>The Memory Analyzer Payoff</vt:lpstr>
      <vt:lpstr>LIVE DEMO Semantic Link (Labs) Demo</vt:lpstr>
      <vt:lpstr>PowerPoint Presentation</vt:lpstr>
      <vt:lpstr>Resources</vt:lpstr>
      <vt:lpstr>Resources</vt:lpstr>
      <vt:lpstr>Same Python, Bigger Reach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Romans</dc:creator>
  <cp:lastModifiedBy>Jason Romans</cp:lastModifiedBy>
  <cp:revision>50</cp:revision>
  <dcterms:created xsi:type="dcterms:W3CDTF">2025-07-29T15:55:59Z</dcterms:created>
  <dcterms:modified xsi:type="dcterms:W3CDTF">2026-07-18T02:56:28Z</dcterms:modified>
</cp:coreProperties>
</file>